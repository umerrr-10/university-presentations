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6"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DM Sans Medium" panose="020B0604020202020204" charset="0"/>
      <p:regular r:id="rId9"/>
    </p:embeddedFont>
    <p:embeddedFont>
      <p:font typeface="Inter"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461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B2898-1598-3EAA-DE9C-FF8F960E80B8}"/>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03558A07-48E5-15FE-06F4-787EA2614E80}"/>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6719AAEE-5C14-B0C2-4987-7A10B5CC958F}"/>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1FA6EEB5-9C32-B008-5833-F0EE14DB7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CE2B4-BB2D-3809-1E48-072ABC524B4B}"/>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225426834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88806-495B-9702-D388-0EFC6F62C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4C9883-109A-3C09-B6DE-F3041BDAAE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F40CC-5B52-4E90-8720-907CB6C9C501}"/>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72E87155-A775-77A0-F5C3-9BFA3BE9E8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E0AA6-74FE-BFAF-7FBA-A9E64AB08FBB}"/>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14607603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F5BD8-F220-7D4D-287D-0DD69BD0A532}"/>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0B131739-5122-D6BA-A15D-EA1FAA31F86F}"/>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10B70E-B2E5-5A45-968B-30AE20654E86}"/>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03AA2E15-C97B-75A1-AD35-EEAB3C3F5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D80E6-DBCF-7778-C5DA-C2471BE79998}"/>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3376073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D42D4-21F0-E64A-4718-B2B86F519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C7ADC9-EB0C-4B78-357C-FCD4A78DCDE9}"/>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BB9D11-DC06-70A2-B751-263B7059CD95}"/>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43B914-02C0-5A4B-5B91-2CF5823A0508}"/>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6" name="Footer Placeholder 5">
            <a:extLst>
              <a:ext uri="{FF2B5EF4-FFF2-40B4-BE49-F238E27FC236}">
                <a16:creationId xmlns:a16="http://schemas.microsoft.com/office/drawing/2014/main" id="{366A69EE-3DE0-2A86-B3C5-94E81512C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C4AAE4-3F0E-2CA2-36EE-A43D90B21D25}"/>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42764076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D156-9C57-E6F1-6E08-3DB0DC617B95}"/>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63759E-12BC-FD33-D5CD-55C2597B7369}"/>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73C9DE28-9A2A-2B90-1778-2BCC77D96DBD}"/>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FC46FE-DCB6-A598-3F8C-02F81652820C}"/>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391FD231-7A6E-5F59-DABD-86D63D52DE7A}"/>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99EED9-B857-F901-1E64-E4E647EE13CD}"/>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8" name="Footer Placeholder 7">
            <a:extLst>
              <a:ext uri="{FF2B5EF4-FFF2-40B4-BE49-F238E27FC236}">
                <a16:creationId xmlns:a16="http://schemas.microsoft.com/office/drawing/2014/main" id="{175F24AF-1D2C-6E5C-4B44-B1B7518271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964BE8-1D32-8A2F-DA2C-65BD46034555}"/>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58084621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95819-A9C1-5F7D-2105-5C4BD31C98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C6A1D4-741F-44BB-D063-792AB0153B63}"/>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4" name="Footer Placeholder 3">
            <a:extLst>
              <a:ext uri="{FF2B5EF4-FFF2-40B4-BE49-F238E27FC236}">
                <a16:creationId xmlns:a16="http://schemas.microsoft.com/office/drawing/2014/main" id="{20C30C9F-B0D6-09C6-C71C-3C659DC27A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2C1B8F-F5EA-F4A7-8B8C-84A094CB42B9}"/>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115108966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87200-9041-4376-E9E8-F36834EF2EA3}"/>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3" name="Footer Placeholder 2">
            <a:extLst>
              <a:ext uri="{FF2B5EF4-FFF2-40B4-BE49-F238E27FC236}">
                <a16:creationId xmlns:a16="http://schemas.microsoft.com/office/drawing/2014/main" id="{9259EDC1-6088-971B-F519-A0A9A87956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D9D2CA-8D6A-2D03-6B3B-85386A7DAFF6}"/>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413633027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57BA1-5F6C-BF48-306F-E216F7CF3620}"/>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EB415BAB-5EA4-534D-227D-6288D0E6CB26}"/>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3FC1E3-0718-A50F-6078-84DC2BECA09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D4012887-43A4-B7A0-37C8-7DC823086DA8}"/>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6" name="Footer Placeholder 5">
            <a:extLst>
              <a:ext uri="{FF2B5EF4-FFF2-40B4-BE49-F238E27FC236}">
                <a16:creationId xmlns:a16="http://schemas.microsoft.com/office/drawing/2014/main" id="{EE23BB62-8F8B-6BE6-4DF6-12D54F626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F7B56A-9556-3821-B52D-23B8CDE067CC}"/>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29479310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28F6-3AD5-C056-8CE4-18D2E56B3B52}"/>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76DB18E1-6409-95C4-CCA2-9AD5849F69DD}"/>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16326F09-C520-FA12-84D8-FEA03A9BD06D}"/>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953F59F2-FB29-859D-F843-7F09723E3B41}"/>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6" name="Footer Placeholder 5">
            <a:extLst>
              <a:ext uri="{FF2B5EF4-FFF2-40B4-BE49-F238E27FC236}">
                <a16:creationId xmlns:a16="http://schemas.microsoft.com/office/drawing/2014/main" id="{DEFEE040-20F7-B818-70FA-98A7A8FD61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B7113D-7D7A-12AE-AEAB-127231F45620}"/>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14744260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0F1F-6533-CEAE-666D-D1B6E74394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04C671-5AE3-05FD-DCC9-E3B1FE1AC0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650BA9-FF58-2D22-08C3-7190D34196AE}"/>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432349C7-0E36-D6FF-603A-8C4F4EEC1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54440-853F-4C16-BD02-DAFACFC24043}"/>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6647218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3AD3CA-F365-20A6-94F2-409997301643}"/>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42940E-AEB7-2265-23B9-23779042B7C9}"/>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1143D-5C1C-9992-6872-A6C93A0E5B56}"/>
              </a:ext>
            </a:extLst>
          </p:cNvPr>
          <p:cNvSpPr>
            <a:spLocks noGrp="1"/>
          </p:cNvSpPr>
          <p:nvPr>
            <p:ph type="dt" sz="half" idx="10"/>
          </p:nvPr>
        </p:nvSpPr>
        <p:spPr/>
        <p:txBody>
          <a:body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B1D33F6A-871F-4BBC-3914-B8927A27C8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F0DB5-6254-7028-BDAB-955EC6DD5EF3}"/>
              </a:ext>
            </a:extLst>
          </p:cNvPr>
          <p:cNvSpPr>
            <a:spLocks noGrp="1"/>
          </p:cNvSpPr>
          <p:nvPr>
            <p:ph type="sldNum" sz="quarter" idx="12"/>
          </p:nvPr>
        </p:nvSpPr>
        <p:spPr/>
        <p:txBody>
          <a:bodyPr/>
          <a:lstStyle/>
          <a:p>
            <a:fld id="{616950B7-2A6C-4DF4-B4DB-FAB6768E760D}" type="slidenum">
              <a:rPr lang="en-US" smtClean="0"/>
              <a:t>‹#›</a:t>
            </a:fld>
            <a:endParaRPr lang="en-US"/>
          </a:p>
        </p:txBody>
      </p:sp>
    </p:spTree>
    <p:extLst>
      <p:ext uri="{BB962C8B-B14F-4D97-AF65-F5344CB8AC3E}">
        <p14:creationId xmlns:p14="http://schemas.microsoft.com/office/powerpoint/2010/main" val="2817077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476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428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6221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9736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0850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3630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D04B2E-E79F-8227-885E-46B784B071DB}"/>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EF4484-A3CC-0705-9D43-925A38ED46B7}"/>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6BCF7-0061-2624-370E-7ECB7CFC1060}"/>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2A8EF1A6-082E-4306-BDD1-4AD649793DC1}" type="datetimeFigureOut">
              <a:rPr lang="en-US" smtClean="0"/>
              <a:t>27-Jan-26</a:t>
            </a:fld>
            <a:endParaRPr lang="en-US"/>
          </a:p>
        </p:txBody>
      </p:sp>
      <p:sp>
        <p:nvSpPr>
          <p:cNvPr id="5" name="Footer Placeholder 4">
            <a:extLst>
              <a:ext uri="{FF2B5EF4-FFF2-40B4-BE49-F238E27FC236}">
                <a16:creationId xmlns:a16="http://schemas.microsoft.com/office/drawing/2014/main" id="{C4448D1E-D5A3-764B-30D0-AAF34928588E}"/>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8A62E9-4AF1-C983-EB42-6B4DED21A446}"/>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616950B7-2A6C-4DF4-B4DB-FAB6768E760D}" type="slidenum">
              <a:rPr lang="en-US" smtClean="0"/>
              <a:t>‹#›</a:t>
            </a:fld>
            <a:endParaRPr lang="en-US"/>
          </a:p>
        </p:txBody>
      </p:sp>
    </p:spTree>
    <p:extLst>
      <p:ext uri="{BB962C8B-B14F-4D97-AF65-F5344CB8AC3E}">
        <p14:creationId xmlns:p14="http://schemas.microsoft.com/office/powerpoint/2010/main" val="414598179"/>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ssrn.com/abstract=4587702"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1832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Project Proposal: Process Survival Game</a:t>
            </a:r>
            <a:endParaRPr lang="en-US" sz="4450" dirty="0"/>
          </a:p>
        </p:txBody>
      </p:sp>
      <p:sp>
        <p:nvSpPr>
          <p:cNvPr id="4" name="Text 1"/>
          <p:cNvSpPr/>
          <p:nvPr/>
        </p:nvSpPr>
        <p:spPr>
          <a:xfrm>
            <a:off x="793790" y="3576042"/>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Inter" pitchFamily="34" charset="0"/>
                <a:ea typeface="Inter" pitchFamily="34" charset="-122"/>
                <a:cs typeface="Inter" pitchFamily="34" charset="-120"/>
              </a:rPr>
              <a:t>Submitted to </a:t>
            </a:r>
            <a:endParaRPr lang="en-US" sz="1750" dirty="0"/>
          </a:p>
        </p:txBody>
      </p:sp>
      <p:sp>
        <p:nvSpPr>
          <p:cNvPr id="5" name="Text 2"/>
          <p:cNvSpPr/>
          <p:nvPr/>
        </p:nvSpPr>
        <p:spPr>
          <a:xfrm>
            <a:off x="793790" y="4194096"/>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Mam Wajeeha Fareed</a:t>
            </a:r>
            <a:endParaRPr lang="en-US" sz="1750" dirty="0"/>
          </a:p>
        </p:txBody>
      </p:sp>
      <p:sp>
        <p:nvSpPr>
          <p:cNvPr id="6" name="Text 3"/>
          <p:cNvSpPr/>
          <p:nvPr/>
        </p:nvSpPr>
        <p:spPr>
          <a:xfrm>
            <a:off x="793790" y="4812149"/>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Inter" pitchFamily="34" charset="0"/>
                <a:ea typeface="Inter" pitchFamily="34" charset="-122"/>
                <a:cs typeface="Inter" pitchFamily="34" charset="-120"/>
              </a:rPr>
              <a:t>Presented  by</a:t>
            </a:r>
            <a:endParaRPr lang="en-US" sz="1750" dirty="0"/>
          </a:p>
        </p:txBody>
      </p:sp>
      <p:sp>
        <p:nvSpPr>
          <p:cNvPr id="7" name="Text 4"/>
          <p:cNvSpPr/>
          <p:nvPr/>
        </p:nvSpPr>
        <p:spPr>
          <a:xfrm>
            <a:off x="793790" y="5430203"/>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Inter" pitchFamily="34" charset="0"/>
                <a:ea typeface="Inter" pitchFamily="34" charset="-122"/>
                <a:cs typeface="Inter" pitchFamily="34" charset="-120"/>
              </a:rPr>
              <a:t> </a:t>
            </a:r>
            <a:r>
              <a:rPr lang="en-US" sz="1750" dirty="0">
                <a:solidFill>
                  <a:srgbClr val="161613"/>
                </a:solidFill>
                <a:latin typeface="Inter" pitchFamily="34" charset="0"/>
                <a:ea typeface="Inter" pitchFamily="34" charset="-122"/>
                <a:cs typeface="Inter" pitchFamily="34" charset="-120"/>
              </a:rPr>
              <a:t>Muhammad </a:t>
            </a:r>
            <a:r>
              <a:rPr lang="en-US" sz="1750" dirty="0" err="1">
                <a:solidFill>
                  <a:srgbClr val="161613"/>
                </a:solidFill>
                <a:latin typeface="Inter" pitchFamily="34" charset="0"/>
                <a:ea typeface="Inter" pitchFamily="34" charset="-122"/>
                <a:cs typeface="Inter" pitchFamily="34" charset="-120"/>
              </a:rPr>
              <a:t>Umer</a:t>
            </a:r>
            <a:r>
              <a:rPr lang="en-US" sz="1750" dirty="0">
                <a:solidFill>
                  <a:srgbClr val="161613"/>
                </a:solidFill>
                <a:latin typeface="Inter" pitchFamily="34" charset="0"/>
                <a:ea typeface="Inter" pitchFamily="34" charset="-122"/>
                <a:cs typeface="Inter" pitchFamily="34" charset="-120"/>
              </a:rPr>
              <a:t>.</a:t>
            </a:r>
            <a:endParaRPr lang="en-US" sz="1750" dirty="0"/>
          </a:p>
        </p:txBody>
      </p:sp>
      <p:sp>
        <p:nvSpPr>
          <p:cNvPr id="8" name="Text 5"/>
          <p:cNvSpPr/>
          <p:nvPr/>
        </p:nvSpPr>
        <p:spPr>
          <a:xfrm>
            <a:off x="793790" y="6048256"/>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 </a:t>
            </a:r>
            <a:r>
              <a:rPr lang="en-US" sz="1750" b="1" dirty="0">
                <a:solidFill>
                  <a:srgbClr val="161613"/>
                </a:solidFill>
                <a:latin typeface="Inter" pitchFamily="34" charset="0"/>
                <a:ea typeface="Inter" pitchFamily="34" charset="-122"/>
                <a:cs typeface="Inter" pitchFamily="34" charset="-120"/>
              </a:rPr>
              <a:t>Date</a:t>
            </a:r>
            <a:r>
              <a:rPr lang="en-US" sz="1750" dirty="0">
                <a:solidFill>
                  <a:srgbClr val="161613"/>
                </a:solidFill>
                <a:latin typeface="Inter" pitchFamily="34" charset="0"/>
                <a:ea typeface="Inter" pitchFamily="34" charset="-122"/>
                <a:cs typeface="Inter" pitchFamily="34" charset="-120"/>
              </a:rPr>
              <a:t>: January 27, 2026.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1830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Project Objective</a:t>
            </a:r>
            <a:endParaRPr lang="en-US" sz="4450" dirty="0"/>
          </a:p>
        </p:txBody>
      </p:sp>
      <p:sp>
        <p:nvSpPr>
          <p:cNvPr id="4" name="Shape 1"/>
          <p:cNvSpPr/>
          <p:nvPr/>
        </p:nvSpPr>
        <p:spPr>
          <a:xfrm>
            <a:off x="6280190" y="1767245"/>
            <a:ext cx="3664744" cy="2940010"/>
          </a:xfrm>
          <a:prstGeom prst="roundRect">
            <a:avLst>
              <a:gd name="adj" fmla="val 1157"/>
            </a:avLst>
          </a:prstGeom>
          <a:solidFill>
            <a:srgbClr val="EDEBE3"/>
          </a:solidFill>
          <a:ln/>
        </p:spPr>
      </p:sp>
      <p:sp>
        <p:nvSpPr>
          <p:cNvPr id="5" name="Shape 2"/>
          <p:cNvSpPr/>
          <p:nvPr/>
        </p:nvSpPr>
        <p:spPr>
          <a:xfrm>
            <a:off x="6507004" y="1994059"/>
            <a:ext cx="680442" cy="680442"/>
          </a:xfrm>
          <a:prstGeom prst="roundRect">
            <a:avLst>
              <a:gd name="adj" fmla="val 13436980"/>
            </a:avLst>
          </a:prstGeom>
          <a:solidFill>
            <a:srgbClr val="28282F"/>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94170" y="2181106"/>
            <a:ext cx="306110" cy="306110"/>
          </a:xfrm>
          <a:prstGeom prst="rect">
            <a:avLst/>
          </a:prstGeom>
        </p:spPr>
      </p:pic>
      <p:sp>
        <p:nvSpPr>
          <p:cNvPr id="7" name="Text 3"/>
          <p:cNvSpPr/>
          <p:nvPr/>
        </p:nvSpPr>
        <p:spPr>
          <a:xfrm>
            <a:off x="6507004" y="29013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Game Development</a:t>
            </a:r>
            <a:endParaRPr lang="en-US" sz="2200" dirty="0"/>
          </a:p>
        </p:txBody>
      </p:sp>
      <p:sp>
        <p:nvSpPr>
          <p:cNvPr id="8" name="Text 4"/>
          <p:cNvSpPr/>
          <p:nvPr/>
        </p:nvSpPr>
        <p:spPr>
          <a:xfrm>
            <a:off x="6507004" y="3391733"/>
            <a:ext cx="3211116"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Develop a game running entirely within the Ubuntu Terminal.</a:t>
            </a:r>
            <a:endParaRPr lang="en-US" sz="1750" dirty="0"/>
          </a:p>
        </p:txBody>
      </p:sp>
      <p:sp>
        <p:nvSpPr>
          <p:cNvPr id="9" name="Shape 5"/>
          <p:cNvSpPr/>
          <p:nvPr/>
        </p:nvSpPr>
        <p:spPr>
          <a:xfrm>
            <a:off x="10171748" y="1767245"/>
            <a:ext cx="3664863" cy="2940010"/>
          </a:xfrm>
          <a:prstGeom prst="roundRect">
            <a:avLst>
              <a:gd name="adj" fmla="val 1157"/>
            </a:avLst>
          </a:prstGeom>
          <a:solidFill>
            <a:srgbClr val="EDEBE3"/>
          </a:solidFill>
          <a:ln/>
        </p:spPr>
      </p:sp>
      <p:sp>
        <p:nvSpPr>
          <p:cNvPr id="10" name="Shape 6"/>
          <p:cNvSpPr/>
          <p:nvPr/>
        </p:nvSpPr>
        <p:spPr>
          <a:xfrm>
            <a:off x="10398562" y="1994059"/>
            <a:ext cx="680442" cy="680442"/>
          </a:xfrm>
          <a:prstGeom prst="roundRect">
            <a:avLst>
              <a:gd name="adj" fmla="val 13436980"/>
            </a:avLst>
          </a:prstGeom>
          <a:solidFill>
            <a:srgbClr val="28282F"/>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85728" y="2181106"/>
            <a:ext cx="306110" cy="306110"/>
          </a:xfrm>
          <a:prstGeom prst="rect">
            <a:avLst/>
          </a:prstGeom>
        </p:spPr>
      </p:pic>
      <p:sp>
        <p:nvSpPr>
          <p:cNvPr id="12" name="Text 7"/>
          <p:cNvSpPr/>
          <p:nvPr/>
        </p:nvSpPr>
        <p:spPr>
          <a:xfrm>
            <a:off x="10398562" y="29013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Grid Game Logic</a:t>
            </a:r>
            <a:endParaRPr lang="en-US" sz="2200" dirty="0"/>
          </a:p>
        </p:txBody>
      </p:sp>
      <p:sp>
        <p:nvSpPr>
          <p:cNvPr id="13" name="Text 8"/>
          <p:cNvSpPr/>
          <p:nvPr/>
        </p:nvSpPr>
        <p:spPr>
          <a:xfrm>
            <a:off x="10398562" y="3391733"/>
            <a:ext cx="3211235"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Implement core Grid Game logic for agent survival.</a:t>
            </a:r>
            <a:endParaRPr lang="en-US" sz="1750" dirty="0"/>
          </a:p>
        </p:txBody>
      </p:sp>
      <p:sp>
        <p:nvSpPr>
          <p:cNvPr id="14" name="Shape 9"/>
          <p:cNvSpPr/>
          <p:nvPr/>
        </p:nvSpPr>
        <p:spPr>
          <a:xfrm>
            <a:off x="6280190" y="4934069"/>
            <a:ext cx="7556421" cy="2577108"/>
          </a:xfrm>
          <a:prstGeom prst="roundRect">
            <a:avLst>
              <a:gd name="adj" fmla="val 1320"/>
            </a:avLst>
          </a:prstGeom>
          <a:solidFill>
            <a:srgbClr val="EDEBE3"/>
          </a:solidFill>
          <a:ln/>
        </p:spPr>
      </p:sp>
      <p:sp>
        <p:nvSpPr>
          <p:cNvPr id="15" name="Shape 10"/>
          <p:cNvSpPr/>
          <p:nvPr/>
        </p:nvSpPr>
        <p:spPr>
          <a:xfrm>
            <a:off x="6507004" y="5160883"/>
            <a:ext cx="680442" cy="680442"/>
          </a:xfrm>
          <a:prstGeom prst="roundRect">
            <a:avLst>
              <a:gd name="adj" fmla="val 13436980"/>
            </a:avLst>
          </a:prstGeom>
          <a:solidFill>
            <a:srgbClr val="28282F"/>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94170" y="5347930"/>
            <a:ext cx="306110" cy="306110"/>
          </a:xfrm>
          <a:prstGeom prst="rect">
            <a:avLst/>
          </a:prstGeom>
        </p:spPr>
      </p:pic>
      <p:sp>
        <p:nvSpPr>
          <p:cNvPr id="17" name="Text 11"/>
          <p:cNvSpPr/>
          <p:nvPr/>
        </p:nvSpPr>
        <p:spPr>
          <a:xfrm>
            <a:off x="6507004" y="606813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Agent Survival</a:t>
            </a:r>
            <a:endParaRPr lang="en-US" sz="2200" dirty="0"/>
          </a:p>
        </p:txBody>
      </p:sp>
      <p:sp>
        <p:nvSpPr>
          <p:cNvPr id="18" name="Text 12"/>
          <p:cNvSpPr/>
          <p:nvPr/>
        </p:nvSpPr>
        <p:spPr>
          <a:xfrm>
            <a:off x="6507004" y="6558558"/>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Create agents managing resources and avoiding obstacles in random environments.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33130" y="530066"/>
            <a:ext cx="4807863" cy="600908"/>
          </a:xfrm>
          <a:prstGeom prst="rect">
            <a:avLst/>
          </a:prstGeom>
          <a:noFill/>
          <a:ln/>
        </p:spPr>
        <p:txBody>
          <a:bodyPr wrap="none" lIns="0" tIns="0" rIns="0" bIns="0" rtlCol="0" anchor="t"/>
          <a:lstStyle/>
          <a:p>
            <a:pPr marL="0" indent="0" algn="l">
              <a:lnSpc>
                <a:spcPts val="4700"/>
              </a:lnSpc>
              <a:buNone/>
            </a:pPr>
            <a:r>
              <a:rPr lang="en-US" sz="3750" dirty="0">
                <a:solidFill>
                  <a:srgbClr val="161613"/>
                </a:solidFill>
                <a:latin typeface="DM Sans Medium" pitchFamily="34" charset="0"/>
                <a:ea typeface="DM Sans Medium" pitchFamily="34" charset="-122"/>
                <a:cs typeface="DM Sans Medium" pitchFamily="34" charset="-120"/>
              </a:rPr>
              <a:t>Project Introduction</a:t>
            </a:r>
            <a:endParaRPr lang="en-US" sz="3750" dirty="0"/>
          </a:p>
        </p:txBody>
      </p:sp>
      <p:pic>
        <p:nvPicPr>
          <p:cNvPr id="3" name="Image 0" descr="preencoded.png"/>
          <p:cNvPicPr>
            <a:picLocks noChangeAspect="1"/>
          </p:cNvPicPr>
          <p:nvPr/>
        </p:nvPicPr>
        <p:blipFill>
          <a:blip r:embed="rId3"/>
          <a:stretch>
            <a:fillRect/>
          </a:stretch>
        </p:blipFill>
        <p:spPr>
          <a:xfrm>
            <a:off x="1233130" y="1635681"/>
            <a:ext cx="5847398" cy="5847398"/>
          </a:xfrm>
          <a:prstGeom prst="rect">
            <a:avLst/>
          </a:prstGeom>
        </p:spPr>
      </p:pic>
      <p:sp>
        <p:nvSpPr>
          <p:cNvPr id="4" name="Text 1"/>
          <p:cNvSpPr/>
          <p:nvPr/>
        </p:nvSpPr>
        <p:spPr>
          <a:xfrm>
            <a:off x="7557254" y="1611630"/>
            <a:ext cx="3612713" cy="300395"/>
          </a:xfrm>
          <a:prstGeom prst="rect">
            <a:avLst/>
          </a:prstGeom>
          <a:noFill/>
          <a:ln/>
        </p:spPr>
        <p:txBody>
          <a:bodyPr wrap="none" lIns="0" tIns="0" rIns="0" bIns="0" rtlCol="0" anchor="t"/>
          <a:lstStyle/>
          <a:p>
            <a:pPr marL="0" indent="0" algn="l">
              <a:lnSpc>
                <a:spcPts val="2350"/>
              </a:lnSpc>
              <a:buNone/>
            </a:pPr>
            <a:r>
              <a:rPr lang="en-US" sz="1850" dirty="0">
                <a:solidFill>
                  <a:srgbClr val="161613"/>
                </a:solidFill>
                <a:latin typeface="DM Sans Medium" pitchFamily="34" charset="0"/>
                <a:ea typeface="DM Sans Medium" pitchFamily="34" charset="-122"/>
                <a:cs typeface="DM Sans Medium" pitchFamily="34" charset="-120"/>
              </a:rPr>
              <a:t>Project Idea: Core Survival Logic</a:t>
            </a:r>
            <a:endParaRPr lang="en-US" sz="1850" dirty="0"/>
          </a:p>
        </p:txBody>
      </p:sp>
      <p:sp>
        <p:nvSpPr>
          <p:cNvPr id="5" name="Text 2"/>
          <p:cNvSpPr/>
          <p:nvPr/>
        </p:nvSpPr>
        <p:spPr>
          <a:xfrm>
            <a:off x="7557254" y="2104311"/>
            <a:ext cx="5847398" cy="1230630"/>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This project focuses on the mathematical and logical core of survival: an agent navigating a 64x64 grid world to find food and water while avoiding obstacles. Using a CLI emphasizes efficient algorithms and system process management.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64525"/>
            <a:ext cx="7384375"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Research Paper Description</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This paper defines process survival game environments where the sole objective is to stay alive by finding resources and avoiding hazards. It compares human and AI agent performance, making it relevant for survival game process research.</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99254" y="711398"/>
            <a:ext cx="5868829" cy="624483"/>
          </a:xfrm>
          <a:prstGeom prst="rect">
            <a:avLst/>
          </a:prstGeom>
          <a:noFill/>
          <a:ln/>
        </p:spPr>
        <p:txBody>
          <a:bodyPr wrap="none" lIns="0" tIns="0" rIns="0" bIns="0" rtlCol="0" anchor="t"/>
          <a:lstStyle/>
          <a:p>
            <a:pPr marL="0" indent="0" algn="l">
              <a:lnSpc>
                <a:spcPts val="4900"/>
              </a:lnSpc>
              <a:buNone/>
            </a:pPr>
            <a:r>
              <a:rPr lang="en-US" sz="3900" dirty="0">
                <a:solidFill>
                  <a:srgbClr val="161613"/>
                </a:solidFill>
                <a:latin typeface="DM Sans Medium" pitchFamily="34" charset="0"/>
                <a:ea typeface="DM Sans Medium" pitchFamily="34" charset="-122"/>
                <a:cs typeface="DM Sans Medium" pitchFamily="34" charset="-120"/>
              </a:rPr>
              <a:t>Implementation Strategy</a:t>
            </a:r>
            <a:endParaRPr lang="en-US" sz="3900" dirty="0"/>
          </a:p>
        </p:txBody>
      </p:sp>
      <p:pic>
        <p:nvPicPr>
          <p:cNvPr id="4" name="Image 1" descr="preencoded.png"/>
          <p:cNvPicPr>
            <a:picLocks noChangeAspect="1"/>
          </p:cNvPicPr>
          <p:nvPr/>
        </p:nvPicPr>
        <p:blipFill>
          <a:blip r:embed="rId4"/>
          <a:stretch>
            <a:fillRect/>
          </a:stretch>
        </p:blipFill>
        <p:spPr>
          <a:xfrm>
            <a:off x="699254" y="1635562"/>
            <a:ext cx="999053" cy="1470660"/>
          </a:xfrm>
          <a:prstGeom prst="rect">
            <a:avLst/>
          </a:prstGeom>
        </p:spPr>
      </p:pic>
      <p:sp>
        <p:nvSpPr>
          <p:cNvPr id="5" name="Text 1"/>
          <p:cNvSpPr/>
          <p:nvPr/>
        </p:nvSpPr>
        <p:spPr>
          <a:xfrm>
            <a:off x="1898094" y="1835348"/>
            <a:ext cx="2961680" cy="312182"/>
          </a:xfrm>
          <a:prstGeom prst="rect">
            <a:avLst/>
          </a:prstGeom>
          <a:noFill/>
          <a:ln/>
        </p:spPr>
        <p:txBody>
          <a:bodyPr wrap="none" lIns="0" tIns="0" rIns="0" bIns="0" rtlCol="0" anchor="t"/>
          <a:lstStyle/>
          <a:p>
            <a:pPr marL="0" indent="0" algn="l">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Environment Initialization</a:t>
            </a:r>
            <a:endParaRPr lang="en-US" sz="1950" dirty="0"/>
          </a:p>
        </p:txBody>
      </p:sp>
      <p:sp>
        <p:nvSpPr>
          <p:cNvPr id="6" name="Text 2"/>
          <p:cNvSpPr/>
          <p:nvPr/>
        </p:nvSpPr>
        <p:spPr>
          <a:xfrm>
            <a:off x="1898094" y="2267307"/>
            <a:ext cx="6546652" cy="639127"/>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Initialize a 64x64 grid on Ubuntu, populating it with randomized food, water, and obstacle coordinates.</a:t>
            </a:r>
            <a:endParaRPr lang="en-US" sz="1550" dirty="0"/>
          </a:p>
        </p:txBody>
      </p:sp>
      <p:pic>
        <p:nvPicPr>
          <p:cNvPr id="7" name="Image 2" descr="preencoded.png"/>
          <p:cNvPicPr>
            <a:picLocks noChangeAspect="1"/>
          </p:cNvPicPr>
          <p:nvPr/>
        </p:nvPicPr>
        <p:blipFill>
          <a:blip r:embed="rId5"/>
          <a:stretch>
            <a:fillRect/>
          </a:stretch>
        </p:blipFill>
        <p:spPr>
          <a:xfrm>
            <a:off x="699254" y="3106222"/>
            <a:ext cx="999053" cy="1470660"/>
          </a:xfrm>
          <a:prstGeom prst="rect">
            <a:avLst/>
          </a:prstGeom>
        </p:spPr>
      </p:pic>
      <p:sp>
        <p:nvSpPr>
          <p:cNvPr id="8" name="Text 3"/>
          <p:cNvSpPr/>
          <p:nvPr/>
        </p:nvSpPr>
        <p:spPr>
          <a:xfrm>
            <a:off x="1898094" y="3306008"/>
            <a:ext cx="2497693" cy="312182"/>
          </a:xfrm>
          <a:prstGeom prst="rect">
            <a:avLst/>
          </a:prstGeom>
          <a:noFill/>
          <a:ln/>
        </p:spPr>
        <p:txBody>
          <a:bodyPr wrap="none" lIns="0" tIns="0" rIns="0" bIns="0" rtlCol="0" anchor="t"/>
          <a:lstStyle/>
          <a:p>
            <a:pPr marL="0" indent="0" algn="l">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Agent Perception</a:t>
            </a:r>
            <a:endParaRPr lang="en-US" sz="1950" dirty="0"/>
          </a:p>
        </p:txBody>
      </p:sp>
      <p:sp>
        <p:nvSpPr>
          <p:cNvPr id="9" name="Text 4"/>
          <p:cNvSpPr/>
          <p:nvPr/>
        </p:nvSpPr>
        <p:spPr>
          <a:xfrm>
            <a:off x="1898094" y="3737967"/>
            <a:ext cx="6546652" cy="639127"/>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Configure agent perception by extracting a local data window and calculating directional vectors towards resources.</a:t>
            </a:r>
            <a:endParaRPr lang="en-US" sz="1550" dirty="0"/>
          </a:p>
        </p:txBody>
      </p:sp>
      <p:pic>
        <p:nvPicPr>
          <p:cNvPr id="10" name="Image 3" descr="preencoded.png"/>
          <p:cNvPicPr>
            <a:picLocks noChangeAspect="1"/>
          </p:cNvPicPr>
          <p:nvPr/>
        </p:nvPicPr>
        <p:blipFill>
          <a:blip r:embed="rId6"/>
          <a:stretch>
            <a:fillRect/>
          </a:stretch>
        </p:blipFill>
        <p:spPr>
          <a:xfrm>
            <a:off x="699254" y="4576882"/>
            <a:ext cx="999053" cy="1470660"/>
          </a:xfrm>
          <a:prstGeom prst="rect">
            <a:avLst/>
          </a:prstGeom>
        </p:spPr>
      </p:pic>
      <p:sp>
        <p:nvSpPr>
          <p:cNvPr id="11" name="Text 5"/>
          <p:cNvSpPr/>
          <p:nvPr/>
        </p:nvSpPr>
        <p:spPr>
          <a:xfrm>
            <a:off x="1898094" y="4776668"/>
            <a:ext cx="2497693" cy="312182"/>
          </a:xfrm>
          <a:prstGeom prst="rect">
            <a:avLst/>
          </a:prstGeom>
          <a:noFill/>
          <a:ln/>
        </p:spPr>
        <p:txBody>
          <a:bodyPr wrap="none" lIns="0" tIns="0" rIns="0" bIns="0" rtlCol="0" anchor="t"/>
          <a:lstStyle/>
          <a:p>
            <a:pPr marL="0" indent="0" algn="l">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Agent Training</a:t>
            </a:r>
            <a:endParaRPr lang="en-US" sz="1950" dirty="0"/>
          </a:p>
        </p:txBody>
      </p:sp>
      <p:sp>
        <p:nvSpPr>
          <p:cNvPr id="12" name="Text 6"/>
          <p:cNvSpPr/>
          <p:nvPr/>
        </p:nvSpPr>
        <p:spPr>
          <a:xfrm>
            <a:off x="1898094" y="5208627"/>
            <a:ext cx="6546652" cy="639127"/>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Train the agent using the Proximal Policy Optimization (PPO) algorithm.</a:t>
            </a:r>
            <a:endParaRPr lang="en-US" sz="1550" dirty="0"/>
          </a:p>
        </p:txBody>
      </p:sp>
      <p:pic>
        <p:nvPicPr>
          <p:cNvPr id="13" name="Image 4" descr="preencoded.png"/>
          <p:cNvPicPr>
            <a:picLocks noChangeAspect="1"/>
          </p:cNvPicPr>
          <p:nvPr/>
        </p:nvPicPr>
        <p:blipFill>
          <a:blip r:embed="rId7"/>
          <a:stretch>
            <a:fillRect/>
          </a:stretch>
        </p:blipFill>
        <p:spPr>
          <a:xfrm>
            <a:off x="699254" y="6047542"/>
            <a:ext cx="999053" cy="1470660"/>
          </a:xfrm>
          <a:prstGeom prst="rect">
            <a:avLst/>
          </a:prstGeom>
        </p:spPr>
      </p:pic>
      <p:sp>
        <p:nvSpPr>
          <p:cNvPr id="14" name="Text 7"/>
          <p:cNvSpPr/>
          <p:nvPr/>
        </p:nvSpPr>
        <p:spPr>
          <a:xfrm>
            <a:off x="1898094" y="6247328"/>
            <a:ext cx="2788682" cy="312182"/>
          </a:xfrm>
          <a:prstGeom prst="rect">
            <a:avLst/>
          </a:prstGeom>
          <a:noFill/>
          <a:ln/>
        </p:spPr>
        <p:txBody>
          <a:bodyPr wrap="none" lIns="0" tIns="0" rIns="0" bIns="0" rtlCol="0" anchor="t"/>
          <a:lstStyle/>
          <a:p>
            <a:pPr marL="0" indent="0" algn="l">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Survival Loop Execution</a:t>
            </a:r>
            <a:endParaRPr lang="en-US" sz="1950" dirty="0"/>
          </a:p>
        </p:txBody>
      </p:sp>
      <p:sp>
        <p:nvSpPr>
          <p:cNvPr id="15" name="Text 8"/>
          <p:cNvSpPr/>
          <p:nvPr/>
        </p:nvSpPr>
        <p:spPr>
          <a:xfrm>
            <a:off x="1898094" y="6679287"/>
            <a:ext cx="6546652" cy="639127"/>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Execute the survival loop in the terminal, outputting resource levels to track the agent's life expectancy.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031802" y="459462"/>
            <a:ext cx="4176593" cy="522089"/>
          </a:xfrm>
          <a:prstGeom prst="rect">
            <a:avLst/>
          </a:prstGeom>
          <a:noFill/>
          <a:ln/>
        </p:spPr>
        <p:txBody>
          <a:bodyPr wrap="none" lIns="0" tIns="0" rIns="0" bIns="0" rtlCol="0" anchor="t"/>
          <a:lstStyle/>
          <a:p>
            <a:pPr marL="0" indent="0" algn="l">
              <a:lnSpc>
                <a:spcPts val="4100"/>
              </a:lnSpc>
              <a:buNone/>
            </a:pPr>
            <a:r>
              <a:rPr lang="en-US" sz="3250" dirty="0">
                <a:solidFill>
                  <a:srgbClr val="161613"/>
                </a:solidFill>
                <a:latin typeface="DM Sans Medium" pitchFamily="34" charset="0"/>
                <a:ea typeface="DM Sans Medium" pitchFamily="34" charset="-122"/>
                <a:cs typeface="DM Sans Medium" pitchFamily="34" charset="-120"/>
              </a:rPr>
              <a:t>References</a:t>
            </a:r>
            <a:endParaRPr lang="en-US" sz="3250" dirty="0"/>
          </a:p>
        </p:txBody>
      </p:sp>
      <p:sp>
        <p:nvSpPr>
          <p:cNvPr id="3" name="Text 1"/>
          <p:cNvSpPr/>
          <p:nvPr/>
        </p:nvSpPr>
        <p:spPr>
          <a:xfrm>
            <a:off x="2031802" y="1048345"/>
            <a:ext cx="2088237" cy="260985"/>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Research Paper</a:t>
            </a:r>
            <a:endParaRPr lang="en-US" sz="1600" dirty="0"/>
          </a:p>
        </p:txBody>
      </p:sp>
      <p:sp>
        <p:nvSpPr>
          <p:cNvPr id="4" name="Text 2"/>
          <p:cNvSpPr/>
          <p:nvPr/>
        </p:nvSpPr>
        <p:spPr>
          <a:xfrm>
            <a:off x="2031802" y="1559838"/>
            <a:ext cx="10566797" cy="267176"/>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Survival Games for Humans and Machines, SSRN Preprint 4587702 (2023). Available at: </a:t>
            </a:r>
            <a:r>
              <a:rPr lang="en-US" sz="1300" u="sng" dirty="0">
                <a:solidFill>
                  <a:srgbClr val="28282F"/>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https://ssrn.com/abstract=4587702</a:t>
            </a:r>
            <a:r>
              <a:rPr lang="en-US" sz="1300" dirty="0">
                <a:solidFill>
                  <a:srgbClr val="161613"/>
                </a:solidFill>
                <a:latin typeface="Inter" pitchFamily="34" charset="0"/>
                <a:ea typeface="Inter" pitchFamily="34" charset="-122"/>
                <a:cs typeface="Inter" pitchFamily="34" charset="-120"/>
              </a:rPr>
              <a:t>.</a:t>
            </a:r>
            <a:endParaRPr lang="en-US" sz="1300" dirty="0"/>
          </a:p>
        </p:txBody>
      </p:sp>
      <p:sp>
        <p:nvSpPr>
          <p:cNvPr id="5" name="Shape 3"/>
          <p:cNvSpPr/>
          <p:nvPr/>
        </p:nvSpPr>
        <p:spPr>
          <a:xfrm>
            <a:off x="2031802" y="2098333"/>
            <a:ext cx="10566797" cy="28456"/>
          </a:xfrm>
          <a:prstGeom prst="rect">
            <a:avLst/>
          </a:prstGeom>
          <a:solidFill>
            <a:srgbClr val="161613">
              <a:alpha val="50000"/>
            </a:srgbClr>
          </a:solidFill>
          <a:ln/>
        </p:spPr>
      </p:sp>
      <p:sp>
        <p:nvSpPr>
          <p:cNvPr id="6" name="Text 4"/>
          <p:cNvSpPr/>
          <p:nvPr/>
        </p:nvSpPr>
        <p:spPr>
          <a:xfrm>
            <a:off x="2031802" y="2481620"/>
            <a:ext cx="2088237" cy="260985"/>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Operating System</a:t>
            </a:r>
            <a:endParaRPr lang="en-US" sz="1600" dirty="0"/>
          </a:p>
        </p:txBody>
      </p:sp>
      <p:sp>
        <p:nvSpPr>
          <p:cNvPr id="7" name="Text 5"/>
          <p:cNvSpPr/>
          <p:nvPr/>
        </p:nvSpPr>
        <p:spPr>
          <a:xfrm>
            <a:off x="2031802" y="2909649"/>
            <a:ext cx="5079683" cy="534352"/>
          </a:xfrm>
          <a:prstGeom prst="rect">
            <a:avLst/>
          </a:prstGeom>
          <a:noFill/>
          <a:ln/>
        </p:spPr>
        <p:txBody>
          <a:bodyPr wrap="squar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Ubuntu: Our chosen development and testing environment for the project.</a:t>
            </a:r>
            <a:endParaRPr lang="en-US" sz="1300" dirty="0"/>
          </a:p>
        </p:txBody>
      </p:sp>
      <p:pic>
        <p:nvPicPr>
          <p:cNvPr id="8" name="Image 0" descr="preencoded.png"/>
          <p:cNvPicPr>
            <a:picLocks noChangeAspect="1"/>
          </p:cNvPicPr>
          <p:nvPr/>
        </p:nvPicPr>
        <p:blipFill>
          <a:blip r:embed="rId4"/>
          <a:stretch>
            <a:fillRect/>
          </a:stretch>
        </p:blipFill>
        <p:spPr>
          <a:xfrm>
            <a:off x="7526536" y="2502456"/>
            <a:ext cx="5079683" cy="50796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245</TotalTime>
  <Words>279</Words>
  <Application>Microsoft Office PowerPoint</Application>
  <PresentationFormat>Custom</PresentationFormat>
  <Paragraphs>38</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Inter</vt:lpstr>
      <vt:lpstr>DM Sans Medium</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Dell</cp:lastModifiedBy>
  <cp:revision>3</cp:revision>
  <dcterms:created xsi:type="dcterms:W3CDTF">2026-01-25T08:36:15Z</dcterms:created>
  <dcterms:modified xsi:type="dcterms:W3CDTF">2026-01-27T09:03:51Z</dcterms:modified>
</cp:coreProperties>
</file>