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4" r:id="rId1"/>
  </p:sldMasterIdLst>
  <p:notesMasterIdLst>
    <p:notesMasterId r:id="rId19"/>
  </p:notesMasterIdLst>
  <p:sldIdLst>
    <p:sldId id="256" r:id="rId2"/>
    <p:sldId id="257" r:id="rId3"/>
    <p:sldId id="258" r:id="rId4"/>
    <p:sldId id="259" r:id="rId5"/>
    <p:sldId id="260" r:id="rId6"/>
    <p:sldId id="270" r:id="rId7"/>
    <p:sldId id="261" r:id="rId8"/>
    <p:sldId id="262" r:id="rId9"/>
    <p:sldId id="263" r:id="rId10"/>
    <p:sldId id="264" r:id="rId11"/>
    <p:sldId id="265" r:id="rId12"/>
    <p:sldId id="266" r:id="rId13"/>
    <p:sldId id="268" r:id="rId14"/>
    <p:sldId id="267" r:id="rId15"/>
    <p:sldId id="271" r:id="rId16"/>
    <p:sldId id="269" r:id="rId17"/>
    <p:sldId id="272" r:id="rId18"/>
  </p:sldIdLst>
  <p:sldSz cx="14630400" cy="8229600"/>
  <p:notesSz cx="8229600" cy="14630400"/>
  <p:embeddedFontLst>
    <p:embeddedFont>
      <p:font typeface="Calibri" panose="020F0502020204030204" pitchFamily="34" charset="0"/>
      <p:regular r:id="rId20"/>
      <p:bold r:id="rId21"/>
      <p:italic r:id="rId22"/>
      <p:boldItalic r:id="rId23"/>
    </p:embeddedFont>
    <p:embeddedFont>
      <p:font typeface="Calibri Light" panose="020F0302020204030204" pitchFamily="34" charset="0"/>
      <p:regular r:id="rId24"/>
      <p:italic r:id="rId25"/>
    </p:embeddedFont>
    <p:embeddedFont>
      <p:font typeface="Raleway Medium" panose="020B0604020202020204" charset="0"/>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1" d="100"/>
          <a:sy n="71" d="100"/>
        </p:scale>
        <p:origin x="562" y="67"/>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749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25-Jun-25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333936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25-Jun-25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98388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25-Jun-25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7428033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25-Jun-25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648245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25-Jun-25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7687469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25-Jun-25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1437308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25-Jun-25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7980337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25-Jun-25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3390688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25-Jun-25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065588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25-Jun-25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542663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25-Jun-25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984176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241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605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7537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863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553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935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4668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203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4119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891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8572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88977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3918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341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25-Jun-25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603600481"/>
      </p:ext>
    </p:extLst>
  </p:cSld>
  <p:clrMap bg1="dk1" tx1="lt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4037" y="1627227"/>
            <a:ext cx="11798022"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Diabetes Prediction Using ML Algorithms</a:t>
            </a:r>
            <a:endParaRPr lang="en-US" sz="4300" dirty="0"/>
          </a:p>
        </p:txBody>
      </p:sp>
      <p:sp>
        <p:nvSpPr>
          <p:cNvPr id="3" name="Text 1"/>
          <p:cNvSpPr/>
          <p:nvPr/>
        </p:nvSpPr>
        <p:spPr>
          <a:xfrm>
            <a:off x="864037" y="2806779"/>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Presented by:</a:t>
            </a:r>
            <a:endParaRPr lang="en-US" sz="1900" dirty="0"/>
          </a:p>
        </p:txBody>
      </p:sp>
      <p:sp>
        <p:nvSpPr>
          <p:cNvPr id="4" name="Text 2"/>
          <p:cNvSpPr/>
          <p:nvPr/>
        </p:nvSpPr>
        <p:spPr>
          <a:xfrm>
            <a:off x="864037" y="3479483"/>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Muhammad Umer (23010112-005)</a:t>
            </a:r>
            <a:endParaRPr lang="en-US" sz="1900" dirty="0"/>
          </a:p>
        </p:txBody>
      </p:sp>
      <p:sp>
        <p:nvSpPr>
          <p:cNvPr id="5" name="Text 3"/>
          <p:cNvSpPr/>
          <p:nvPr/>
        </p:nvSpPr>
        <p:spPr>
          <a:xfrm>
            <a:off x="864037" y="4152186"/>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Muhammad Irtisam (23010112-006)</a:t>
            </a:r>
            <a:endParaRPr lang="en-US" sz="1900" dirty="0"/>
          </a:p>
        </p:txBody>
      </p:sp>
      <p:sp>
        <p:nvSpPr>
          <p:cNvPr id="6" name="Text 4"/>
          <p:cNvSpPr/>
          <p:nvPr/>
        </p:nvSpPr>
        <p:spPr>
          <a:xfrm>
            <a:off x="864037" y="4824889"/>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Fatima Nasir (23010112-015)</a:t>
            </a:r>
            <a:endParaRPr lang="en-US" sz="1900" dirty="0"/>
          </a:p>
        </p:txBody>
      </p:sp>
      <p:sp>
        <p:nvSpPr>
          <p:cNvPr id="7" name="Text 5"/>
          <p:cNvSpPr/>
          <p:nvPr/>
        </p:nvSpPr>
        <p:spPr>
          <a:xfrm>
            <a:off x="864037" y="5497592"/>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Rizwa Asad (23010112-016)</a:t>
            </a:r>
            <a:endParaRPr lang="en-US" sz="1900" dirty="0"/>
          </a:p>
        </p:txBody>
      </p:sp>
      <p:sp>
        <p:nvSpPr>
          <p:cNvPr id="9" name="Text 7"/>
          <p:cNvSpPr/>
          <p:nvPr/>
        </p:nvSpPr>
        <p:spPr>
          <a:xfrm>
            <a:off x="1006197" y="6337459"/>
            <a:ext cx="110609" cy="97512"/>
          </a:xfrm>
          <a:prstGeom prst="rect">
            <a:avLst/>
          </a:prstGeom>
          <a:noFill/>
          <a:ln/>
        </p:spPr>
        <p:txBody>
          <a:bodyPr wrap="none" lIns="0" tIns="0" rIns="0" bIns="0" rtlCol="0" anchor="t"/>
          <a:lstStyle/>
          <a:p>
            <a:pPr marL="0" indent="0" algn="ctr">
              <a:lnSpc>
                <a:spcPts val="750"/>
              </a:lnSpc>
              <a:buNone/>
            </a:pP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129903"/>
            <a:ext cx="12665393"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Introduction: Importance of Early Prediction</a:t>
            </a:r>
            <a:endParaRPr lang="en-US" sz="4300" dirty="0"/>
          </a:p>
        </p:txBody>
      </p:sp>
      <p:sp>
        <p:nvSpPr>
          <p:cNvPr id="3" name="Shape 1"/>
          <p:cNvSpPr/>
          <p:nvPr/>
        </p:nvSpPr>
        <p:spPr>
          <a:xfrm>
            <a:off x="894993" y="2173724"/>
            <a:ext cx="555308" cy="641747"/>
          </a:xfrm>
          <a:prstGeom prst="roundRect">
            <a:avLst>
              <a:gd name="adj" fmla="val 9880"/>
            </a:avLst>
          </a:prstGeom>
          <a:solidFill>
            <a:srgbClr val="4D4D51"/>
          </a:solidFill>
          <a:ln/>
        </p:spPr>
      </p:sp>
      <p:pic>
        <p:nvPicPr>
          <p:cNvPr id="4" name="Image 0" descr="preencoded.png"/>
          <p:cNvPicPr>
            <a:picLocks noChangeAspect="1"/>
          </p:cNvPicPr>
          <p:nvPr/>
        </p:nvPicPr>
        <p:blipFill>
          <a:blip r:embed="rId3"/>
          <a:stretch>
            <a:fillRect/>
          </a:stretch>
        </p:blipFill>
        <p:spPr>
          <a:xfrm>
            <a:off x="864037" y="2185988"/>
            <a:ext cx="617220" cy="617220"/>
          </a:xfrm>
          <a:prstGeom prst="rect">
            <a:avLst/>
          </a:prstGeom>
        </p:spPr>
      </p:pic>
      <p:sp>
        <p:nvSpPr>
          <p:cNvPr id="5" name="Text 2"/>
          <p:cNvSpPr/>
          <p:nvPr/>
        </p:nvSpPr>
        <p:spPr>
          <a:xfrm>
            <a:off x="864037" y="3111818"/>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Demographics</a:t>
            </a:r>
            <a:endParaRPr lang="en-US" sz="2150" dirty="0"/>
          </a:p>
        </p:txBody>
      </p:sp>
      <p:sp>
        <p:nvSpPr>
          <p:cNvPr id="6" name="Text 3"/>
          <p:cNvSpPr/>
          <p:nvPr/>
        </p:nvSpPr>
        <p:spPr>
          <a:xfrm>
            <a:off x="864037" y="3602831"/>
            <a:ext cx="6296858"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Age and gender data points are crucial.</a:t>
            </a:r>
            <a:endParaRPr lang="en-US" sz="1900" dirty="0"/>
          </a:p>
        </p:txBody>
      </p:sp>
      <p:sp>
        <p:nvSpPr>
          <p:cNvPr id="7" name="Shape 4"/>
          <p:cNvSpPr/>
          <p:nvPr/>
        </p:nvSpPr>
        <p:spPr>
          <a:xfrm>
            <a:off x="7500461" y="2173724"/>
            <a:ext cx="555308" cy="641747"/>
          </a:xfrm>
          <a:prstGeom prst="roundRect">
            <a:avLst>
              <a:gd name="adj" fmla="val 9880"/>
            </a:avLst>
          </a:prstGeom>
          <a:solidFill>
            <a:srgbClr val="4D4D51"/>
          </a:solidFill>
          <a:ln/>
        </p:spPr>
      </p:sp>
      <p:pic>
        <p:nvPicPr>
          <p:cNvPr id="8" name="Image 1" descr="preencoded.png"/>
          <p:cNvPicPr>
            <a:picLocks noChangeAspect="1"/>
          </p:cNvPicPr>
          <p:nvPr/>
        </p:nvPicPr>
        <p:blipFill>
          <a:blip r:embed="rId3"/>
          <a:stretch>
            <a:fillRect/>
          </a:stretch>
        </p:blipFill>
        <p:spPr>
          <a:xfrm>
            <a:off x="7469505" y="2185988"/>
            <a:ext cx="617220" cy="617220"/>
          </a:xfrm>
          <a:prstGeom prst="rect">
            <a:avLst/>
          </a:prstGeom>
        </p:spPr>
      </p:pic>
      <p:sp>
        <p:nvSpPr>
          <p:cNvPr id="9" name="Text 5"/>
          <p:cNvSpPr/>
          <p:nvPr/>
        </p:nvSpPr>
        <p:spPr>
          <a:xfrm>
            <a:off x="7469505" y="3111818"/>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Medical History</a:t>
            </a:r>
            <a:endParaRPr lang="en-US" sz="2150" dirty="0"/>
          </a:p>
        </p:txBody>
      </p:sp>
      <p:sp>
        <p:nvSpPr>
          <p:cNvPr id="10" name="Text 6"/>
          <p:cNvSpPr/>
          <p:nvPr/>
        </p:nvSpPr>
        <p:spPr>
          <a:xfrm>
            <a:off x="7469505" y="3602831"/>
            <a:ext cx="6296858"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Hypertension and heart disease are key indicators.</a:t>
            </a:r>
            <a:endParaRPr lang="en-US" sz="1900" dirty="0"/>
          </a:p>
        </p:txBody>
      </p:sp>
      <p:sp>
        <p:nvSpPr>
          <p:cNvPr id="11" name="Shape 7"/>
          <p:cNvSpPr/>
          <p:nvPr/>
        </p:nvSpPr>
        <p:spPr>
          <a:xfrm>
            <a:off x="894993" y="4602837"/>
            <a:ext cx="555308" cy="641747"/>
          </a:xfrm>
          <a:prstGeom prst="roundRect">
            <a:avLst>
              <a:gd name="adj" fmla="val 9880"/>
            </a:avLst>
          </a:prstGeom>
          <a:solidFill>
            <a:srgbClr val="4D4D51"/>
          </a:solidFill>
          <a:ln/>
        </p:spPr>
      </p:sp>
      <p:pic>
        <p:nvPicPr>
          <p:cNvPr id="12" name="Image 2" descr="preencoded.png"/>
          <p:cNvPicPr>
            <a:picLocks noChangeAspect="1"/>
          </p:cNvPicPr>
          <p:nvPr/>
        </p:nvPicPr>
        <p:blipFill>
          <a:blip r:embed="rId3"/>
          <a:stretch>
            <a:fillRect/>
          </a:stretch>
        </p:blipFill>
        <p:spPr>
          <a:xfrm>
            <a:off x="864037" y="4615101"/>
            <a:ext cx="617220" cy="617220"/>
          </a:xfrm>
          <a:prstGeom prst="rect">
            <a:avLst/>
          </a:prstGeom>
        </p:spPr>
      </p:pic>
      <p:sp>
        <p:nvSpPr>
          <p:cNvPr id="13" name="Text 8"/>
          <p:cNvSpPr/>
          <p:nvPr/>
        </p:nvSpPr>
        <p:spPr>
          <a:xfrm>
            <a:off x="864037" y="5540931"/>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Lifestyle Factors</a:t>
            </a:r>
            <a:endParaRPr lang="en-US" sz="2150" dirty="0"/>
          </a:p>
        </p:txBody>
      </p:sp>
      <p:sp>
        <p:nvSpPr>
          <p:cNvPr id="14" name="Text 9"/>
          <p:cNvSpPr/>
          <p:nvPr/>
        </p:nvSpPr>
        <p:spPr>
          <a:xfrm>
            <a:off x="864037" y="6031944"/>
            <a:ext cx="6296858"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Smoking habits and BMI are carefully analysed.</a:t>
            </a:r>
            <a:endParaRPr lang="en-US" sz="1900" dirty="0"/>
          </a:p>
        </p:txBody>
      </p:sp>
      <p:sp>
        <p:nvSpPr>
          <p:cNvPr id="15" name="Shape 10"/>
          <p:cNvSpPr/>
          <p:nvPr/>
        </p:nvSpPr>
        <p:spPr>
          <a:xfrm>
            <a:off x="7500461" y="4602837"/>
            <a:ext cx="555308" cy="641747"/>
          </a:xfrm>
          <a:prstGeom prst="roundRect">
            <a:avLst>
              <a:gd name="adj" fmla="val 9880"/>
            </a:avLst>
          </a:prstGeom>
          <a:solidFill>
            <a:srgbClr val="4D4D51"/>
          </a:solidFill>
          <a:ln/>
        </p:spPr>
      </p:sp>
      <p:pic>
        <p:nvPicPr>
          <p:cNvPr id="16" name="Image 3" descr="preencoded.png"/>
          <p:cNvPicPr>
            <a:picLocks noChangeAspect="1"/>
          </p:cNvPicPr>
          <p:nvPr/>
        </p:nvPicPr>
        <p:blipFill>
          <a:blip r:embed="rId3"/>
          <a:stretch>
            <a:fillRect/>
          </a:stretch>
        </p:blipFill>
        <p:spPr>
          <a:xfrm>
            <a:off x="7469505" y="4615101"/>
            <a:ext cx="617220" cy="617220"/>
          </a:xfrm>
          <a:prstGeom prst="rect">
            <a:avLst/>
          </a:prstGeom>
        </p:spPr>
      </p:pic>
      <p:sp>
        <p:nvSpPr>
          <p:cNvPr id="17" name="Text 11"/>
          <p:cNvSpPr/>
          <p:nvPr/>
        </p:nvSpPr>
        <p:spPr>
          <a:xfrm>
            <a:off x="7469505" y="5540931"/>
            <a:ext cx="3024664"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Biochemical Markers</a:t>
            </a:r>
            <a:endParaRPr lang="en-US" sz="2150" dirty="0"/>
          </a:p>
        </p:txBody>
      </p:sp>
      <p:sp>
        <p:nvSpPr>
          <p:cNvPr id="18" name="Text 12"/>
          <p:cNvSpPr/>
          <p:nvPr/>
        </p:nvSpPr>
        <p:spPr>
          <a:xfrm>
            <a:off x="7469505" y="6031944"/>
            <a:ext cx="6296858"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HbA1c and blood glucose levels are vital.</a:t>
            </a:r>
            <a:endParaRPr lang="en-US" sz="1900" dirty="0"/>
          </a:p>
        </p:txBody>
      </p:sp>
      <p:sp>
        <p:nvSpPr>
          <p:cNvPr id="19" name="Text 13"/>
          <p:cNvSpPr/>
          <p:nvPr/>
        </p:nvSpPr>
        <p:spPr>
          <a:xfrm>
            <a:off x="864037" y="6704648"/>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Our project focuses on predicting diabetes early using machine learning.</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849041"/>
            <a:ext cx="8330565"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Why Early Prediction Matters</a:t>
            </a:r>
            <a:endParaRPr lang="en-US" sz="4300" dirty="0"/>
          </a:p>
        </p:txBody>
      </p:sp>
      <p:sp>
        <p:nvSpPr>
          <p:cNvPr id="3" name="Text 1"/>
          <p:cNvSpPr/>
          <p:nvPr/>
        </p:nvSpPr>
        <p:spPr>
          <a:xfrm>
            <a:off x="864037" y="3151942"/>
            <a:ext cx="3366492"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Prevents Complications</a:t>
            </a:r>
            <a:endParaRPr lang="en-US" sz="2150" dirty="0"/>
          </a:p>
        </p:txBody>
      </p:sp>
      <p:sp>
        <p:nvSpPr>
          <p:cNvPr id="4" name="Text 2"/>
          <p:cNvSpPr/>
          <p:nvPr/>
        </p:nvSpPr>
        <p:spPr>
          <a:xfrm>
            <a:off x="864037" y="3741658"/>
            <a:ext cx="6150054"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Early detection can prevent severe health complications.</a:t>
            </a:r>
            <a:endParaRPr lang="en-US" sz="1900" dirty="0"/>
          </a:p>
        </p:txBody>
      </p:sp>
      <p:sp>
        <p:nvSpPr>
          <p:cNvPr id="5" name="Text 3"/>
          <p:cNvSpPr/>
          <p:nvPr/>
        </p:nvSpPr>
        <p:spPr>
          <a:xfrm>
            <a:off x="864037" y="4778573"/>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Cost-Effective Care</a:t>
            </a:r>
            <a:endParaRPr lang="en-US" sz="2150" dirty="0"/>
          </a:p>
        </p:txBody>
      </p:sp>
      <p:sp>
        <p:nvSpPr>
          <p:cNvPr id="6" name="Text 4"/>
          <p:cNvSpPr/>
          <p:nvPr/>
        </p:nvSpPr>
        <p:spPr>
          <a:xfrm>
            <a:off x="864037" y="5368290"/>
            <a:ext cx="6150054"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It significantly reduces overall healthcare expenses.</a:t>
            </a:r>
            <a:endParaRPr lang="en-US" sz="1900" dirty="0"/>
          </a:p>
        </p:txBody>
      </p:sp>
      <p:sp>
        <p:nvSpPr>
          <p:cNvPr id="7" name="Text 5"/>
          <p:cNvSpPr/>
          <p:nvPr/>
        </p:nvSpPr>
        <p:spPr>
          <a:xfrm>
            <a:off x="7623929" y="3151942"/>
            <a:ext cx="3377803"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Personalised Treatment</a:t>
            </a:r>
            <a:endParaRPr lang="en-US" sz="2150" dirty="0"/>
          </a:p>
        </p:txBody>
      </p:sp>
      <p:sp>
        <p:nvSpPr>
          <p:cNvPr id="8" name="Text 6"/>
          <p:cNvSpPr/>
          <p:nvPr/>
        </p:nvSpPr>
        <p:spPr>
          <a:xfrm>
            <a:off x="7623929" y="3741658"/>
            <a:ext cx="6150054"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AI models support tailored risk assessments for patients.</a:t>
            </a:r>
            <a:endParaRPr lang="en-US" sz="1900" dirty="0"/>
          </a:p>
        </p:txBody>
      </p:sp>
      <p:sp>
        <p:nvSpPr>
          <p:cNvPr id="9" name="Text 7"/>
          <p:cNvSpPr/>
          <p:nvPr/>
        </p:nvSpPr>
        <p:spPr>
          <a:xfrm>
            <a:off x="7623929" y="4778573"/>
            <a:ext cx="2892266"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Improved Outcomes</a:t>
            </a:r>
            <a:endParaRPr lang="en-US" sz="2150" dirty="0"/>
          </a:p>
        </p:txBody>
      </p:sp>
      <p:sp>
        <p:nvSpPr>
          <p:cNvPr id="10" name="Text 8"/>
          <p:cNvSpPr/>
          <p:nvPr/>
        </p:nvSpPr>
        <p:spPr>
          <a:xfrm>
            <a:off x="7623929" y="5368290"/>
            <a:ext cx="6150054"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This leads to better patient outcomes and system efficiency.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4012" y="521732"/>
            <a:ext cx="6802160" cy="527090"/>
          </a:xfrm>
          <a:prstGeom prst="rect">
            <a:avLst/>
          </a:prstGeom>
          <a:noFill/>
          <a:ln/>
        </p:spPr>
        <p:txBody>
          <a:bodyPr wrap="none" lIns="0" tIns="0" rIns="0" bIns="0" rtlCol="0" anchor="t"/>
          <a:lstStyle/>
          <a:p>
            <a:pPr marL="0" indent="0" algn="l">
              <a:lnSpc>
                <a:spcPts val="4150"/>
              </a:lnSpc>
              <a:buNone/>
            </a:pPr>
            <a:r>
              <a:rPr lang="en-US" sz="3300" b="1" dirty="0">
                <a:solidFill>
                  <a:srgbClr val="FFE14D"/>
                </a:solidFill>
                <a:latin typeface="Comfortaa Bold" pitchFamily="34" charset="0"/>
                <a:ea typeface="Comfortaa Bold" pitchFamily="34" charset="-122"/>
                <a:cs typeface="Comfortaa Bold" pitchFamily="34" charset="-120"/>
              </a:rPr>
              <a:t>Literature Review Methodology</a:t>
            </a:r>
            <a:endParaRPr lang="en-US" sz="3300" dirty="0"/>
          </a:p>
        </p:txBody>
      </p:sp>
      <p:sp>
        <p:nvSpPr>
          <p:cNvPr id="3" name="Text 1"/>
          <p:cNvSpPr/>
          <p:nvPr/>
        </p:nvSpPr>
        <p:spPr>
          <a:xfrm>
            <a:off x="664012" y="1428274"/>
            <a:ext cx="13302377"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We reviewed several studies by key authors.</a:t>
            </a:r>
            <a:endParaRPr lang="en-US" sz="1450" dirty="0"/>
          </a:p>
        </p:txBody>
      </p:sp>
      <p:sp>
        <p:nvSpPr>
          <p:cNvPr id="4" name="Shape 2"/>
          <p:cNvSpPr/>
          <p:nvPr/>
        </p:nvSpPr>
        <p:spPr>
          <a:xfrm>
            <a:off x="664012" y="1945243"/>
            <a:ext cx="426839" cy="426839"/>
          </a:xfrm>
          <a:prstGeom prst="roundRect">
            <a:avLst>
              <a:gd name="adj" fmla="val 66682"/>
            </a:avLst>
          </a:prstGeom>
          <a:solidFill>
            <a:srgbClr val="46464A"/>
          </a:solidFill>
          <a:ln/>
        </p:spPr>
      </p:sp>
      <p:sp>
        <p:nvSpPr>
          <p:cNvPr id="5" name="Text 3"/>
          <p:cNvSpPr/>
          <p:nvPr/>
        </p:nvSpPr>
        <p:spPr>
          <a:xfrm>
            <a:off x="1280517" y="2010370"/>
            <a:ext cx="2265998" cy="263485"/>
          </a:xfrm>
          <a:prstGeom prst="rect">
            <a:avLst/>
          </a:prstGeom>
          <a:noFill/>
          <a:ln/>
        </p:spPr>
        <p:txBody>
          <a:bodyPr wrap="none" lIns="0" tIns="0" rIns="0" bIns="0" rtlCol="0" anchor="t"/>
          <a:lstStyle/>
          <a:p>
            <a:pPr marL="0" indent="0" algn="l">
              <a:lnSpc>
                <a:spcPts val="2050"/>
              </a:lnSpc>
              <a:buNone/>
            </a:pPr>
            <a:r>
              <a:rPr lang="en-US" sz="1650" b="1" dirty="0">
                <a:solidFill>
                  <a:srgbClr val="D7D4CC"/>
                </a:solidFill>
                <a:latin typeface="Comfortaa Bold" pitchFamily="34" charset="0"/>
                <a:ea typeface="Comfortaa Bold" pitchFamily="34" charset="-122"/>
                <a:cs typeface="Comfortaa Bold" pitchFamily="34" charset="-120"/>
              </a:rPr>
              <a:t>Feature Engineering</a:t>
            </a:r>
            <a:endParaRPr lang="en-US" sz="1650" dirty="0"/>
          </a:p>
        </p:txBody>
      </p:sp>
      <p:sp>
        <p:nvSpPr>
          <p:cNvPr id="6" name="Text 4"/>
          <p:cNvSpPr/>
          <p:nvPr/>
        </p:nvSpPr>
        <p:spPr>
          <a:xfrm>
            <a:off x="1280517" y="2387679"/>
            <a:ext cx="12685871"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Enhances model accuracy significantly.</a:t>
            </a:r>
            <a:endParaRPr lang="en-US" sz="1450" dirty="0"/>
          </a:p>
        </p:txBody>
      </p:sp>
      <p:sp>
        <p:nvSpPr>
          <p:cNvPr id="7" name="Shape 5"/>
          <p:cNvSpPr/>
          <p:nvPr/>
        </p:nvSpPr>
        <p:spPr>
          <a:xfrm>
            <a:off x="664012" y="3070741"/>
            <a:ext cx="426839" cy="426839"/>
          </a:xfrm>
          <a:prstGeom prst="roundRect">
            <a:avLst>
              <a:gd name="adj" fmla="val 66682"/>
            </a:avLst>
          </a:prstGeom>
          <a:solidFill>
            <a:srgbClr val="46464A"/>
          </a:solidFill>
          <a:ln/>
        </p:spPr>
      </p:sp>
      <p:sp>
        <p:nvSpPr>
          <p:cNvPr id="8" name="Text 6"/>
          <p:cNvSpPr/>
          <p:nvPr/>
        </p:nvSpPr>
        <p:spPr>
          <a:xfrm>
            <a:off x="1280517" y="3135868"/>
            <a:ext cx="2124789" cy="263485"/>
          </a:xfrm>
          <a:prstGeom prst="rect">
            <a:avLst/>
          </a:prstGeom>
          <a:noFill/>
          <a:ln/>
        </p:spPr>
        <p:txBody>
          <a:bodyPr wrap="none" lIns="0" tIns="0" rIns="0" bIns="0" rtlCol="0" anchor="t"/>
          <a:lstStyle/>
          <a:p>
            <a:pPr marL="0" indent="0" algn="l">
              <a:lnSpc>
                <a:spcPts val="2050"/>
              </a:lnSpc>
              <a:buNone/>
            </a:pPr>
            <a:r>
              <a:rPr lang="en-US" sz="1650" b="1" dirty="0">
                <a:solidFill>
                  <a:srgbClr val="D7D4CC"/>
                </a:solidFill>
                <a:latin typeface="Comfortaa Bold" pitchFamily="34" charset="0"/>
                <a:ea typeface="Comfortaa Bold" pitchFamily="34" charset="-122"/>
                <a:cs typeface="Comfortaa Bold" pitchFamily="34" charset="-120"/>
              </a:rPr>
              <a:t>LGBM Performance</a:t>
            </a:r>
            <a:endParaRPr lang="en-US" sz="1650" dirty="0"/>
          </a:p>
        </p:txBody>
      </p:sp>
      <p:sp>
        <p:nvSpPr>
          <p:cNvPr id="9" name="Text 7"/>
          <p:cNvSpPr/>
          <p:nvPr/>
        </p:nvSpPr>
        <p:spPr>
          <a:xfrm>
            <a:off x="1280517" y="3513177"/>
            <a:ext cx="12685871"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Achieved an impressive 82.91% accuracy.</a:t>
            </a:r>
            <a:endParaRPr lang="en-US" sz="1450" dirty="0"/>
          </a:p>
        </p:txBody>
      </p:sp>
      <p:sp>
        <p:nvSpPr>
          <p:cNvPr id="10" name="Shape 8"/>
          <p:cNvSpPr/>
          <p:nvPr/>
        </p:nvSpPr>
        <p:spPr>
          <a:xfrm>
            <a:off x="664012" y="4196239"/>
            <a:ext cx="426839" cy="426839"/>
          </a:xfrm>
          <a:prstGeom prst="roundRect">
            <a:avLst>
              <a:gd name="adj" fmla="val 66682"/>
            </a:avLst>
          </a:prstGeom>
          <a:solidFill>
            <a:srgbClr val="46464A"/>
          </a:solidFill>
          <a:ln/>
        </p:spPr>
      </p:sp>
      <p:sp>
        <p:nvSpPr>
          <p:cNvPr id="11" name="Text 9"/>
          <p:cNvSpPr/>
          <p:nvPr/>
        </p:nvSpPr>
        <p:spPr>
          <a:xfrm>
            <a:off x="1280517" y="4261366"/>
            <a:ext cx="2108240" cy="263485"/>
          </a:xfrm>
          <a:prstGeom prst="rect">
            <a:avLst/>
          </a:prstGeom>
          <a:noFill/>
          <a:ln/>
        </p:spPr>
        <p:txBody>
          <a:bodyPr wrap="none" lIns="0" tIns="0" rIns="0" bIns="0" rtlCol="0" anchor="t"/>
          <a:lstStyle/>
          <a:p>
            <a:pPr marL="0" indent="0" algn="l">
              <a:lnSpc>
                <a:spcPts val="2050"/>
              </a:lnSpc>
              <a:buNone/>
            </a:pPr>
            <a:r>
              <a:rPr lang="en-US" sz="1650" b="1" dirty="0">
                <a:solidFill>
                  <a:srgbClr val="D7D4CC"/>
                </a:solidFill>
                <a:latin typeface="Comfortaa Bold" pitchFamily="34" charset="0"/>
                <a:ea typeface="Comfortaa Bold" pitchFamily="34" charset="-122"/>
                <a:cs typeface="Comfortaa Bold" pitchFamily="34" charset="-120"/>
              </a:rPr>
              <a:t>Neural Networks</a:t>
            </a:r>
            <a:endParaRPr lang="en-US" sz="1650" dirty="0"/>
          </a:p>
        </p:txBody>
      </p:sp>
      <p:sp>
        <p:nvSpPr>
          <p:cNvPr id="12" name="Text 10"/>
          <p:cNvSpPr/>
          <p:nvPr/>
        </p:nvSpPr>
        <p:spPr>
          <a:xfrm>
            <a:off x="1280517" y="4638675"/>
            <a:ext cx="12685871"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Demonstrated an 88.6% accuracy rate.</a:t>
            </a:r>
            <a:endParaRPr lang="en-US" sz="1450" dirty="0"/>
          </a:p>
        </p:txBody>
      </p:sp>
      <p:sp>
        <p:nvSpPr>
          <p:cNvPr id="13" name="Shape 11"/>
          <p:cNvSpPr/>
          <p:nvPr/>
        </p:nvSpPr>
        <p:spPr>
          <a:xfrm>
            <a:off x="664012" y="5321737"/>
            <a:ext cx="426839" cy="426839"/>
          </a:xfrm>
          <a:prstGeom prst="roundRect">
            <a:avLst>
              <a:gd name="adj" fmla="val 66682"/>
            </a:avLst>
          </a:prstGeom>
          <a:solidFill>
            <a:srgbClr val="46464A"/>
          </a:solidFill>
          <a:ln/>
        </p:spPr>
      </p:sp>
      <p:sp>
        <p:nvSpPr>
          <p:cNvPr id="14" name="Text 12"/>
          <p:cNvSpPr/>
          <p:nvPr/>
        </p:nvSpPr>
        <p:spPr>
          <a:xfrm>
            <a:off x="1280517" y="5386864"/>
            <a:ext cx="2108240" cy="263485"/>
          </a:xfrm>
          <a:prstGeom prst="rect">
            <a:avLst/>
          </a:prstGeom>
          <a:noFill/>
          <a:ln/>
        </p:spPr>
        <p:txBody>
          <a:bodyPr wrap="none" lIns="0" tIns="0" rIns="0" bIns="0" rtlCol="0" anchor="t"/>
          <a:lstStyle/>
          <a:p>
            <a:pPr marL="0" indent="0" algn="l">
              <a:lnSpc>
                <a:spcPts val="2050"/>
              </a:lnSpc>
              <a:buNone/>
            </a:pPr>
            <a:r>
              <a:rPr lang="en-US" sz="1650" b="1" dirty="0">
                <a:solidFill>
                  <a:srgbClr val="D7D4CC"/>
                </a:solidFill>
                <a:latin typeface="Comfortaa Bold" pitchFamily="34" charset="0"/>
                <a:ea typeface="Comfortaa Bold" pitchFamily="34" charset="-122"/>
                <a:cs typeface="Comfortaa Bold" pitchFamily="34" charset="-120"/>
              </a:rPr>
              <a:t>AdaBoost Results</a:t>
            </a:r>
            <a:endParaRPr lang="en-US" sz="1650" dirty="0"/>
          </a:p>
        </p:txBody>
      </p:sp>
      <p:sp>
        <p:nvSpPr>
          <p:cNvPr id="15" name="Text 13"/>
          <p:cNvSpPr/>
          <p:nvPr/>
        </p:nvSpPr>
        <p:spPr>
          <a:xfrm>
            <a:off x="1280517" y="5764173"/>
            <a:ext cx="12685871"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Showed the highest accuracy at 98.8%.</a:t>
            </a:r>
            <a:endParaRPr lang="en-US" sz="1450" dirty="0"/>
          </a:p>
        </p:txBody>
      </p:sp>
      <p:sp>
        <p:nvSpPr>
          <p:cNvPr id="16" name="Shape 14"/>
          <p:cNvSpPr/>
          <p:nvPr/>
        </p:nvSpPr>
        <p:spPr>
          <a:xfrm>
            <a:off x="664012" y="6447234"/>
            <a:ext cx="426839" cy="426839"/>
          </a:xfrm>
          <a:prstGeom prst="roundRect">
            <a:avLst>
              <a:gd name="adj" fmla="val 66682"/>
            </a:avLst>
          </a:prstGeom>
          <a:solidFill>
            <a:srgbClr val="46464A"/>
          </a:solidFill>
          <a:ln/>
        </p:spPr>
      </p:sp>
      <p:sp>
        <p:nvSpPr>
          <p:cNvPr id="17" name="Text 15"/>
          <p:cNvSpPr/>
          <p:nvPr/>
        </p:nvSpPr>
        <p:spPr>
          <a:xfrm>
            <a:off x="1280517" y="6512362"/>
            <a:ext cx="2108240" cy="263485"/>
          </a:xfrm>
          <a:prstGeom prst="rect">
            <a:avLst/>
          </a:prstGeom>
          <a:noFill/>
          <a:ln/>
        </p:spPr>
        <p:txBody>
          <a:bodyPr wrap="none" lIns="0" tIns="0" rIns="0" bIns="0" rtlCol="0" anchor="t"/>
          <a:lstStyle/>
          <a:p>
            <a:pPr marL="0" indent="0" algn="l">
              <a:lnSpc>
                <a:spcPts val="2050"/>
              </a:lnSpc>
              <a:buNone/>
            </a:pPr>
            <a:r>
              <a:rPr lang="en-US" sz="1650" b="1" dirty="0">
                <a:solidFill>
                  <a:srgbClr val="D7D4CC"/>
                </a:solidFill>
                <a:latin typeface="Comfortaa Bold" pitchFamily="34" charset="0"/>
                <a:ea typeface="Comfortaa Bold" pitchFamily="34" charset="-122"/>
                <a:cs typeface="Comfortaa Bold" pitchFamily="34" charset="-120"/>
              </a:rPr>
              <a:t>Interpretability</a:t>
            </a:r>
            <a:endParaRPr lang="en-US" sz="1650" dirty="0"/>
          </a:p>
        </p:txBody>
      </p:sp>
      <p:sp>
        <p:nvSpPr>
          <p:cNvPr id="18" name="Text 16"/>
          <p:cNvSpPr/>
          <p:nvPr/>
        </p:nvSpPr>
        <p:spPr>
          <a:xfrm>
            <a:off x="1280517" y="6889671"/>
            <a:ext cx="12685871"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Logistic regression aids model understanding.</a:t>
            </a:r>
            <a:endParaRPr lang="en-US" sz="1450" dirty="0"/>
          </a:p>
        </p:txBody>
      </p:sp>
      <p:sp>
        <p:nvSpPr>
          <p:cNvPr id="19" name="Text 17"/>
          <p:cNvSpPr/>
          <p:nvPr/>
        </p:nvSpPr>
        <p:spPr>
          <a:xfrm>
            <a:off x="664012" y="7406640"/>
            <a:ext cx="13302377" cy="303609"/>
          </a:xfrm>
          <a:prstGeom prst="rect">
            <a:avLst/>
          </a:prstGeom>
          <a:noFill/>
          <a:ln/>
        </p:spPr>
        <p:txBody>
          <a:bodyPr wrap="non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Findings highlight various algorithm strengths.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1850827"/>
            <a:ext cx="8128754"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Data Collection and Dataset</a:t>
            </a:r>
            <a:endParaRPr lang="en-US" sz="4300" dirty="0"/>
          </a:p>
        </p:txBody>
      </p:sp>
      <p:sp>
        <p:nvSpPr>
          <p:cNvPr id="3" name="Text 1"/>
          <p:cNvSpPr/>
          <p:nvPr/>
        </p:nvSpPr>
        <p:spPr>
          <a:xfrm>
            <a:off x="864037" y="3030379"/>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Our dataset is comprehensive.</a:t>
            </a:r>
            <a:endParaRPr lang="en-US" sz="1900" dirty="0"/>
          </a:p>
        </p:txBody>
      </p:sp>
      <p:sp>
        <p:nvSpPr>
          <p:cNvPr id="4" name="Text 2"/>
          <p:cNvSpPr/>
          <p:nvPr/>
        </p:nvSpPr>
        <p:spPr>
          <a:xfrm>
            <a:off x="864037" y="3949898"/>
            <a:ext cx="2877979"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Dataset Description</a:t>
            </a:r>
            <a:endParaRPr lang="en-US" sz="2150" dirty="0"/>
          </a:p>
        </p:txBody>
      </p:sp>
      <p:sp>
        <p:nvSpPr>
          <p:cNvPr id="5" name="Text 3"/>
          <p:cNvSpPr/>
          <p:nvPr/>
        </p:nvSpPr>
        <p:spPr>
          <a:xfrm>
            <a:off x="864037" y="4539615"/>
            <a:ext cx="6150054"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Includes age, gender, BMI, and more.</a:t>
            </a:r>
            <a:endParaRPr lang="en-US" sz="1900" dirty="0"/>
          </a:p>
        </p:txBody>
      </p:sp>
      <p:sp>
        <p:nvSpPr>
          <p:cNvPr id="6" name="Text 4"/>
          <p:cNvSpPr/>
          <p:nvPr/>
        </p:nvSpPr>
        <p:spPr>
          <a:xfrm>
            <a:off x="864037" y="5020985"/>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Labels identify diabetic versus non-diabetic cases.</a:t>
            </a:r>
            <a:endParaRPr lang="en-US" sz="1900" dirty="0"/>
          </a:p>
        </p:txBody>
      </p:sp>
      <p:sp>
        <p:nvSpPr>
          <p:cNvPr id="7" name="Text 5"/>
          <p:cNvSpPr/>
          <p:nvPr/>
        </p:nvSpPr>
        <p:spPr>
          <a:xfrm>
            <a:off x="864037" y="5897404"/>
            <a:ext cx="6150054"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This allows for robust model training.</a:t>
            </a:r>
            <a:endParaRPr lang="en-US" sz="1900" dirty="0"/>
          </a:p>
        </p:txBody>
      </p:sp>
      <p:sp>
        <p:nvSpPr>
          <p:cNvPr id="8" name="Text 6"/>
          <p:cNvSpPr/>
          <p:nvPr/>
        </p:nvSpPr>
        <p:spPr>
          <a:xfrm>
            <a:off x="7623929" y="3949898"/>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Usefulness</a:t>
            </a:r>
            <a:endParaRPr lang="en-US" sz="2150" dirty="0"/>
          </a:p>
        </p:txBody>
      </p:sp>
      <p:sp>
        <p:nvSpPr>
          <p:cNvPr id="9" name="Text 7"/>
          <p:cNvSpPr/>
          <p:nvPr/>
        </p:nvSpPr>
        <p:spPr>
          <a:xfrm>
            <a:off x="7623929" y="4539615"/>
            <a:ext cx="6150054"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Aids in identifying high-risk individuals.</a:t>
            </a:r>
            <a:endParaRPr lang="en-US" sz="1900" dirty="0"/>
          </a:p>
        </p:txBody>
      </p:sp>
      <p:sp>
        <p:nvSpPr>
          <p:cNvPr id="10" name="Text 8"/>
          <p:cNvSpPr/>
          <p:nvPr/>
        </p:nvSpPr>
        <p:spPr>
          <a:xfrm>
            <a:off x="7623929" y="5020985"/>
            <a:ext cx="6150054"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Supports research into diabetes risk factors.</a:t>
            </a:r>
            <a:endParaRPr lang="en-US" sz="1900" dirty="0"/>
          </a:p>
        </p:txBody>
      </p:sp>
      <p:sp>
        <p:nvSpPr>
          <p:cNvPr id="11" name="Text 9"/>
          <p:cNvSpPr/>
          <p:nvPr/>
        </p:nvSpPr>
        <p:spPr>
          <a:xfrm>
            <a:off x="7623929" y="5502354"/>
            <a:ext cx="6150054"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Crucial for developing predictive models.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3622661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685562"/>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Data Preprocessing Steps</a:t>
            </a:r>
            <a:endParaRPr lang="en-US" sz="4300" dirty="0"/>
          </a:p>
        </p:txBody>
      </p:sp>
      <p:sp>
        <p:nvSpPr>
          <p:cNvPr id="4" name="Text 1"/>
          <p:cNvSpPr/>
          <p:nvPr/>
        </p:nvSpPr>
        <p:spPr>
          <a:xfrm>
            <a:off x="864037" y="2427446"/>
            <a:ext cx="74159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Effective preprocessing ensures data quality.</a:t>
            </a:r>
            <a:endParaRPr lang="en-US" sz="1900" dirty="0"/>
          </a:p>
        </p:txBody>
      </p:sp>
      <p:pic>
        <p:nvPicPr>
          <p:cNvPr id="5" name="Image 1" descr="preencoded.png"/>
          <p:cNvPicPr>
            <a:picLocks noChangeAspect="1"/>
          </p:cNvPicPr>
          <p:nvPr/>
        </p:nvPicPr>
        <p:blipFill>
          <a:blip r:embed="rId4"/>
          <a:stretch>
            <a:fillRect/>
          </a:stretch>
        </p:blipFill>
        <p:spPr>
          <a:xfrm>
            <a:off x="864037" y="3100149"/>
            <a:ext cx="1234440" cy="1481257"/>
          </a:xfrm>
          <a:prstGeom prst="rect">
            <a:avLst/>
          </a:prstGeom>
        </p:spPr>
      </p:pic>
      <p:sp>
        <p:nvSpPr>
          <p:cNvPr id="6" name="Text 2"/>
          <p:cNvSpPr/>
          <p:nvPr/>
        </p:nvSpPr>
        <p:spPr>
          <a:xfrm>
            <a:off x="2345293" y="3346966"/>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Duplicate Removal</a:t>
            </a:r>
            <a:endParaRPr lang="en-US" sz="2150" dirty="0"/>
          </a:p>
        </p:txBody>
      </p:sp>
      <p:sp>
        <p:nvSpPr>
          <p:cNvPr id="7" name="Text 3"/>
          <p:cNvSpPr/>
          <p:nvPr/>
        </p:nvSpPr>
        <p:spPr>
          <a:xfrm>
            <a:off x="2345293" y="3837980"/>
            <a:ext cx="593467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Ensures unique and clean data records.</a:t>
            </a:r>
            <a:endParaRPr lang="en-US" sz="1900" dirty="0"/>
          </a:p>
        </p:txBody>
      </p:sp>
      <p:pic>
        <p:nvPicPr>
          <p:cNvPr id="8" name="Image 2" descr="preencoded.png"/>
          <p:cNvPicPr>
            <a:picLocks noChangeAspect="1"/>
          </p:cNvPicPr>
          <p:nvPr/>
        </p:nvPicPr>
        <p:blipFill>
          <a:blip r:embed="rId5"/>
          <a:stretch>
            <a:fillRect/>
          </a:stretch>
        </p:blipFill>
        <p:spPr>
          <a:xfrm>
            <a:off x="864037" y="4581406"/>
            <a:ext cx="1234440" cy="1481257"/>
          </a:xfrm>
          <a:prstGeom prst="rect">
            <a:avLst/>
          </a:prstGeom>
        </p:spPr>
      </p:pic>
      <p:sp>
        <p:nvSpPr>
          <p:cNvPr id="9" name="Text 4"/>
          <p:cNvSpPr/>
          <p:nvPr/>
        </p:nvSpPr>
        <p:spPr>
          <a:xfrm>
            <a:off x="2345293" y="4828223"/>
            <a:ext cx="2826425"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Feature Elimination</a:t>
            </a:r>
            <a:endParaRPr lang="en-US" sz="2150" dirty="0"/>
          </a:p>
        </p:txBody>
      </p:sp>
      <p:sp>
        <p:nvSpPr>
          <p:cNvPr id="10" name="Text 5"/>
          <p:cNvSpPr/>
          <p:nvPr/>
        </p:nvSpPr>
        <p:spPr>
          <a:xfrm>
            <a:off x="2345293" y="5319236"/>
            <a:ext cx="593467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Removed 'gender' due to its low relevance.</a:t>
            </a:r>
            <a:endParaRPr lang="en-US" sz="1900" dirty="0"/>
          </a:p>
        </p:txBody>
      </p:sp>
      <p:pic>
        <p:nvPicPr>
          <p:cNvPr id="11" name="Image 3" descr="preencoded.png"/>
          <p:cNvPicPr>
            <a:picLocks noChangeAspect="1"/>
          </p:cNvPicPr>
          <p:nvPr/>
        </p:nvPicPr>
        <p:blipFill>
          <a:blip r:embed="rId6"/>
          <a:stretch>
            <a:fillRect/>
          </a:stretch>
        </p:blipFill>
        <p:spPr>
          <a:xfrm>
            <a:off x="864037" y="6062663"/>
            <a:ext cx="1234440" cy="1481257"/>
          </a:xfrm>
          <a:prstGeom prst="rect">
            <a:avLst/>
          </a:prstGeom>
        </p:spPr>
      </p:pic>
      <p:sp>
        <p:nvSpPr>
          <p:cNvPr id="12" name="Text 6"/>
          <p:cNvSpPr/>
          <p:nvPr/>
        </p:nvSpPr>
        <p:spPr>
          <a:xfrm>
            <a:off x="2345293" y="6309479"/>
            <a:ext cx="2983349"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Data Transformation</a:t>
            </a:r>
            <a:endParaRPr lang="en-US" sz="2150" dirty="0"/>
          </a:p>
        </p:txBody>
      </p:sp>
      <p:sp>
        <p:nvSpPr>
          <p:cNvPr id="13" name="Text 7"/>
          <p:cNvSpPr/>
          <p:nvPr/>
        </p:nvSpPr>
        <p:spPr>
          <a:xfrm>
            <a:off x="2345293" y="6800493"/>
            <a:ext cx="593467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Prepares data for machine learning algorithms.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009293"/>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Train-Test Split and Algorithms</a:t>
            </a:r>
            <a:endParaRPr lang="en-US" sz="4300" dirty="0"/>
          </a:p>
        </p:txBody>
      </p:sp>
      <p:sp>
        <p:nvSpPr>
          <p:cNvPr id="4" name="Text 1"/>
          <p:cNvSpPr/>
          <p:nvPr/>
        </p:nvSpPr>
        <p:spPr>
          <a:xfrm>
            <a:off x="6350437" y="2751177"/>
            <a:ext cx="74159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We used an 80/20 split for robust evaluation.</a:t>
            </a:r>
            <a:endParaRPr lang="en-US" sz="1900" dirty="0"/>
          </a:p>
        </p:txBody>
      </p:sp>
      <p:sp>
        <p:nvSpPr>
          <p:cNvPr id="5" name="Shape 2"/>
          <p:cNvSpPr/>
          <p:nvPr/>
        </p:nvSpPr>
        <p:spPr>
          <a:xfrm>
            <a:off x="6350437" y="3423880"/>
            <a:ext cx="3584496" cy="2169795"/>
          </a:xfrm>
          <a:prstGeom prst="roundRect">
            <a:avLst>
              <a:gd name="adj" fmla="val 17068"/>
            </a:avLst>
          </a:prstGeom>
          <a:solidFill>
            <a:srgbClr val="46464A"/>
          </a:solidFill>
          <a:ln/>
        </p:spPr>
      </p:sp>
      <p:sp>
        <p:nvSpPr>
          <p:cNvPr id="6" name="Text 3"/>
          <p:cNvSpPr/>
          <p:nvPr/>
        </p:nvSpPr>
        <p:spPr>
          <a:xfrm>
            <a:off x="6597253" y="3670697"/>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Data Split</a:t>
            </a:r>
            <a:endParaRPr lang="en-US" sz="2150" dirty="0"/>
          </a:p>
        </p:txBody>
      </p:sp>
      <p:sp>
        <p:nvSpPr>
          <p:cNvPr id="7" name="Text 4"/>
          <p:cNvSpPr/>
          <p:nvPr/>
        </p:nvSpPr>
        <p:spPr>
          <a:xfrm>
            <a:off x="6597253" y="4161711"/>
            <a:ext cx="3090862"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80% for training, 20% for testing.</a:t>
            </a:r>
            <a:endParaRPr lang="en-US" sz="1900" dirty="0"/>
          </a:p>
        </p:txBody>
      </p:sp>
      <p:sp>
        <p:nvSpPr>
          <p:cNvPr id="8" name="Shape 5"/>
          <p:cNvSpPr/>
          <p:nvPr/>
        </p:nvSpPr>
        <p:spPr>
          <a:xfrm>
            <a:off x="10181749" y="3423880"/>
            <a:ext cx="3584615" cy="2169795"/>
          </a:xfrm>
          <a:prstGeom prst="roundRect">
            <a:avLst>
              <a:gd name="adj" fmla="val 17068"/>
            </a:avLst>
          </a:prstGeom>
          <a:solidFill>
            <a:srgbClr val="46464A"/>
          </a:solidFill>
          <a:ln/>
        </p:spPr>
      </p:sp>
      <p:sp>
        <p:nvSpPr>
          <p:cNvPr id="9" name="Text 6"/>
          <p:cNvSpPr/>
          <p:nvPr/>
        </p:nvSpPr>
        <p:spPr>
          <a:xfrm>
            <a:off x="10428565" y="3670697"/>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Algorithms</a:t>
            </a:r>
            <a:endParaRPr lang="en-US" sz="2150" dirty="0"/>
          </a:p>
        </p:txBody>
      </p:sp>
      <p:sp>
        <p:nvSpPr>
          <p:cNvPr id="10" name="Text 7"/>
          <p:cNvSpPr/>
          <p:nvPr/>
        </p:nvSpPr>
        <p:spPr>
          <a:xfrm>
            <a:off x="10428565" y="4161711"/>
            <a:ext cx="3090982"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Decision Tree, Linear Regression, Random Forest, Naive Bayes.</a:t>
            </a:r>
            <a:endParaRPr lang="en-US" sz="1900" dirty="0"/>
          </a:p>
        </p:txBody>
      </p:sp>
      <p:sp>
        <p:nvSpPr>
          <p:cNvPr id="11" name="Shape 8"/>
          <p:cNvSpPr/>
          <p:nvPr/>
        </p:nvSpPr>
        <p:spPr>
          <a:xfrm>
            <a:off x="6350437" y="5840492"/>
            <a:ext cx="7415927" cy="1379696"/>
          </a:xfrm>
          <a:prstGeom prst="roundRect">
            <a:avLst>
              <a:gd name="adj" fmla="val 26842"/>
            </a:avLst>
          </a:prstGeom>
          <a:solidFill>
            <a:srgbClr val="46464A"/>
          </a:solidFill>
          <a:ln/>
        </p:spPr>
      </p:sp>
      <p:sp>
        <p:nvSpPr>
          <p:cNvPr id="12" name="Text 9"/>
          <p:cNvSpPr/>
          <p:nvPr/>
        </p:nvSpPr>
        <p:spPr>
          <a:xfrm>
            <a:off x="6597253" y="6087308"/>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Metrics</a:t>
            </a:r>
            <a:endParaRPr lang="en-US" sz="2150" dirty="0"/>
          </a:p>
        </p:txBody>
      </p:sp>
      <p:sp>
        <p:nvSpPr>
          <p:cNvPr id="13" name="Text 10"/>
          <p:cNvSpPr/>
          <p:nvPr/>
        </p:nvSpPr>
        <p:spPr>
          <a:xfrm>
            <a:off x="6597253" y="6578322"/>
            <a:ext cx="6922294"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Accuracy, Precision, Recall, and F1-score assessed.</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1760339"/>
            <a:ext cx="10657403"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Decision Tree Algorithm Performance</a:t>
            </a:r>
            <a:endParaRPr lang="en-US" sz="4300" dirty="0"/>
          </a:p>
        </p:txBody>
      </p:sp>
      <p:sp>
        <p:nvSpPr>
          <p:cNvPr id="3" name="Text 1"/>
          <p:cNvSpPr/>
          <p:nvPr/>
        </p:nvSpPr>
        <p:spPr>
          <a:xfrm>
            <a:off x="864037" y="2939891"/>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Decision Tree model achieved high accuracy.</a:t>
            </a:r>
            <a:endParaRPr lang="en-US" sz="1900" dirty="0"/>
          </a:p>
        </p:txBody>
      </p:sp>
      <p:sp>
        <p:nvSpPr>
          <p:cNvPr id="4" name="Shape 2"/>
          <p:cNvSpPr/>
          <p:nvPr/>
        </p:nvSpPr>
        <p:spPr>
          <a:xfrm>
            <a:off x="864037" y="3612594"/>
            <a:ext cx="12902327" cy="2856547"/>
          </a:xfrm>
          <a:prstGeom prst="roundRect">
            <a:avLst>
              <a:gd name="adj" fmla="val 12964"/>
            </a:avLst>
          </a:prstGeom>
          <a:noFill/>
          <a:ln w="15240">
            <a:solidFill>
              <a:srgbClr val="FFFFFF">
                <a:alpha val="24000"/>
              </a:srgbClr>
            </a:solidFill>
            <a:prstDash val="solid"/>
          </a:ln>
        </p:spPr>
      </p:sp>
      <p:sp>
        <p:nvSpPr>
          <p:cNvPr id="5" name="Shape 3"/>
          <p:cNvSpPr/>
          <p:nvPr/>
        </p:nvSpPr>
        <p:spPr>
          <a:xfrm>
            <a:off x="879277" y="3627834"/>
            <a:ext cx="12871847" cy="706517"/>
          </a:xfrm>
          <a:prstGeom prst="rect">
            <a:avLst/>
          </a:prstGeom>
          <a:solidFill>
            <a:srgbClr val="FFFFFF">
              <a:alpha val="4000"/>
            </a:srgbClr>
          </a:solidFill>
          <a:ln/>
        </p:spPr>
      </p:sp>
      <p:sp>
        <p:nvSpPr>
          <p:cNvPr id="6" name="Text 4"/>
          <p:cNvSpPr/>
          <p:nvPr/>
        </p:nvSpPr>
        <p:spPr>
          <a:xfrm>
            <a:off x="1126093" y="3783568"/>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Accuracy</a:t>
            </a:r>
            <a:endParaRPr lang="en-US" sz="1900" dirty="0"/>
          </a:p>
        </p:txBody>
      </p:sp>
      <p:sp>
        <p:nvSpPr>
          <p:cNvPr id="7" name="Text 5"/>
          <p:cNvSpPr/>
          <p:nvPr/>
        </p:nvSpPr>
        <p:spPr>
          <a:xfrm>
            <a:off x="7565827" y="3783568"/>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0.97</a:t>
            </a:r>
            <a:endParaRPr lang="en-US" sz="1900" dirty="0"/>
          </a:p>
        </p:txBody>
      </p:sp>
      <p:sp>
        <p:nvSpPr>
          <p:cNvPr id="8" name="Shape 6"/>
          <p:cNvSpPr/>
          <p:nvPr/>
        </p:nvSpPr>
        <p:spPr>
          <a:xfrm>
            <a:off x="879277" y="4334351"/>
            <a:ext cx="12871847" cy="706517"/>
          </a:xfrm>
          <a:prstGeom prst="rect">
            <a:avLst/>
          </a:prstGeom>
          <a:solidFill>
            <a:srgbClr val="000000">
              <a:alpha val="4000"/>
            </a:srgbClr>
          </a:solidFill>
          <a:ln/>
        </p:spPr>
      </p:sp>
      <p:sp>
        <p:nvSpPr>
          <p:cNvPr id="9" name="Text 7"/>
          <p:cNvSpPr/>
          <p:nvPr/>
        </p:nvSpPr>
        <p:spPr>
          <a:xfrm>
            <a:off x="1126093" y="449008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Precision</a:t>
            </a:r>
            <a:endParaRPr lang="en-US" sz="1900" dirty="0"/>
          </a:p>
        </p:txBody>
      </p:sp>
      <p:sp>
        <p:nvSpPr>
          <p:cNvPr id="10" name="Text 8"/>
          <p:cNvSpPr/>
          <p:nvPr/>
        </p:nvSpPr>
        <p:spPr>
          <a:xfrm>
            <a:off x="7565827" y="449008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1.00</a:t>
            </a:r>
            <a:endParaRPr lang="en-US" sz="1900" dirty="0"/>
          </a:p>
        </p:txBody>
      </p:sp>
      <p:sp>
        <p:nvSpPr>
          <p:cNvPr id="11" name="Shape 9"/>
          <p:cNvSpPr/>
          <p:nvPr/>
        </p:nvSpPr>
        <p:spPr>
          <a:xfrm>
            <a:off x="879277" y="5040868"/>
            <a:ext cx="12871847" cy="706517"/>
          </a:xfrm>
          <a:prstGeom prst="rect">
            <a:avLst/>
          </a:prstGeom>
          <a:solidFill>
            <a:srgbClr val="FFFFFF">
              <a:alpha val="4000"/>
            </a:srgbClr>
          </a:solidFill>
          <a:ln/>
        </p:spPr>
      </p:sp>
      <p:sp>
        <p:nvSpPr>
          <p:cNvPr id="12" name="Text 10"/>
          <p:cNvSpPr/>
          <p:nvPr/>
        </p:nvSpPr>
        <p:spPr>
          <a:xfrm>
            <a:off x="1126093" y="519660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Recall</a:t>
            </a:r>
            <a:endParaRPr lang="en-US" sz="1900" dirty="0"/>
          </a:p>
        </p:txBody>
      </p:sp>
      <p:sp>
        <p:nvSpPr>
          <p:cNvPr id="13" name="Text 11"/>
          <p:cNvSpPr/>
          <p:nvPr/>
        </p:nvSpPr>
        <p:spPr>
          <a:xfrm>
            <a:off x="7565827" y="519660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0.68</a:t>
            </a:r>
            <a:endParaRPr lang="en-US" sz="1900" dirty="0"/>
          </a:p>
        </p:txBody>
      </p:sp>
      <p:sp>
        <p:nvSpPr>
          <p:cNvPr id="14" name="Shape 12"/>
          <p:cNvSpPr/>
          <p:nvPr/>
        </p:nvSpPr>
        <p:spPr>
          <a:xfrm>
            <a:off x="879277" y="5747385"/>
            <a:ext cx="12871847" cy="706517"/>
          </a:xfrm>
          <a:prstGeom prst="rect">
            <a:avLst/>
          </a:prstGeom>
          <a:solidFill>
            <a:srgbClr val="000000">
              <a:alpha val="4000"/>
            </a:srgbClr>
          </a:solidFill>
          <a:ln/>
        </p:spPr>
      </p:sp>
      <p:sp>
        <p:nvSpPr>
          <p:cNvPr id="15" name="Text 13"/>
          <p:cNvSpPr/>
          <p:nvPr/>
        </p:nvSpPr>
        <p:spPr>
          <a:xfrm>
            <a:off x="1126093" y="590311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F1-score</a:t>
            </a:r>
            <a:endParaRPr lang="en-US" sz="1900" dirty="0"/>
          </a:p>
        </p:txBody>
      </p:sp>
      <p:sp>
        <p:nvSpPr>
          <p:cNvPr id="16" name="Text 14"/>
          <p:cNvSpPr/>
          <p:nvPr/>
        </p:nvSpPr>
        <p:spPr>
          <a:xfrm>
            <a:off x="7565827" y="590311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0.81</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1760339"/>
            <a:ext cx="10305693"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Naive Bayes Algorithm Performance</a:t>
            </a:r>
            <a:endParaRPr lang="en-US" sz="4300" dirty="0"/>
          </a:p>
        </p:txBody>
      </p:sp>
      <p:sp>
        <p:nvSpPr>
          <p:cNvPr id="3" name="Text 1"/>
          <p:cNvSpPr/>
          <p:nvPr/>
        </p:nvSpPr>
        <p:spPr>
          <a:xfrm>
            <a:off x="864037" y="2939891"/>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Naive Bayes demonstrated balanced results.</a:t>
            </a:r>
            <a:endParaRPr lang="en-US" sz="1900" dirty="0"/>
          </a:p>
        </p:txBody>
      </p:sp>
      <p:sp>
        <p:nvSpPr>
          <p:cNvPr id="4" name="Shape 2"/>
          <p:cNvSpPr/>
          <p:nvPr/>
        </p:nvSpPr>
        <p:spPr>
          <a:xfrm>
            <a:off x="864037" y="3612594"/>
            <a:ext cx="12902327" cy="2856547"/>
          </a:xfrm>
          <a:prstGeom prst="roundRect">
            <a:avLst>
              <a:gd name="adj" fmla="val 12964"/>
            </a:avLst>
          </a:prstGeom>
          <a:noFill/>
          <a:ln w="15240">
            <a:solidFill>
              <a:srgbClr val="FFFFFF">
                <a:alpha val="24000"/>
              </a:srgbClr>
            </a:solidFill>
            <a:prstDash val="solid"/>
          </a:ln>
        </p:spPr>
      </p:sp>
      <p:sp>
        <p:nvSpPr>
          <p:cNvPr id="5" name="Shape 3"/>
          <p:cNvSpPr/>
          <p:nvPr/>
        </p:nvSpPr>
        <p:spPr>
          <a:xfrm>
            <a:off x="879277" y="3627834"/>
            <a:ext cx="12871847" cy="706517"/>
          </a:xfrm>
          <a:prstGeom prst="rect">
            <a:avLst/>
          </a:prstGeom>
          <a:solidFill>
            <a:srgbClr val="FFFFFF">
              <a:alpha val="4000"/>
            </a:srgbClr>
          </a:solidFill>
          <a:ln/>
        </p:spPr>
      </p:sp>
      <p:sp>
        <p:nvSpPr>
          <p:cNvPr id="6" name="Text 4"/>
          <p:cNvSpPr/>
          <p:nvPr/>
        </p:nvSpPr>
        <p:spPr>
          <a:xfrm>
            <a:off x="1126093" y="3783568"/>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Accuracy</a:t>
            </a:r>
            <a:endParaRPr lang="en-US" sz="1900" dirty="0"/>
          </a:p>
        </p:txBody>
      </p:sp>
      <p:sp>
        <p:nvSpPr>
          <p:cNvPr id="7" name="Text 5"/>
          <p:cNvSpPr/>
          <p:nvPr/>
        </p:nvSpPr>
        <p:spPr>
          <a:xfrm>
            <a:off x="7565827" y="3783568"/>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0.90</a:t>
            </a:r>
            <a:endParaRPr lang="en-US" sz="1900" dirty="0"/>
          </a:p>
        </p:txBody>
      </p:sp>
      <p:sp>
        <p:nvSpPr>
          <p:cNvPr id="8" name="Shape 6"/>
          <p:cNvSpPr/>
          <p:nvPr/>
        </p:nvSpPr>
        <p:spPr>
          <a:xfrm>
            <a:off x="879277" y="4334351"/>
            <a:ext cx="12871847" cy="706517"/>
          </a:xfrm>
          <a:prstGeom prst="rect">
            <a:avLst/>
          </a:prstGeom>
          <a:solidFill>
            <a:srgbClr val="000000">
              <a:alpha val="4000"/>
            </a:srgbClr>
          </a:solidFill>
          <a:ln/>
        </p:spPr>
      </p:sp>
      <p:sp>
        <p:nvSpPr>
          <p:cNvPr id="9" name="Text 7"/>
          <p:cNvSpPr/>
          <p:nvPr/>
        </p:nvSpPr>
        <p:spPr>
          <a:xfrm>
            <a:off x="1126093" y="449008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Precision</a:t>
            </a:r>
            <a:endParaRPr lang="en-US" sz="1900" dirty="0"/>
          </a:p>
        </p:txBody>
      </p:sp>
      <p:sp>
        <p:nvSpPr>
          <p:cNvPr id="10" name="Text 8"/>
          <p:cNvSpPr/>
          <p:nvPr/>
        </p:nvSpPr>
        <p:spPr>
          <a:xfrm>
            <a:off x="7565827" y="449008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0.466</a:t>
            </a:r>
            <a:endParaRPr lang="en-US" sz="1900" dirty="0"/>
          </a:p>
        </p:txBody>
      </p:sp>
      <p:sp>
        <p:nvSpPr>
          <p:cNvPr id="11" name="Shape 9"/>
          <p:cNvSpPr/>
          <p:nvPr/>
        </p:nvSpPr>
        <p:spPr>
          <a:xfrm>
            <a:off x="879277" y="5040868"/>
            <a:ext cx="12871847" cy="706517"/>
          </a:xfrm>
          <a:prstGeom prst="rect">
            <a:avLst/>
          </a:prstGeom>
          <a:solidFill>
            <a:srgbClr val="FFFFFF">
              <a:alpha val="4000"/>
            </a:srgbClr>
          </a:solidFill>
          <a:ln/>
        </p:spPr>
      </p:sp>
      <p:sp>
        <p:nvSpPr>
          <p:cNvPr id="12" name="Text 10"/>
          <p:cNvSpPr/>
          <p:nvPr/>
        </p:nvSpPr>
        <p:spPr>
          <a:xfrm>
            <a:off x="1126093" y="519660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Recall</a:t>
            </a:r>
            <a:endParaRPr lang="en-US" sz="1900" dirty="0"/>
          </a:p>
        </p:txBody>
      </p:sp>
      <p:sp>
        <p:nvSpPr>
          <p:cNvPr id="13" name="Text 11"/>
          <p:cNvSpPr/>
          <p:nvPr/>
        </p:nvSpPr>
        <p:spPr>
          <a:xfrm>
            <a:off x="7565827" y="519660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0.558</a:t>
            </a:r>
            <a:endParaRPr lang="en-US" sz="1900" dirty="0"/>
          </a:p>
        </p:txBody>
      </p:sp>
      <p:sp>
        <p:nvSpPr>
          <p:cNvPr id="14" name="Shape 12"/>
          <p:cNvSpPr/>
          <p:nvPr/>
        </p:nvSpPr>
        <p:spPr>
          <a:xfrm>
            <a:off x="879277" y="5747385"/>
            <a:ext cx="12871847" cy="706517"/>
          </a:xfrm>
          <a:prstGeom prst="rect">
            <a:avLst/>
          </a:prstGeom>
          <a:solidFill>
            <a:srgbClr val="000000">
              <a:alpha val="4000"/>
            </a:srgbClr>
          </a:solidFill>
          <a:ln/>
        </p:spPr>
      </p:sp>
      <p:sp>
        <p:nvSpPr>
          <p:cNvPr id="15" name="Text 13"/>
          <p:cNvSpPr/>
          <p:nvPr/>
        </p:nvSpPr>
        <p:spPr>
          <a:xfrm>
            <a:off x="1126093" y="590311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F1-score</a:t>
            </a:r>
            <a:endParaRPr lang="en-US" sz="1900" dirty="0"/>
          </a:p>
        </p:txBody>
      </p:sp>
      <p:sp>
        <p:nvSpPr>
          <p:cNvPr id="16" name="Text 14"/>
          <p:cNvSpPr/>
          <p:nvPr/>
        </p:nvSpPr>
        <p:spPr>
          <a:xfrm>
            <a:off x="7565827" y="590311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0.507</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4037" y="1760339"/>
            <a:ext cx="11171992"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Random Forest Algorithm Performance</a:t>
            </a:r>
            <a:endParaRPr lang="en-US" sz="4300" dirty="0"/>
          </a:p>
        </p:txBody>
      </p:sp>
      <p:sp>
        <p:nvSpPr>
          <p:cNvPr id="3" name="Text 1"/>
          <p:cNvSpPr/>
          <p:nvPr/>
        </p:nvSpPr>
        <p:spPr>
          <a:xfrm>
            <a:off x="864037" y="2939891"/>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Random Forest exhibited strong predictive capabilities.</a:t>
            </a:r>
            <a:endParaRPr lang="en-US" sz="1900" dirty="0"/>
          </a:p>
        </p:txBody>
      </p:sp>
      <p:sp>
        <p:nvSpPr>
          <p:cNvPr id="4" name="Shape 2"/>
          <p:cNvSpPr/>
          <p:nvPr/>
        </p:nvSpPr>
        <p:spPr>
          <a:xfrm>
            <a:off x="864037" y="3612594"/>
            <a:ext cx="12902327" cy="2856547"/>
          </a:xfrm>
          <a:prstGeom prst="roundRect">
            <a:avLst>
              <a:gd name="adj" fmla="val 12964"/>
            </a:avLst>
          </a:prstGeom>
          <a:noFill/>
          <a:ln w="15240">
            <a:solidFill>
              <a:srgbClr val="FFFFFF">
                <a:alpha val="24000"/>
              </a:srgbClr>
            </a:solidFill>
            <a:prstDash val="solid"/>
          </a:ln>
        </p:spPr>
      </p:sp>
      <p:sp>
        <p:nvSpPr>
          <p:cNvPr id="5" name="Shape 3"/>
          <p:cNvSpPr/>
          <p:nvPr/>
        </p:nvSpPr>
        <p:spPr>
          <a:xfrm>
            <a:off x="879277" y="3627834"/>
            <a:ext cx="12871847" cy="706517"/>
          </a:xfrm>
          <a:prstGeom prst="rect">
            <a:avLst/>
          </a:prstGeom>
          <a:solidFill>
            <a:srgbClr val="FFFFFF">
              <a:alpha val="4000"/>
            </a:srgbClr>
          </a:solidFill>
          <a:ln/>
        </p:spPr>
      </p:sp>
      <p:sp>
        <p:nvSpPr>
          <p:cNvPr id="6" name="Text 4"/>
          <p:cNvSpPr/>
          <p:nvPr/>
        </p:nvSpPr>
        <p:spPr>
          <a:xfrm>
            <a:off x="1126093" y="3783568"/>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Accuracy</a:t>
            </a:r>
            <a:endParaRPr lang="en-US" sz="1900" dirty="0"/>
          </a:p>
        </p:txBody>
      </p:sp>
      <p:sp>
        <p:nvSpPr>
          <p:cNvPr id="7" name="Text 5"/>
          <p:cNvSpPr/>
          <p:nvPr/>
        </p:nvSpPr>
        <p:spPr>
          <a:xfrm>
            <a:off x="7565827" y="3783568"/>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0.969</a:t>
            </a:r>
            <a:endParaRPr lang="en-US" sz="1900" dirty="0"/>
          </a:p>
        </p:txBody>
      </p:sp>
      <p:sp>
        <p:nvSpPr>
          <p:cNvPr id="8" name="Shape 6"/>
          <p:cNvSpPr/>
          <p:nvPr/>
        </p:nvSpPr>
        <p:spPr>
          <a:xfrm>
            <a:off x="879277" y="4334351"/>
            <a:ext cx="12871847" cy="706517"/>
          </a:xfrm>
          <a:prstGeom prst="rect">
            <a:avLst/>
          </a:prstGeom>
          <a:solidFill>
            <a:srgbClr val="000000">
              <a:alpha val="4000"/>
            </a:srgbClr>
          </a:solidFill>
          <a:ln/>
        </p:spPr>
      </p:sp>
      <p:sp>
        <p:nvSpPr>
          <p:cNvPr id="9" name="Text 7"/>
          <p:cNvSpPr/>
          <p:nvPr/>
        </p:nvSpPr>
        <p:spPr>
          <a:xfrm>
            <a:off x="1126093" y="449008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Precision</a:t>
            </a:r>
            <a:endParaRPr lang="en-US" sz="1900" dirty="0"/>
          </a:p>
        </p:txBody>
      </p:sp>
      <p:sp>
        <p:nvSpPr>
          <p:cNvPr id="10" name="Text 8"/>
          <p:cNvSpPr/>
          <p:nvPr/>
        </p:nvSpPr>
        <p:spPr>
          <a:xfrm>
            <a:off x="7565827" y="449008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1.00</a:t>
            </a:r>
            <a:endParaRPr lang="en-US" sz="1900" dirty="0"/>
          </a:p>
        </p:txBody>
      </p:sp>
      <p:sp>
        <p:nvSpPr>
          <p:cNvPr id="11" name="Shape 9"/>
          <p:cNvSpPr/>
          <p:nvPr/>
        </p:nvSpPr>
        <p:spPr>
          <a:xfrm>
            <a:off x="879277" y="5040868"/>
            <a:ext cx="12871847" cy="706517"/>
          </a:xfrm>
          <a:prstGeom prst="rect">
            <a:avLst/>
          </a:prstGeom>
          <a:solidFill>
            <a:srgbClr val="FFFFFF">
              <a:alpha val="4000"/>
            </a:srgbClr>
          </a:solidFill>
          <a:ln/>
        </p:spPr>
      </p:sp>
      <p:sp>
        <p:nvSpPr>
          <p:cNvPr id="12" name="Text 10"/>
          <p:cNvSpPr/>
          <p:nvPr/>
        </p:nvSpPr>
        <p:spPr>
          <a:xfrm>
            <a:off x="1126093" y="519660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Recall</a:t>
            </a:r>
            <a:endParaRPr lang="en-US" sz="1900" dirty="0"/>
          </a:p>
        </p:txBody>
      </p:sp>
      <p:sp>
        <p:nvSpPr>
          <p:cNvPr id="13" name="Text 11"/>
          <p:cNvSpPr/>
          <p:nvPr/>
        </p:nvSpPr>
        <p:spPr>
          <a:xfrm>
            <a:off x="7565827" y="519660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0.677</a:t>
            </a:r>
            <a:endParaRPr lang="en-US" sz="1900" dirty="0"/>
          </a:p>
        </p:txBody>
      </p:sp>
      <p:sp>
        <p:nvSpPr>
          <p:cNvPr id="14" name="Shape 12"/>
          <p:cNvSpPr/>
          <p:nvPr/>
        </p:nvSpPr>
        <p:spPr>
          <a:xfrm>
            <a:off x="879277" y="5747385"/>
            <a:ext cx="12871847" cy="706517"/>
          </a:xfrm>
          <a:prstGeom prst="rect">
            <a:avLst/>
          </a:prstGeom>
          <a:solidFill>
            <a:srgbClr val="000000">
              <a:alpha val="4000"/>
            </a:srgbClr>
          </a:solidFill>
          <a:ln/>
        </p:spPr>
      </p:sp>
      <p:sp>
        <p:nvSpPr>
          <p:cNvPr id="15" name="Text 13"/>
          <p:cNvSpPr/>
          <p:nvPr/>
        </p:nvSpPr>
        <p:spPr>
          <a:xfrm>
            <a:off x="1126093" y="590311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F1-score</a:t>
            </a:r>
            <a:endParaRPr lang="en-US" sz="1900" dirty="0"/>
          </a:p>
        </p:txBody>
      </p:sp>
      <p:sp>
        <p:nvSpPr>
          <p:cNvPr id="16" name="Text 14"/>
          <p:cNvSpPr/>
          <p:nvPr/>
        </p:nvSpPr>
        <p:spPr>
          <a:xfrm>
            <a:off x="7565827" y="590311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0.808</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4037" y="2449949"/>
            <a:ext cx="11990546"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Linear Regression Algorithm Performance</a:t>
            </a:r>
            <a:endParaRPr lang="en-US" sz="4300" dirty="0"/>
          </a:p>
        </p:txBody>
      </p:sp>
      <p:sp>
        <p:nvSpPr>
          <p:cNvPr id="3" name="Shape 1"/>
          <p:cNvSpPr/>
          <p:nvPr/>
        </p:nvSpPr>
        <p:spPr>
          <a:xfrm>
            <a:off x="864037" y="3629501"/>
            <a:ext cx="12902327" cy="2150031"/>
          </a:xfrm>
          <a:prstGeom prst="roundRect">
            <a:avLst>
              <a:gd name="adj" fmla="val 17224"/>
            </a:avLst>
          </a:prstGeom>
          <a:noFill/>
          <a:ln w="15240">
            <a:solidFill>
              <a:srgbClr val="FFFFFF">
                <a:alpha val="24000"/>
              </a:srgbClr>
            </a:solidFill>
            <a:prstDash val="solid"/>
          </a:ln>
        </p:spPr>
      </p:sp>
      <p:sp>
        <p:nvSpPr>
          <p:cNvPr id="4" name="Shape 2"/>
          <p:cNvSpPr/>
          <p:nvPr/>
        </p:nvSpPr>
        <p:spPr>
          <a:xfrm>
            <a:off x="879277" y="3644741"/>
            <a:ext cx="12871847" cy="706517"/>
          </a:xfrm>
          <a:prstGeom prst="rect">
            <a:avLst/>
          </a:prstGeom>
          <a:solidFill>
            <a:srgbClr val="FFFFFF">
              <a:alpha val="4000"/>
            </a:srgbClr>
          </a:solidFill>
          <a:ln/>
        </p:spPr>
      </p:sp>
      <p:sp>
        <p:nvSpPr>
          <p:cNvPr id="5" name="Text 3"/>
          <p:cNvSpPr/>
          <p:nvPr/>
        </p:nvSpPr>
        <p:spPr>
          <a:xfrm>
            <a:off x="1126093" y="380047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Precision</a:t>
            </a:r>
            <a:endParaRPr lang="en-US" sz="1900" dirty="0"/>
          </a:p>
        </p:txBody>
      </p:sp>
      <p:sp>
        <p:nvSpPr>
          <p:cNvPr id="6" name="Text 4"/>
          <p:cNvSpPr/>
          <p:nvPr/>
        </p:nvSpPr>
        <p:spPr>
          <a:xfrm>
            <a:off x="7565827" y="3800475"/>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1.00</a:t>
            </a:r>
            <a:endParaRPr lang="en-US" sz="1900" dirty="0"/>
          </a:p>
        </p:txBody>
      </p:sp>
      <p:sp>
        <p:nvSpPr>
          <p:cNvPr id="7" name="Shape 5"/>
          <p:cNvSpPr/>
          <p:nvPr/>
        </p:nvSpPr>
        <p:spPr>
          <a:xfrm>
            <a:off x="879277" y="4351258"/>
            <a:ext cx="12871847" cy="706517"/>
          </a:xfrm>
          <a:prstGeom prst="rect">
            <a:avLst/>
          </a:prstGeom>
          <a:solidFill>
            <a:srgbClr val="000000">
              <a:alpha val="4000"/>
            </a:srgbClr>
          </a:solidFill>
          <a:ln/>
        </p:spPr>
      </p:sp>
      <p:sp>
        <p:nvSpPr>
          <p:cNvPr id="8" name="Text 6"/>
          <p:cNvSpPr/>
          <p:nvPr/>
        </p:nvSpPr>
        <p:spPr>
          <a:xfrm>
            <a:off x="1126093" y="450699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Recall</a:t>
            </a:r>
            <a:endParaRPr lang="en-US" sz="1900" dirty="0"/>
          </a:p>
        </p:txBody>
      </p:sp>
      <p:sp>
        <p:nvSpPr>
          <p:cNvPr id="9" name="Text 7"/>
          <p:cNvSpPr/>
          <p:nvPr/>
        </p:nvSpPr>
        <p:spPr>
          <a:xfrm>
            <a:off x="7565827" y="4506992"/>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0.302</a:t>
            </a:r>
            <a:endParaRPr lang="en-US" sz="1900" dirty="0"/>
          </a:p>
        </p:txBody>
      </p:sp>
      <p:sp>
        <p:nvSpPr>
          <p:cNvPr id="10" name="Shape 8"/>
          <p:cNvSpPr/>
          <p:nvPr/>
        </p:nvSpPr>
        <p:spPr>
          <a:xfrm>
            <a:off x="879277" y="5057775"/>
            <a:ext cx="12871847" cy="706517"/>
          </a:xfrm>
          <a:prstGeom prst="rect">
            <a:avLst/>
          </a:prstGeom>
          <a:solidFill>
            <a:srgbClr val="FFFFFF">
              <a:alpha val="4000"/>
            </a:srgbClr>
          </a:solidFill>
          <a:ln/>
        </p:spPr>
      </p:sp>
      <p:sp>
        <p:nvSpPr>
          <p:cNvPr id="11" name="Text 9"/>
          <p:cNvSpPr/>
          <p:nvPr/>
        </p:nvSpPr>
        <p:spPr>
          <a:xfrm>
            <a:off x="1126093" y="521350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F1-score</a:t>
            </a:r>
            <a:endParaRPr lang="en-US" sz="1900" dirty="0"/>
          </a:p>
        </p:txBody>
      </p:sp>
      <p:sp>
        <p:nvSpPr>
          <p:cNvPr id="12" name="Text 10"/>
          <p:cNvSpPr/>
          <p:nvPr/>
        </p:nvSpPr>
        <p:spPr>
          <a:xfrm>
            <a:off x="7565827" y="5213509"/>
            <a:ext cx="5938480"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0.464</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4037" y="2226231"/>
            <a:ext cx="6877288"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Model Results Summary</a:t>
            </a:r>
            <a:endParaRPr lang="en-US" sz="4300" dirty="0"/>
          </a:p>
        </p:txBody>
      </p:sp>
      <p:sp>
        <p:nvSpPr>
          <p:cNvPr id="3" name="Shape 1"/>
          <p:cNvSpPr/>
          <p:nvPr/>
        </p:nvSpPr>
        <p:spPr>
          <a:xfrm>
            <a:off x="864037" y="3405783"/>
            <a:ext cx="555427" cy="555427"/>
          </a:xfrm>
          <a:prstGeom prst="roundRect">
            <a:avLst>
              <a:gd name="adj" fmla="val 66675"/>
            </a:avLst>
          </a:prstGeom>
          <a:solidFill>
            <a:srgbClr val="46464A"/>
          </a:solidFill>
          <a:ln/>
        </p:spPr>
      </p:sp>
      <p:sp>
        <p:nvSpPr>
          <p:cNvPr id="4" name="Text 2"/>
          <p:cNvSpPr/>
          <p:nvPr/>
        </p:nvSpPr>
        <p:spPr>
          <a:xfrm>
            <a:off x="1666280" y="3451979"/>
            <a:ext cx="3292793" cy="822960"/>
          </a:xfrm>
          <a:prstGeom prst="rect">
            <a:avLst/>
          </a:prstGeom>
          <a:noFill/>
          <a:ln/>
        </p:spPr>
        <p:txBody>
          <a:bodyPr wrap="square" lIns="0" tIns="0" rIns="0" bIns="0" rtlCol="0" anchor="t"/>
          <a:lstStyle/>
          <a:p>
            <a:pPr marL="0" indent="0" algn="l">
              <a:lnSpc>
                <a:spcPts val="3200"/>
              </a:lnSpc>
              <a:buNone/>
            </a:pPr>
            <a:r>
              <a:rPr lang="en-US" sz="2550" b="1" dirty="0">
                <a:solidFill>
                  <a:srgbClr val="D7D4CC"/>
                </a:solidFill>
                <a:latin typeface="Comfortaa Bold" pitchFamily="34" charset="0"/>
                <a:ea typeface="Comfortaa Bold" pitchFamily="34" charset="-122"/>
                <a:cs typeface="Comfortaa Bold" pitchFamily="34" charset="-120"/>
              </a:rPr>
              <a:t>Best Model: Random Forest</a:t>
            </a:r>
            <a:endParaRPr lang="en-US" sz="2550" dirty="0"/>
          </a:p>
        </p:txBody>
      </p:sp>
      <p:sp>
        <p:nvSpPr>
          <p:cNvPr id="5" name="Text 3"/>
          <p:cNvSpPr/>
          <p:nvPr/>
        </p:nvSpPr>
        <p:spPr>
          <a:xfrm>
            <a:off x="1666280" y="4423053"/>
            <a:ext cx="3292793" cy="158019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Achieved 97% accuracy and an F1-score of 0.80, demonstrating strong predictive capabilities.</a:t>
            </a:r>
            <a:endParaRPr lang="en-US" sz="1900" dirty="0"/>
          </a:p>
        </p:txBody>
      </p:sp>
      <p:sp>
        <p:nvSpPr>
          <p:cNvPr id="6" name="Shape 4"/>
          <p:cNvSpPr/>
          <p:nvPr/>
        </p:nvSpPr>
        <p:spPr>
          <a:xfrm>
            <a:off x="5267682" y="3405783"/>
            <a:ext cx="555427" cy="555427"/>
          </a:xfrm>
          <a:prstGeom prst="roundRect">
            <a:avLst>
              <a:gd name="adj" fmla="val 66675"/>
            </a:avLst>
          </a:prstGeom>
          <a:solidFill>
            <a:srgbClr val="46464A"/>
          </a:solidFill>
          <a:ln/>
        </p:spPr>
      </p:sp>
      <p:sp>
        <p:nvSpPr>
          <p:cNvPr id="7" name="Text 5"/>
          <p:cNvSpPr/>
          <p:nvPr/>
        </p:nvSpPr>
        <p:spPr>
          <a:xfrm>
            <a:off x="6069925" y="3451979"/>
            <a:ext cx="3292793" cy="822960"/>
          </a:xfrm>
          <a:prstGeom prst="rect">
            <a:avLst/>
          </a:prstGeom>
          <a:noFill/>
          <a:ln/>
        </p:spPr>
        <p:txBody>
          <a:bodyPr wrap="square" lIns="0" tIns="0" rIns="0" bIns="0" rtlCol="0" anchor="t"/>
          <a:lstStyle/>
          <a:p>
            <a:pPr marL="0" indent="0" algn="l">
              <a:lnSpc>
                <a:spcPts val="3200"/>
              </a:lnSpc>
              <a:buNone/>
            </a:pPr>
            <a:r>
              <a:rPr lang="en-US" sz="2550" b="1" dirty="0">
                <a:solidFill>
                  <a:srgbClr val="D7D4CC"/>
                </a:solidFill>
                <a:latin typeface="Comfortaa Bold" pitchFamily="34" charset="0"/>
                <a:ea typeface="Comfortaa Bold" pitchFamily="34" charset="-122"/>
                <a:cs typeface="Comfortaa Bold" pitchFamily="34" charset="-120"/>
              </a:rPr>
              <a:t>Runner-up: Decision Tree</a:t>
            </a:r>
            <a:endParaRPr lang="en-US" sz="2550" dirty="0"/>
          </a:p>
        </p:txBody>
      </p:sp>
      <p:sp>
        <p:nvSpPr>
          <p:cNvPr id="8" name="Text 6"/>
          <p:cNvSpPr/>
          <p:nvPr/>
        </p:nvSpPr>
        <p:spPr>
          <a:xfrm>
            <a:off x="6069925" y="4423053"/>
            <a:ext cx="3292793"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Performed well as a secondary option, showing solid accuracy.</a:t>
            </a:r>
            <a:endParaRPr lang="en-US" sz="1900" dirty="0"/>
          </a:p>
        </p:txBody>
      </p:sp>
      <p:sp>
        <p:nvSpPr>
          <p:cNvPr id="9" name="Shape 7"/>
          <p:cNvSpPr/>
          <p:nvPr/>
        </p:nvSpPr>
        <p:spPr>
          <a:xfrm>
            <a:off x="9671328" y="3405783"/>
            <a:ext cx="555427" cy="555427"/>
          </a:xfrm>
          <a:prstGeom prst="roundRect">
            <a:avLst>
              <a:gd name="adj" fmla="val 66675"/>
            </a:avLst>
          </a:prstGeom>
          <a:solidFill>
            <a:srgbClr val="46464A"/>
          </a:solidFill>
          <a:ln/>
        </p:spPr>
      </p:sp>
      <p:sp>
        <p:nvSpPr>
          <p:cNvPr id="10" name="Text 8"/>
          <p:cNvSpPr/>
          <p:nvPr/>
        </p:nvSpPr>
        <p:spPr>
          <a:xfrm>
            <a:off x="10473571" y="3451979"/>
            <a:ext cx="3292793" cy="822960"/>
          </a:xfrm>
          <a:prstGeom prst="rect">
            <a:avLst/>
          </a:prstGeom>
          <a:noFill/>
          <a:ln/>
        </p:spPr>
        <p:txBody>
          <a:bodyPr wrap="square" lIns="0" tIns="0" rIns="0" bIns="0" rtlCol="0" anchor="t"/>
          <a:lstStyle/>
          <a:p>
            <a:pPr marL="0" indent="0" algn="l">
              <a:lnSpc>
                <a:spcPts val="3200"/>
              </a:lnSpc>
              <a:buNone/>
            </a:pPr>
            <a:r>
              <a:rPr lang="en-US" sz="2550" b="1" dirty="0">
                <a:solidFill>
                  <a:srgbClr val="D7D4CC"/>
                </a:solidFill>
                <a:latin typeface="Comfortaa Bold" pitchFamily="34" charset="0"/>
                <a:ea typeface="Comfortaa Bold" pitchFamily="34" charset="-122"/>
                <a:cs typeface="Comfortaa Bold" pitchFamily="34" charset="-120"/>
              </a:rPr>
              <a:t>Poor Performer: Linear Regression</a:t>
            </a:r>
            <a:endParaRPr lang="en-US" sz="2550" dirty="0"/>
          </a:p>
        </p:txBody>
      </p:sp>
      <p:sp>
        <p:nvSpPr>
          <p:cNvPr id="11" name="Text 9"/>
          <p:cNvSpPr/>
          <p:nvPr/>
        </p:nvSpPr>
        <p:spPr>
          <a:xfrm>
            <a:off x="10473571" y="4423053"/>
            <a:ext cx="3292793" cy="158019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Not suitable for classification tasks in this context, yielding low performance metrics.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4037" y="1743432"/>
            <a:ext cx="9336762"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Model Performance Comparison</a:t>
            </a:r>
            <a:endParaRPr lang="en-US" sz="4300" dirty="0"/>
          </a:p>
        </p:txBody>
      </p:sp>
      <p:sp>
        <p:nvSpPr>
          <p:cNvPr id="3" name="Shape 1"/>
          <p:cNvSpPr/>
          <p:nvPr/>
        </p:nvSpPr>
        <p:spPr>
          <a:xfrm>
            <a:off x="864037" y="2922984"/>
            <a:ext cx="12902327" cy="3563064"/>
          </a:xfrm>
          <a:prstGeom prst="roundRect">
            <a:avLst>
              <a:gd name="adj" fmla="val 10394"/>
            </a:avLst>
          </a:prstGeom>
          <a:noFill/>
          <a:ln w="15240">
            <a:solidFill>
              <a:srgbClr val="FFFFFF">
                <a:alpha val="24000"/>
              </a:srgbClr>
            </a:solidFill>
            <a:prstDash val="solid"/>
          </a:ln>
        </p:spPr>
      </p:sp>
      <p:sp>
        <p:nvSpPr>
          <p:cNvPr id="4" name="Shape 2"/>
          <p:cNvSpPr/>
          <p:nvPr/>
        </p:nvSpPr>
        <p:spPr>
          <a:xfrm>
            <a:off x="879277" y="2938224"/>
            <a:ext cx="12871847" cy="706517"/>
          </a:xfrm>
          <a:prstGeom prst="rect">
            <a:avLst/>
          </a:prstGeom>
          <a:solidFill>
            <a:srgbClr val="FFFFFF">
              <a:alpha val="4000"/>
            </a:srgbClr>
          </a:solidFill>
          <a:ln/>
        </p:spPr>
      </p:sp>
      <p:sp>
        <p:nvSpPr>
          <p:cNvPr id="5" name="Text 3"/>
          <p:cNvSpPr/>
          <p:nvPr/>
        </p:nvSpPr>
        <p:spPr>
          <a:xfrm>
            <a:off x="1126093" y="3093958"/>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Model</a:t>
            </a:r>
            <a:endParaRPr lang="en-US" sz="1900" dirty="0"/>
          </a:p>
        </p:txBody>
      </p:sp>
      <p:sp>
        <p:nvSpPr>
          <p:cNvPr id="6" name="Text 4"/>
          <p:cNvSpPr/>
          <p:nvPr/>
        </p:nvSpPr>
        <p:spPr>
          <a:xfrm>
            <a:off x="3704273" y="3093958"/>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Accuracy</a:t>
            </a:r>
            <a:endParaRPr lang="en-US" sz="1900" dirty="0"/>
          </a:p>
        </p:txBody>
      </p:sp>
      <p:sp>
        <p:nvSpPr>
          <p:cNvPr id="7" name="Text 5"/>
          <p:cNvSpPr/>
          <p:nvPr/>
        </p:nvSpPr>
        <p:spPr>
          <a:xfrm>
            <a:off x="6278642" y="3093958"/>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Precision</a:t>
            </a:r>
            <a:endParaRPr lang="en-US" sz="1900" dirty="0"/>
          </a:p>
        </p:txBody>
      </p:sp>
      <p:sp>
        <p:nvSpPr>
          <p:cNvPr id="8" name="Text 6"/>
          <p:cNvSpPr/>
          <p:nvPr/>
        </p:nvSpPr>
        <p:spPr>
          <a:xfrm>
            <a:off x="8853011" y="3093958"/>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Recall</a:t>
            </a:r>
            <a:endParaRPr lang="en-US" sz="1900" dirty="0"/>
          </a:p>
        </p:txBody>
      </p:sp>
      <p:sp>
        <p:nvSpPr>
          <p:cNvPr id="9" name="Text 7"/>
          <p:cNvSpPr/>
          <p:nvPr/>
        </p:nvSpPr>
        <p:spPr>
          <a:xfrm>
            <a:off x="11427381" y="3093958"/>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F1-score</a:t>
            </a:r>
            <a:endParaRPr lang="en-US" sz="1900" dirty="0"/>
          </a:p>
        </p:txBody>
      </p:sp>
      <p:sp>
        <p:nvSpPr>
          <p:cNvPr id="10" name="Shape 8"/>
          <p:cNvSpPr/>
          <p:nvPr/>
        </p:nvSpPr>
        <p:spPr>
          <a:xfrm>
            <a:off x="879277" y="3644741"/>
            <a:ext cx="12871847" cy="706517"/>
          </a:xfrm>
          <a:prstGeom prst="rect">
            <a:avLst/>
          </a:prstGeom>
          <a:solidFill>
            <a:srgbClr val="000000">
              <a:alpha val="4000"/>
            </a:srgbClr>
          </a:solidFill>
          <a:ln/>
        </p:spPr>
      </p:sp>
      <p:sp>
        <p:nvSpPr>
          <p:cNvPr id="11" name="Text 9"/>
          <p:cNvSpPr/>
          <p:nvPr/>
        </p:nvSpPr>
        <p:spPr>
          <a:xfrm>
            <a:off x="1126093" y="3800475"/>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Random Forest</a:t>
            </a:r>
            <a:endParaRPr lang="en-US" sz="1900" dirty="0"/>
          </a:p>
        </p:txBody>
      </p:sp>
      <p:sp>
        <p:nvSpPr>
          <p:cNvPr id="12" name="Text 10"/>
          <p:cNvSpPr/>
          <p:nvPr/>
        </p:nvSpPr>
        <p:spPr>
          <a:xfrm>
            <a:off x="3704273" y="3800475"/>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rPr>
              <a:t>0.97</a:t>
            </a:r>
            <a:endParaRPr lang="en-US" sz="1900" dirty="0"/>
          </a:p>
        </p:txBody>
      </p:sp>
      <p:sp>
        <p:nvSpPr>
          <p:cNvPr id="13" name="Text 11"/>
          <p:cNvSpPr/>
          <p:nvPr/>
        </p:nvSpPr>
        <p:spPr>
          <a:xfrm>
            <a:off x="6278642" y="3800475"/>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rPr>
              <a:t>0.85</a:t>
            </a:r>
            <a:endParaRPr lang="en-US" sz="1900" dirty="0"/>
          </a:p>
        </p:txBody>
      </p:sp>
      <p:sp>
        <p:nvSpPr>
          <p:cNvPr id="14" name="Text 12"/>
          <p:cNvSpPr/>
          <p:nvPr/>
        </p:nvSpPr>
        <p:spPr>
          <a:xfrm>
            <a:off x="8853011" y="3800475"/>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0.76</a:t>
            </a:r>
            <a:endParaRPr lang="en-US" sz="1900" dirty="0"/>
          </a:p>
        </p:txBody>
      </p:sp>
      <p:sp>
        <p:nvSpPr>
          <p:cNvPr id="15" name="Text 13"/>
          <p:cNvSpPr/>
          <p:nvPr/>
        </p:nvSpPr>
        <p:spPr>
          <a:xfrm>
            <a:off x="11427381" y="3800475"/>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0.80</a:t>
            </a:r>
            <a:endParaRPr lang="en-US" sz="1900" dirty="0"/>
          </a:p>
        </p:txBody>
      </p:sp>
      <p:sp>
        <p:nvSpPr>
          <p:cNvPr id="16" name="Shape 14"/>
          <p:cNvSpPr/>
          <p:nvPr/>
        </p:nvSpPr>
        <p:spPr>
          <a:xfrm>
            <a:off x="879277" y="4351258"/>
            <a:ext cx="12871847" cy="706517"/>
          </a:xfrm>
          <a:prstGeom prst="rect">
            <a:avLst/>
          </a:prstGeom>
          <a:solidFill>
            <a:srgbClr val="FFFFFF">
              <a:alpha val="4000"/>
            </a:srgbClr>
          </a:solidFill>
          <a:ln/>
        </p:spPr>
      </p:sp>
      <p:sp>
        <p:nvSpPr>
          <p:cNvPr id="17" name="Text 15"/>
          <p:cNvSpPr/>
          <p:nvPr/>
        </p:nvSpPr>
        <p:spPr>
          <a:xfrm>
            <a:off x="1126093" y="4506992"/>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Decision Tree</a:t>
            </a:r>
            <a:endParaRPr lang="en-US" sz="1900" dirty="0"/>
          </a:p>
        </p:txBody>
      </p:sp>
      <p:sp>
        <p:nvSpPr>
          <p:cNvPr id="18" name="Text 16"/>
          <p:cNvSpPr/>
          <p:nvPr/>
        </p:nvSpPr>
        <p:spPr>
          <a:xfrm>
            <a:off x="3704273" y="4506992"/>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0.96</a:t>
            </a:r>
            <a:endParaRPr lang="en-US" sz="1900" dirty="0"/>
          </a:p>
        </p:txBody>
      </p:sp>
      <p:sp>
        <p:nvSpPr>
          <p:cNvPr id="19" name="Text 17"/>
          <p:cNvSpPr/>
          <p:nvPr/>
        </p:nvSpPr>
        <p:spPr>
          <a:xfrm>
            <a:off x="6278642" y="4506992"/>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0.80</a:t>
            </a:r>
            <a:endParaRPr lang="en-US" sz="1900" dirty="0"/>
          </a:p>
        </p:txBody>
      </p:sp>
      <p:sp>
        <p:nvSpPr>
          <p:cNvPr id="20" name="Text 18"/>
          <p:cNvSpPr/>
          <p:nvPr/>
        </p:nvSpPr>
        <p:spPr>
          <a:xfrm>
            <a:off x="8853011" y="4506992"/>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0.66</a:t>
            </a:r>
            <a:endParaRPr lang="en-US" sz="1900" dirty="0"/>
          </a:p>
        </p:txBody>
      </p:sp>
      <p:sp>
        <p:nvSpPr>
          <p:cNvPr id="21" name="Text 19"/>
          <p:cNvSpPr/>
          <p:nvPr/>
        </p:nvSpPr>
        <p:spPr>
          <a:xfrm>
            <a:off x="11427381" y="4506992"/>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0.72</a:t>
            </a:r>
            <a:endParaRPr lang="en-US" sz="1900" dirty="0"/>
          </a:p>
        </p:txBody>
      </p:sp>
      <p:sp>
        <p:nvSpPr>
          <p:cNvPr id="22" name="Shape 20"/>
          <p:cNvSpPr/>
          <p:nvPr/>
        </p:nvSpPr>
        <p:spPr>
          <a:xfrm>
            <a:off x="879277" y="5057775"/>
            <a:ext cx="12871847" cy="706517"/>
          </a:xfrm>
          <a:prstGeom prst="rect">
            <a:avLst/>
          </a:prstGeom>
          <a:solidFill>
            <a:srgbClr val="000000">
              <a:alpha val="4000"/>
            </a:srgbClr>
          </a:solidFill>
          <a:ln/>
        </p:spPr>
      </p:sp>
      <p:sp>
        <p:nvSpPr>
          <p:cNvPr id="23" name="Text 21"/>
          <p:cNvSpPr/>
          <p:nvPr/>
        </p:nvSpPr>
        <p:spPr>
          <a:xfrm>
            <a:off x="1126093" y="5213509"/>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Naive Bayes</a:t>
            </a:r>
            <a:endParaRPr lang="en-US" sz="1900" dirty="0"/>
          </a:p>
        </p:txBody>
      </p:sp>
      <p:sp>
        <p:nvSpPr>
          <p:cNvPr id="24" name="Text 22"/>
          <p:cNvSpPr/>
          <p:nvPr/>
        </p:nvSpPr>
        <p:spPr>
          <a:xfrm>
            <a:off x="3704273" y="5213509"/>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0.94</a:t>
            </a:r>
            <a:endParaRPr lang="en-US" sz="1900" dirty="0"/>
          </a:p>
        </p:txBody>
      </p:sp>
      <p:sp>
        <p:nvSpPr>
          <p:cNvPr id="25" name="Text 23"/>
          <p:cNvSpPr/>
          <p:nvPr/>
        </p:nvSpPr>
        <p:spPr>
          <a:xfrm>
            <a:off x="6278642" y="5213509"/>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0.65</a:t>
            </a:r>
            <a:endParaRPr lang="en-US" sz="1900" dirty="0"/>
          </a:p>
        </p:txBody>
      </p:sp>
      <p:sp>
        <p:nvSpPr>
          <p:cNvPr id="26" name="Text 24"/>
          <p:cNvSpPr/>
          <p:nvPr/>
        </p:nvSpPr>
        <p:spPr>
          <a:xfrm>
            <a:off x="8853011" y="5213509"/>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0.54</a:t>
            </a:r>
            <a:endParaRPr lang="en-US" sz="1900" dirty="0"/>
          </a:p>
        </p:txBody>
      </p:sp>
      <p:sp>
        <p:nvSpPr>
          <p:cNvPr id="27" name="Text 25"/>
          <p:cNvSpPr/>
          <p:nvPr/>
        </p:nvSpPr>
        <p:spPr>
          <a:xfrm>
            <a:off x="11427381" y="5213509"/>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0.59</a:t>
            </a:r>
            <a:endParaRPr lang="en-US" sz="1900" dirty="0"/>
          </a:p>
        </p:txBody>
      </p:sp>
      <p:sp>
        <p:nvSpPr>
          <p:cNvPr id="28" name="Shape 26"/>
          <p:cNvSpPr/>
          <p:nvPr/>
        </p:nvSpPr>
        <p:spPr>
          <a:xfrm>
            <a:off x="879277" y="5764292"/>
            <a:ext cx="12871847" cy="706517"/>
          </a:xfrm>
          <a:prstGeom prst="rect">
            <a:avLst/>
          </a:prstGeom>
          <a:solidFill>
            <a:srgbClr val="FFFFFF">
              <a:alpha val="4000"/>
            </a:srgbClr>
          </a:solidFill>
          <a:ln/>
        </p:spPr>
      </p:sp>
      <p:sp>
        <p:nvSpPr>
          <p:cNvPr id="29" name="Text 27"/>
          <p:cNvSpPr/>
          <p:nvPr/>
        </p:nvSpPr>
        <p:spPr>
          <a:xfrm>
            <a:off x="1126093" y="5920026"/>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Linear Regression</a:t>
            </a:r>
            <a:endParaRPr lang="en-US" sz="1900" dirty="0"/>
          </a:p>
        </p:txBody>
      </p:sp>
      <p:sp>
        <p:nvSpPr>
          <p:cNvPr id="30" name="Text 28"/>
          <p:cNvSpPr/>
          <p:nvPr/>
        </p:nvSpPr>
        <p:spPr>
          <a:xfrm>
            <a:off x="3704273" y="5920026"/>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t>
            </a:r>
            <a:endParaRPr lang="en-US" sz="1900" dirty="0"/>
          </a:p>
        </p:txBody>
      </p:sp>
      <p:sp>
        <p:nvSpPr>
          <p:cNvPr id="31" name="Text 29"/>
          <p:cNvSpPr/>
          <p:nvPr/>
        </p:nvSpPr>
        <p:spPr>
          <a:xfrm>
            <a:off x="6278642" y="5920026"/>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0.50</a:t>
            </a:r>
            <a:endParaRPr lang="en-US" sz="1900" dirty="0"/>
          </a:p>
        </p:txBody>
      </p:sp>
      <p:sp>
        <p:nvSpPr>
          <p:cNvPr id="32" name="Text 30"/>
          <p:cNvSpPr/>
          <p:nvPr/>
        </p:nvSpPr>
        <p:spPr>
          <a:xfrm>
            <a:off x="8853011" y="5920026"/>
            <a:ext cx="207311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0.30</a:t>
            </a:r>
            <a:endParaRPr lang="en-US" sz="1900" dirty="0"/>
          </a:p>
        </p:txBody>
      </p:sp>
      <p:sp>
        <p:nvSpPr>
          <p:cNvPr id="33" name="Text 31"/>
          <p:cNvSpPr/>
          <p:nvPr/>
        </p:nvSpPr>
        <p:spPr>
          <a:xfrm>
            <a:off x="11427381" y="5920026"/>
            <a:ext cx="2076926" cy="395049"/>
          </a:xfrm>
          <a:prstGeom prst="rect">
            <a:avLst/>
          </a:prstGeom>
          <a:noFill/>
          <a:ln/>
        </p:spPr>
        <p:txBody>
          <a:bodyPr wrap="non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0.37</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Rizwa\AppData\Local\Packages\5319275A.WhatsAppDesktop_cv1g1gvanyjgm\TempState\D61E4BBD6393C9111E6526EA173A7C8B\WhatsApp Image 2025-06-10 at 10.34.20_b52e58c0.jpg"/>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630400" cy="8229600"/>
          </a:xfrm>
          <a:prstGeom prst="rect">
            <a:avLst/>
          </a:prstGeom>
          <a:noFill/>
          <a:ln>
            <a:noFill/>
          </a:ln>
        </p:spPr>
      </p:pic>
    </p:spTree>
    <p:extLst>
      <p:ext uri="{BB962C8B-B14F-4D97-AF65-F5344CB8AC3E}">
        <p14:creationId xmlns:p14="http://schemas.microsoft.com/office/powerpoint/2010/main" val="3820538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53797" y="874752"/>
            <a:ext cx="5421035" cy="677585"/>
          </a:xfrm>
          <a:prstGeom prst="rect">
            <a:avLst/>
          </a:prstGeom>
          <a:noFill/>
          <a:ln/>
        </p:spPr>
        <p:txBody>
          <a:bodyPr wrap="none" lIns="0" tIns="0" rIns="0" bIns="0" rtlCol="0" anchor="t"/>
          <a:lstStyle/>
          <a:p>
            <a:pPr marL="0" indent="0" algn="l">
              <a:lnSpc>
                <a:spcPts val="5300"/>
              </a:lnSpc>
              <a:buNone/>
            </a:pPr>
            <a:r>
              <a:rPr lang="en-US" sz="4250" b="1" dirty="0">
                <a:solidFill>
                  <a:srgbClr val="FFE14D"/>
                </a:solidFill>
                <a:latin typeface="Comfortaa Bold" pitchFamily="34" charset="0"/>
                <a:ea typeface="Comfortaa Bold" pitchFamily="34" charset="-122"/>
                <a:cs typeface="Comfortaa Bold" pitchFamily="34" charset="-120"/>
              </a:rPr>
              <a:t>Conclusion</a:t>
            </a:r>
            <a:endParaRPr lang="en-US" sz="4250" dirty="0"/>
          </a:p>
        </p:txBody>
      </p:sp>
      <p:sp>
        <p:nvSpPr>
          <p:cNvPr id="3" name="Shape 1"/>
          <p:cNvSpPr/>
          <p:nvPr/>
        </p:nvSpPr>
        <p:spPr>
          <a:xfrm>
            <a:off x="853797" y="2040136"/>
            <a:ext cx="548878" cy="548878"/>
          </a:xfrm>
          <a:prstGeom prst="roundRect">
            <a:avLst>
              <a:gd name="adj" fmla="val 66668"/>
            </a:avLst>
          </a:prstGeom>
          <a:solidFill>
            <a:srgbClr val="46464A"/>
          </a:solidFill>
          <a:ln/>
        </p:spPr>
      </p:sp>
      <p:sp>
        <p:nvSpPr>
          <p:cNvPr id="4" name="Text 2"/>
          <p:cNvSpPr/>
          <p:nvPr/>
        </p:nvSpPr>
        <p:spPr>
          <a:xfrm>
            <a:off x="1646515" y="2085856"/>
            <a:ext cx="3311604" cy="813197"/>
          </a:xfrm>
          <a:prstGeom prst="rect">
            <a:avLst/>
          </a:prstGeom>
          <a:noFill/>
          <a:ln/>
        </p:spPr>
        <p:txBody>
          <a:bodyPr wrap="square" lIns="0" tIns="0" rIns="0" bIns="0" rtlCol="0" anchor="t"/>
          <a:lstStyle/>
          <a:p>
            <a:pPr marL="0" indent="0" algn="l">
              <a:lnSpc>
                <a:spcPts val="3200"/>
              </a:lnSpc>
              <a:buNone/>
            </a:pPr>
            <a:r>
              <a:rPr lang="en-US" sz="2550" b="1" dirty="0">
                <a:solidFill>
                  <a:srgbClr val="D7D4CC"/>
                </a:solidFill>
                <a:latin typeface="Comfortaa Bold" pitchFamily="34" charset="0"/>
                <a:ea typeface="Comfortaa Bold" pitchFamily="34" charset="-122"/>
                <a:cs typeface="Comfortaa Bold" pitchFamily="34" charset="-120"/>
              </a:rPr>
              <a:t>Top Performer: Random Forest</a:t>
            </a:r>
            <a:endParaRPr lang="en-US" sz="2550" dirty="0"/>
          </a:p>
        </p:txBody>
      </p:sp>
      <p:sp>
        <p:nvSpPr>
          <p:cNvPr id="5" name="Text 3"/>
          <p:cNvSpPr/>
          <p:nvPr/>
        </p:nvSpPr>
        <p:spPr>
          <a:xfrm>
            <a:off x="1646515" y="3045381"/>
            <a:ext cx="3311604" cy="2341721"/>
          </a:xfrm>
          <a:prstGeom prst="rect">
            <a:avLst/>
          </a:prstGeom>
          <a:noFill/>
          <a:ln/>
        </p:spPr>
        <p:txBody>
          <a:bodyPr wrap="square" lIns="0" tIns="0" rIns="0" bIns="0" rtlCol="0" anchor="t"/>
          <a:lstStyle/>
          <a:p>
            <a:pPr marL="0" indent="0" algn="l">
              <a:lnSpc>
                <a:spcPts val="3050"/>
              </a:lnSpc>
              <a:buNone/>
            </a:pPr>
            <a:r>
              <a:rPr lang="en-US" sz="1900" dirty="0">
                <a:solidFill>
                  <a:srgbClr val="D7D4CC"/>
                </a:solidFill>
                <a:latin typeface="Raleway Medium" pitchFamily="34" charset="0"/>
                <a:ea typeface="Raleway Medium" pitchFamily="34" charset="-122"/>
                <a:cs typeface="Raleway Medium" pitchFamily="34" charset="-120"/>
              </a:rPr>
              <a:t>Achieved the best F1-score and demonstrated robust handling of the data, making it the most effective model for diabetes prediction in this study.</a:t>
            </a:r>
            <a:endParaRPr lang="en-US" sz="1900" dirty="0"/>
          </a:p>
        </p:txBody>
      </p:sp>
      <p:sp>
        <p:nvSpPr>
          <p:cNvPr id="6" name="Shape 4"/>
          <p:cNvSpPr/>
          <p:nvPr/>
        </p:nvSpPr>
        <p:spPr>
          <a:xfrm>
            <a:off x="5263039" y="2040136"/>
            <a:ext cx="548878" cy="548878"/>
          </a:xfrm>
          <a:prstGeom prst="roundRect">
            <a:avLst>
              <a:gd name="adj" fmla="val 66668"/>
            </a:avLst>
          </a:prstGeom>
          <a:solidFill>
            <a:srgbClr val="46464A"/>
          </a:solidFill>
          <a:ln/>
        </p:spPr>
      </p:sp>
      <p:sp>
        <p:nvSpPr>
          <p:cNvPr id="7" name="Text 5"/>
          <p:cNvSpPr/>
          <p:nvPr/>
        </p:nvSpPr>
        <p:spPr>
          <a:xfrm>
            <a:off x="6055757" y="2085856"/>
            <a:ext cx="3311604" cy="1219795"/>
          </a:xfrm>
          <a:prstGeom prst="rect">
            <a:avLst/>
          </a:prstGeom>
          <a:noFill/>
          <a:ln/>
        </p:spPr>
        <p:txBody>
          <a:bodyPr wrap="square" lIns="0" tIns="0" rIns="0" bIns="0" rtlCol="0" anchor="t"/>
          <a:lstStyle/>
          <a:p>
            <a:pPr marL="0" indent="0" algn="l">
              <a:lnSpc>
                <a:spcPts val="3200"/>
              </a:lnSpc>
              <a:buNone/>
            </a:pPr>
            <a:r>
              <a:rPr lang="en-US" sz="2550" b="1" dirty="0">
                <a:solidFill>
                  <a:srgbClr val="D7D4CC"/>
                </a:solidFill>
                <a:latin typeface="Comfortaa Bold" pitchFamily="34" charset="0"/>
                <a:ea typeface="Comfortaa Bold" pitchFamily="34" charset="-122"/>
                <a:cs typeface="Comfortaa Bold" pitchFamily="34" charset="-120"/>
              </a:rPr>
              <a:t>Interpretability Alternative: Decision Tree</a:t>
            </a:r>
            <a:endParaRPr lang="en-US" sz="2550" dirty="0"/>
          </a:p>
        </p:txBody>
      </p:sp>
      <p:sp>
        <p:nvSpPr>
          <p:cNvPr id="8" name="Text 6"/>
          <p:cNvSpPr/>
          <p:nvPr/>
        </p:nvSpPr>
        <p:spPr>
          <a:xfrm>
            <a:off x="6055757" y="3451979"/>
            <a:ext cx="3311604" cy="1951434"/>
          </a:xfrm>
          <a:prstGeom prst="rect">
            <a:avLst/>
          </a:prstGeom>
          <a:noFill/>
          <a:ln/>
        </p:spPr>
        <p:txBody>
          <a:bodyPr wrap="square" lIns="0" tIns="0" rIns="0" bIns="0" rtlCol="0" anchor="t"/>
          <a:lstStyle/>
          <a:p>
            <a:pPr marL="0" indent="0" algn="l">
              <a:lnSpc>
                <a:spcPts val="3050"/>
              </a:lnSpc>
              <a:buNone/>
            </a:pPr>
            <a:r>
              <a:rPr lang="en-US" sz="1900" dirty="0">
                <a:solidFill>
                  <a:srgbClr val="D7D4CC"/>
                </a:solidFill>
                <a:latin typeface="Raleway Medium" pitchFamily="34" charset="0"/>
                <a:ea typeface="Raleway Medium" pitchFamily="34" charset="-122"/>
                <a:cs typeface="Raleway Medium" pitchFamily="34" charset="-120"/>
              </a:rPr>
              <a:t>Offers a good balance of accuracy and interpretability, providing a viable option when understanding feature importance is crucial.</a:t>
            </a:r>
            <a:endParaRPr lang="en-US" sz="1900" dirty="0"/>
          </a:p>
        </p:txBody>
      </p:sp>
      <p:sp>
        <p:nvSpPr>
          <p:cNvPr id="9" name="Shape 7"/>
          <p:cNvSpPr/>
          <p:nvPr/>
        </p:nvSpPr>
        <p:spPr>
          <a:xfrm>
            <a:off x="9672280" y="2040136"/>
            <a:ext cx="548878" cy="548878"/>
          </a:xfrm>
          <a:prstGeom prst="roundRect">
            <a:avLst>
              <a:gd name="adj" fmla="val 66668"/>
            </a:avLst>
          </a:prstGeom>
          <a:solidFill>
            <a:srgbClr val="46464A"/>
          </a:solidFill>
          <a:ln/>
        </p:spPr>
      </p:sp>
      <p:sp>
        <p:nvSpPr>
          <p:cNvPr id="10" name="Text 8"/>
          <p:cNvSpPr/>
          <p:nvPr/>
        </p:nvSpPr>
        <p:spPr>
          <a:xfrm>
            <a:off x="10464998" y="2085856"/>
            <a:ext cx="3311604" cy="1219795"/>
          </a:xfrm>
          <a:prstGeom prst="rect">
            <a:avLst/>
          </a:prstGeom>
          <a:noFill/>
          <a:ln/>
        </p:spPr>
        <p:txBody>
          <a:bodyPr wrap="square" lIns="0" tIns="0" rIns="0" bIns="0" rtlCol="0" anchor="t"/>
          <a:lstStyle/>
          <a:p>
            <a:pPr marL="0" indent="0" algn="l">
              <a:lnSpc>
                <a:spcPts val="3200"/>
              </a:lnSpc>
              <a:buNone/>
            </a:pPr>
            <a:r>
              <a:rPr lang="en-US" sz="2550" b="1" dirty="0">
                <a:solidFill>
                  <a:srgbClr val="D7D4CC"/>
                </a:solidFill>
                <a:latin typeface="Comfortaa Bold" pitchFamily="34" charset="0"/>
                <a:ea typeface="Comfortaa Bold" pitchFamily="34" charset="-122"/>
                <a:cs typeface="Comfortaa Bold" pitchFamily="34" charset="-120"/>
              </a:rPr>
              <a:t>Not Recommended: Linear Regression and Naive Bayes</a:t>
            </a:r>
            <a:endParaRPr lang="en-US" sz="2550" dirty="0"/>
          </a:p>
        </p:txBody>
      </p:sp>
      <p:sp>
        <p:nvSpPr>
          <p:cNvPr id="11" name="Text 9"/>
          <p:cNvSpPr/>
          <p:nvPr/>
        </p:nvSpPr>
        <p:spPr>
          <a:xfrm>
            <a:off x="10464998" y="3451979"/>
            <a:ext cx="3311604" cy="3902869"/>
          </a:xfrm>
          <a:prstGeom prst="rect">
            <a:avLst/>
          </a:prstGeom>
          <a:noFill/>
          <a:ln/>
        </p:spPr>
        <p:txBody>
          <a:bodyPr wrap="square" lIns="0" tIns="0" rIns="0" bIns="0" rtlCol="0" anchor="t"/>
          <a:lstStyle/>
          <a:p>
            <a:pPr marL="0" indent="0" algn="l">
              <a:lnSpc>
                <a:spcPts val="3050"/>
              </a:lnSpc>
              <a:buNone/>
            </a:pPr>
            <a:r>
              <a:rPr lang="en-US" sz="1900" dirty="0">
                <a:solidFill>
                  <a:srgbClr val="D7D4CC"/>
                </a:solidFill>
                <a:latin typeface="Raleway Medium" pitchFamily="34" charset="0"/>
                <a:ea typeface="Raleway Medium" pitchFamily="34" charset="-122"/>
                <a:cs typeface="Raleway Medium" pitchFamily="34" charset="-120"/>
              </a:rPr>
              <a:t>Linear Regression showed poor performance for this classification task. Naive Bayes, while showing balanced results, was less robust than ensemble methods due to its strong independence assumptions, limiting its practical application here.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33650"/>
            <a:ext cx="14630400" cy="3352800"/>
          </a:xfrm>
        </p:spPr>
        <p:txBody>
          <a:bodyPr>
            <a:noAutofit/>
          </a:bodyPr>
          <a:lstStyle/>
          <a:p>
            <a:pPr algn="ctr"/>
            <a:r>
              <a:rPr lang="en-US" sz="13800" b="1" dirty="0">
                <a:latin typeface="Times New Roman" pitchFamily="18" charset="0"/>
                <a:cs typeface="Times New Roman" pitchFamily="18" charset="0"/>
              </a:rPr>
              <a:t>THANKYOU</a:t>
            </a:r>
          </a:p>
        </p:txBody>
      </p:sp>
    </p:spTree>
    <p:extLst>
      <p:ext uri="{BB962C8B-B14F-4D97-AF65-F5344CB8AC3E}">
        <p14:creationId xmlns:p14="http://schemas.microsoft.com/office/powerpoint/2010/main" val="16268165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TotalTime>
  <Words>602</Words>
  <Application>Microsoft Office PowerPoint</Application>
  <PresentationFormat>Custom</PresentationFormat>
  <Paragraphs>156</Paragraphs>
  <Slides>17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Comfortaa Bold</vt:lpstr>
      <vt:lpstr>Arial</vt:lpstr>
      <vt:lpstr>Times New Roman</vt:lpstr>
      <vt:lpstr>Calibri</vt:lpstr>
      <vt:lpstr>Raleway Medium</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Rizwa</dc:creator>
  <cp:lastModifiedBy>Dell</cp:lastModifiedBy>
  <cp:revision>5</cp:revision>
  <dcterms:created xsi:type="dcterms:W3CDTF">2025-06-24T17:49:51Z</dcterms:created>
  <dcterms:modified xsi:type="dcterms:W3CDTF">2025-06-25T04:01:59Z</dcterms:modified>
</cp:coreProperties>
</file>