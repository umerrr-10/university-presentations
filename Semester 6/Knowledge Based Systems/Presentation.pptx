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1.png"/><Relationship Id="rId14" Type="http://schemas.openxmlformats.org/officeDocument/2006/relationships/image" Target="../media/image-9-12.svg"/><Relationship Id="rId15" Type="http://schemas.openxmlformats.org/officeDocument/2006/relationships/image" Target="../media/image-9-11.png"/><Relationship Id="rId16" Type="http://schemas.openxmlformats.org/officeDocument/2006/relationships/image" Target="../media/image-9-12.svg"/><Relationship Id="rId17" Type="http://schemas.openxmlformats.org/officeDocument/2006/relationships/image" Target="../media/image-9-11.png"/><Relationship Id="rId18" Type="http://schemas.openxmlformats.org/officeDocument/2006/relationships/image" Target="../media/image-9-12.svg"/><Relationship Id="rId19" Type="http://schemas.openxmlformats.org/officeDocument/2006/relationships/image" Target="../media/image-9-11.png"/><Relationship Id="rId20" Type="http://schemas.openxmlformats.org/officeDocument/2006/relationships/image" Target="../media/image-9-12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633538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Artificial Intelligence vs Knowledge-Based Systems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145532"/>
            <a:ext cx="6296860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BS Artificial Intelligence Course · Knowledge-Based Systems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Muhammad Irtisam 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Muhammad Umer 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Bilal Tariq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Ihtesham 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406" y="782141"/>
            <a:ext cx="3528924" cy="52936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76995"/>
            <a:ext cx="6296860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31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03871"/>
            <a:ext cx="6296860" cy="108843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17354" y="1783556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Artificial Intelligence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917354" y="2126456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Systems that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learn and adapt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data — powering modern automation and prediction.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828826"/>
            <a:ext cx="6296860" cy="10884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7354" y="3008511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Knowledge-Based Systems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917354" y="3351411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Systems that use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expert rules and logic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replicate domain-specific decision-making.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53780"/>
            <a:ext cx="6296860" cy="8953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7354" y="4233466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Compare?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917354" y="4576366"/>
            <a:ext cx="586130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strengths, limitations, and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best use cases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each paradigm.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85655"/>
            <a:ext cx="6296860" cy="8953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7354" y="5265341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Course Objectives</a:t>
            </a:r>
            <a:endParaRPr lang="en-US" sz="1550" dirty="0"/>
          </a:p>
        </p:txBody>
      </p:sp>
      <p:sp>
        <p:nvSpPr>
          <p:cNvPr id="16" name="Text 8"/>
          <p:cNvSpPr/>
          <p:nvPr/>
        </p:nvSpPr>
        <p:spPr>
          <a:xfrm>
            <a:off x="917354" y="5608241"/>
            <a:ext cx="586130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definitions, key differences, real-world applications, and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trends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10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Artificial Intelligence?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566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631851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Definition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127945"/>
            <a:ext cx="690326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Technology that enables machines to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learn from data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make intelligent decisions autonomously.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808288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Characteristics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304381"/>
            <a:ext cx="6903269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Learning, pattern recognition, and adaptation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Automation of complex cognitive tasks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050804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Types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4546898"/>
            <a:ext cx="6903269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Machine Learning · Deep Learning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Neural Networks · NLP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33201" y="5293320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Workflow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633201" y="5813028"/>
            <a:ext cx="585277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2" name="Text 9"/>
          <p:cNvSpPr/>
          <p:nvPr/>
        </p:nvSpPr>
        <p:spPr>
          <a:xfrm>
            <a:off x="4746605" y="5869682"/>
            <a:ext cx="9680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12932" y="5813028"/>
            <a:ext cx="904356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4" name="Text 11"/>
          <p:cNvSpPr/>
          <p:nvPr/>
        </p:nvSpPr>
        <p:spPr>
          <a:xfrm>
            <a:off x="5426336" y="5869682"/>
            <a:ext cx="128713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11742" y="5813028"/>
            <a:ext cx="756226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6" name="Text 13"/>
          <p:cNvSpPr/>
          <p:nvPr/>
        </p:nvSpPr>
        <p:spPr>
          <a:xfrm>
            <a:off x="6425146" y="5869682"/>
            <a:ext cx="11390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162422" y="5813028"/>
            <a:ext cx="1105865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8" name="Text 15"/>
          <p:cNvSpPr/>
          <p:nvPr/>
        </p:nvSpPr>
        <p:spPr>
          <a:xfrm>
            <a:off x="7275827" y="5869682"/>
            <a:ext cx="148864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165"/>
            <a:ext cx="10868745" cy="54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 Knowledge-Based System?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27585"/>
            <a:ext cx="52300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848074"/>
            <a:ext cx="5230086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expert system that uses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encoded human knowledge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logical rules to replicate expert decision-making in specific domains.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406973"/>
            <a:ext cx="52300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 Rule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2591" y="3979466"/>
            <a:ext cx="5588555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IF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fever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cough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THEN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possible flu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846016"/>
            <a:ext cx="19050" cy="472182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485084"/>
            <a:ext cx="52300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4924127"/>
            <a:ext cx="1019745" cy="254397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</p:sp>
      <p:sp>
        <p:nvSpPr>
          <p:cNvPr id="10" name="Text 8"/>
          <p:cNvSpPr/>
          <p:nvPr/>
        </p:nvSpPr>
        <p:spPr>
          <a:xfrm>
            <a:off x="761882" y="4974332"/>
            <a:ext cx="1428516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KNOWLEDGE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64859" y="4924127"/>
            <a:ext cx="620300" cy="254397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</p:sp>
      <p:sp>
        <p:nvSpPr>
          <p:cNvPr id="12" name="Text 10"/>
          <p:cNvSpPr/>
          <p:nvPr/>
        </p:nvSpPr>
        <p:spPr>
          <a:xfrm>
            <a:off x="1865266" y="4974332"/>
            <a:ext cx="10290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798" y="4924127"/>
            <a:ext cx="928664" cy="254397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</p:sp>
      <p:sp>
        <p:nvSpPr>
          <p:cNvPr id="14" name="Text 12"/>
          <p:cNvSpPr/>
          <p:nvPr/>
        </p:nvSpPr>
        <p:spPr>
          <a:xfrm>
            <a:off x="2569205" y="4974332"/>
            <a:ext cx="1337435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81102" y="4924127"/>
            <a:ext cx="826174" cy="254397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509" y="4974332"/>
            <a:ext cx="1234945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DECISION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484" y="1458813"/>
            <a:ext cx="4707018" cy="4707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379"/>
            <a:ext cx="10868745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Working Process Comparison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236762"/>
            <a:ext cx="9238424" cy="4623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8217" y="3214145"/>
            <a:ext cx="1735069" cy="53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Explainability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59593" y="5461773"/>
            <a:ext cx="2076546" cy="26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Discovery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29179" y="3214145"/>
            <a:ext cx="1735070" cy="53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 Explainability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54402" y="1421348"/>
            <a:ext cx="2076546" cy="26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 Discovery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65447" y="4369252"/>
            <a:ext cx="1781215" cy="55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KBS: Inference engine yields explainable outputs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11157" y="4471063"/>
            <a:ext cx="1781215" cy="37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AI: Predicts outcomes and uncovers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11157" y="2763638"/>
            <a:ext cx="1781215" cy="37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KBS: Encodes expert rules for decisions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10072" y="2763638"/>
            <a:ext cx="1781215" cy="37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AI: Learns from data to find patterns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5991225"/>
            <a:ext cx="10868745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fundamental distinction: </a:t>
            </a:r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learns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raw data autonomously, while </a:t>
            </a:r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KBS applies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pre-defined expert rules. AI excels at discovering unseen patterns; KBS delivers transparent, auditable decision logic.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504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Differences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47330"/>
            <a:ext cx="10868745" cy="2955528"/>
          </a:xfrm>
          <a:prstGeom prst="roundRect">
            <a:avLst>
              <a:gd name="adj" fmla="val 268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94203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43356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92509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16623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908153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924" y="2453680"/>
            <a:ext cx="2171150" cy="488355"/>
          </a:xfrm>
          <a:custGeom>
            <a:avLst/>
            <a:gdLst/>
            <a:ahLst/>
            <a:cxnLst/>
            <a:rect l="l" t="t" r="r" b="b"/>
            <a:pathLst>
              <a:path w="2171150" h="488355">
                <a:moveTo>
                  <a:pt x="66156" y="0"/>
                </a:moveTo>
                <a:lnTo>
                  <a:pt x="2171150" y="0"/>
                </a:lnTo>
                <a:lnTo>
                  <a:pt x="2171150" y="488355"/>
                </a:lnTo>
                <a:lnTo>
                  <a:pt x="0" y="488355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F2A5D"/>
          </a:solidFill>
          <a:ln/>
        </p:spPr>
      </p:sp>
      <p:sp>
        <p:nvSpPr>
          <p:cNvPr id="10" name="Text 8"/>
          <p:cNvSpPr/>
          <p:nvPr/>
        </p:nvSpPr>
        <p:spPr>
          <a:xfrm>
            <a:off x="856931" y="2573437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Dimension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839074" y="2453680"/>
            <a:ext cx="4342398" cy="488355"/>
          </a:xfrm>
          <a:prstGeom prst="rect">
            <a:avLst/>
          </a:prstGeom>
          <a:solidFill>
            <a:srgbClr val="1F2A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28080" y="2573437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Artificial Intelligence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81472" y="2453680"/>
            <a:ext cx="4342398" cy="488355"/>
          </a:xfrm>
          <a:custGeom>
            <a:avLst/>
            <a:gdLst/>
            <a:ahLst/>
            <a:cxnLst/>
            <a:rect l="l" t="t" r="r" b="b"/>
            <a:pathLst>
              <a:path w="4342398" h="488355">
                <a:moveTo>
                  <a:pt x="0" y="0"/>
                </a:moveTo>
                <a:lnTo>
                  <a:pt x="4276242" y="0"/>
                </a:lnTo>
                <a:arcTo hR="66158" wR="66156" stAng="16200000" swAng="5400000"/>
                <a:lnTo>
                  <a:pt x="4342398" y="488355"/>
                </a:lnTo>
                <a:lnTo>
                  <a:pt x="0" y="488355"/>
                </a:lnTo>
                <a:lnTo>
                  <a:pt x="0" y="0"/>
                </a:lnTo>
                <a:close/>
              </a:path>
            </a:pathLst>
          </a:custGeom>
          <a:solidFill>
            <a:srgbClr val="1F2A5D"/>
          </a:solidFill>
          <a:ln/>
        </p:spPr>
      </p:sp>
      <p:sp>
        <p:nvSpPr>
          <p:cNvPr id="14" name="Text 12"/>
          <p:cNvSpPr/>
          <p:nvPr/>
        </p:nvSpPr>
        <p:spPr>
          <a:xfrm>
            <a:off x="7370479" y="2573437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Knowledge-Based Systems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3064966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Learning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28080" y="306496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Learns automatically from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70479" y="306496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manual rule creation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3556496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Knowledge Source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28080" y="355649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data and patterns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70479" y="355649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Encoded expert knowledge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4048026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028080" y="404802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Often a "black box"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70479" y="4048026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Transparent and auditable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6931" y="4539555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Flexibility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28080" y="4539555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Adapts to new data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70479" y="4539555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Needs manual rule updates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6931" y="5031085"/>
            <a:ext cx="24027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28080" y="5031085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inference at scale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70479" y="5031085"/>
            <a:ext cx="45739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Depends on rule complexity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719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 of AI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69480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9531" y="2077541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499" y="223351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9531" y="283358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 Learning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9531" y="3254077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Learns from large datasets without manual programming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869480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5416" y="2077541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384" y="2233513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5416" y="283358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Pattern Discovery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55416" y="3254077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Uncovers hidden relationships humans may not detect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869480"/>
            <a:ext cx="3496877" cy="2083991"/>
          </a:xfrm>
          <a:prstGeom prst="roundRect">
            <a:avLst>
              <a:gd name="adj" fmla="val 380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1300" y="2077541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7268" y="2233513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1300" y="283358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Predictive Analytics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41300" y="3254077"/>
            <a:ext cx="308076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accurate forecasting from historical data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42482"/>
            <a:ext cx="5339820" cy="1838325"/>
          </a:xfrm>
          <a:prstGeom prst="roundRect">
            <a:avLst>
              <a:gd name="adj" fmla="val 431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9531" y="4350544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499" y="450651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9531" y="5106591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Unstructured Data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69531" y="5527080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Handles images, text, and audio with ease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42482"/>
            <a:ext cx="5339820" cy="1838325"/>
          </a:xfrm>
          <a:prstGeom prst="roundRect">
            <a:avLst>
              <a:gd name="adj" fmla="val 431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98358" y="4350544"/>
            <a:ext cx="567021" cy="56703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4326" y="450651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98358" y="5106591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Continuous Improvement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98358" y="5527080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Performance improves as more data becomes available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131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 of Knowledge-Based Systems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93603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793603"/>
            <a:ext cx="1744917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Transparent Reasoning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521174"/>
            <a:ext cx="1744917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decision traces back to explicit, auditable rules — no hidden logic.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793603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793603"/>
            <a:ext cx="174501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Consistent Reliability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521174"/>
            <a:ext cx="174501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input always produces the same rule-driven output, ensuring dependability.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793603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793603"/>
            <a:ext cx="1745016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Expert Knowledge Capture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828256"/>
            <a:ext cx="174501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Domain expertise is directly encoded, preserving institutional knowledge.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793603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793603"/>
            <a:ext cx="174501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Data Requirements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521174"/>
            <a:ext cx="174501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Operates effectively without massive training datasets.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258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Disadvantages at a Glance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2097" y="1441748"/>
            <a:ext cx="5474059" cy="4813995"/>
          </a:xfrm>
          <a:prstGeom prst="roundRect">
            <a:avLst>
              <a:gd name="adj" fmla="val 268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579" y="1612305"/>
            <a:ext cx="5115095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— Limitations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947" y="2077839"/>
            <a:ext cx="269273" cy="269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5070" y="2095897"/>
            <a:ext cx="453160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Black-box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decisions — hard to explain </a:t>
            </a:r>
            <a:pPr algn="l" indent="0" marL="0">
              <a:lnSpc>
                <a:spcPct val="106000"/>
              </a:lnSpc>
              <a:buNone/>
            </a:pPr>
            <a:r>
              <a:rPr lang="en-US" sz="14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947" y="2939653"/>
            <a:ext cx="269273" cy="269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5070" y="2957711"/>
            <a:ext cx="453160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massive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training data volumes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947" y="3801467"/>
            <a:ext cx="269273" cy="269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95070" y="3819525"/>
            <a:ext cx="453160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Expensive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compute resources and training time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947" y="4663281"/>
            <a:ext cx="269273" cy="2692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95070" y="4681339"/>
            <a:ext cx="453160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Prone to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bias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inherited from training data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947" y="5525095"/>
            <a:ext cx="269273" cy="2692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95070" y="5543153"/>
            <a:ext cx="4531604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Difficult to guarantee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safety and reliability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321267" y="1612305"/>
            <a:ext cx="521530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KBS — Limitations</a:t>
            </a:r>
            <a:endParaRPr lang="en-US" sz="1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8635" y="2077839"/>
            <a:ext cx="269273" cy="2692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04758" y="2095897"/>
            <a:ext cx="463181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 learning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new data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8635" y="2939653"/>
            <a:ext cx="269273" cy="2692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04758" y="2957711"/>
            <a:ext cx="463181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Knowledge acquisition is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difficult and slow</a:t>
            </a:r>
            <a:endParaRPr lang="en-US" sz="14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88635" y="3801467"/>
            <a:ext cx="269273" cy="2692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04758" y="3819525"/>
            <a:ext cx="463181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Requires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constant maintenance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rule updates</a:t>
            </a:r>
            <a:endParaRPr lang="en-US" sz="14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88635" y="4663281"/>
            <a:ext cx="269273" cy="2692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04758" y="4681339"/>
            <a:ext cx="463181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to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specific domains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problem types</a:t>
            </a:r>
            <a:endParaRPr lang="en-US" sz="14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88635" y="5525095"/>
            <a:ext cx="269273" cy="2692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04758" y="5543153"/>
            <a:ext cx="463181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Struggles with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novel or unexpected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situations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009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Real-World Applications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62386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40845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Applications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61334"/>
            <a:ext cx="3465426" cy="1426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Healthcare diagnostics and imaging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detection in banking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Autonomous vehicles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Chatbots and recommendation engines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62386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40845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KBS Applications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61334"/>
            <a:ext cx="3465426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Medical diagnosis support systems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Loan approval and credit scoring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Legal and compliance advisory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Industrial troubleshooting tools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62386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40845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Hybrid Approach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61334"/>
            <a:ext cx="3465426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AI learning with KBS rules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Delivers explainable AI decisions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Best of both paradigms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Growing trend in critical systems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406" y="782141"/>
            <a:ext cx="3528924" cy="52936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33896"/>
            <a:ext cx="6296860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Takeaways &amp; Future Trends</a:t>
            </a:r>
            <a:endParaRPr lang="en-US" sz="3150" dirty="0"/>
          </a:p>
        </p:txBody>
      </p:sp>
      <p:sp>
        <p:nvSpPr>
          <p:cNvPr id="5" name="Shape 1"/>
          <p:cNvSpPr/>
          <p:nvPr/>
        </p:nvSpPr>
        <p:spPr>
          <a:xfrm>
            <a:off x="661475" y="1260773"/>
            <a:ext cx="6296860" cy="1088430"/>
          </a:xfrm>
          <a:prstGeom prst="roundRect">
            <a:avLst>
              <a:gd name="adj" fmla="val 62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41156" y="1440458"/>
            <a:ext cx="59374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1156" y="1783358"/>
            <a:ext cx="5937498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Data-driven, adaptive, powerful at scale — best for complex, high-volume problems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61475" y="2485727"/>
            <a:ext cx="6296860" cy="895350"/>
          </a:xfrm>
          <a:prstGeom prst="roundRect">
            <a:avLst>
              <a:gd name="adj" fmla="val 753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156" y="2665413"/>
            <a:ext cx="59374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KBS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1156" y="3008313"/>
            <a:ext cx="59374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Rule-driven, transparent, reliable — best for well-defined expert domains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1475" y="3517602"/>
            <a:ext cx="6296860" cy="895350"/>
          </a:xfrm>
          <a:prstGeom prst="roundRect">
            <a:avLst>
              <a:gd name="adj" fmla="val 753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156" y="3697288"/>
            <a:ext cx="59374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Hybrid Future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41156" y="4040188"/>
            <a:ext cx="59374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Neuro-symbolic AI blends both: learning power + explainable reasoning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1475" y="4549477"/>
            <a:ext cx="6296860" cy="895350"/>
          </a:xfrm>
          <a:prstGeom prst="roundRect">
            <a:avLst>
              <a:gd name="adj" fmla="val 753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156" y="4729163"/>
            <a:ext cx="59374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Choose Wisely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41156" y="5072062"/>
            <a:ext cx="59374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determines the right tool — no single system fits every problem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1475" y="5598418"/>
            <a:ext cx="6296860" cy="725686"/>
          </a:xfrm>
          <a:prstGeom prst="roundRect">
            <a:avLst>
              <a:gd name="adj" fmla="val 9299"/>
            </a:avLst>
          </a:prstGeom>
          <a:solidFill>
            <a:srgbClr val="002A8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799138"/>
            <a:ext cx="200814" cy="160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3551" y="5775027"/>
            <a:ext cx="5614153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future of intelligent systems lies in combining AI's learning capabilities with the transparency of Knowledge-Based Systems.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2026-08-05T10:59:07Z</dcterms:created>
  <dcterms:modified xsi:type="dcterms:W3CDTF">2026-08-05T10:59:07Z</dcterms:modified>
</cp:coreProperties>
</file>