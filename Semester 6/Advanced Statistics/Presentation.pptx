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8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0"/>
        </a:solidFill>
        <a:effectLst/>
      </p:bgPr>
    </p:bg>
    <p:spTree>
      <p:nvGrpSpPr>
        <p:cNvPr id="1" name=""/>
        <p:cNvGrpSpPr/>
        <p:nvPr/>
      </p:nvGrpSpPr>
      <p:grpSpPr>
        <a:xfrm>
          <a:off x="0" y="0"/>
          <a:ext cx="0" cy="0"/>
          <a:chOff x="0" y="0"/>
          <a:chExt cx="0" cy="0"/>
        </a:xfrm>
      </p:grpSpPr>
      <p:sp>
        <p:nvSpPr>
          <p:cNvPr id="2" name="Shape 0"/>
          <p:cNvSpPr/>
          <p:nvPr/>
        </p:nvSpPr>
        <p:spPr>
          <a:xfrm>
            <a:off x="6217920" y="-731520"/>
            <a:ext cx="3840480" cy="3840480"/>
          </a:xfrm>
          <a:prstGeom prst="ellipse">
            <a:avLst/>
          </a:prstGeom>
          <a:solidFill>
            <a:srgbClr val="0D9488">
              <a:alpha val="13000"/>
            </a:srgbClr>
          </a:solidFill>
          <a:ln w="12700">
            <a:solidFill>
              <a:srgbClr val="0D9488">
                <a:alpha val="20000"/>
              </a:srgbClr>
            </a:solidFill>
            <a:prstDash val="solid"/>
          </a:ln>
        </p:spPr>
      </p:sp>
      <p:sp>
        <p:nvSpPr>
          <p:cNvPr id="3" name="Shape 1"/>
          <p:cNvSpPr/>
          <p:nvPr/>
        </p:nvSpPr>
        <p:spPr>
          <a:xfrm>
            <a:off x="6858000" y="-91440"/>
            <a:ext cx="2560320" cy="2560320"/>
          </a:xfrm>
          <a:prstGeom prst="ellipse">
            <a:avLst/>
          </a:prstGeom>
          <a:solidFill>
            <a:srgbClr val="14B8A6">
              <a:alpha val="17000"/>
            </a:srgbClr>
          </a:solidFill>
          <a:ln w="12700">
            <a:solidFill>
              <a:srgbClr val="14B8A6">
                <a:alpha val="22000"/>
              </a:srgbClr>
            </a:solidFill>
            <a:prstDash val="solid"/>
          </a:ln>
        </p:spPr>
      </p:sp>
      <p:sp>
        <p:nvSpPr>
          <p:cNvPr id="4" name="Shape 2"/>
          <p:cNvSpPr/>
          <p:nvPr/>
        </p:nvSpPr>
        <p:spPr>
          <a:xfrm>
            <a:off x="-731520" y="3840480"/>
            <a:ext cx="2286000" cy="2286000"/>
          </a:xfrm>
          <a:prstGeom prst="ellipse">
            <a:avLst/>
          </a:prstGeom>
          <a:solidFill>
            <a:srgbClr val="F59E0B">
              <a:alpha val="10000"/>
            </a:srgbClr>
          </a:solidFill>
          <a:ln w="12700">
            <a:solidFill>
              <a:srgbClr val="F59E0B">
                <a:alpha val="15000"/>
              </a:srgbClr>
            </a:solidFill>
            <a:prstDash val="solid"/>
          </a:ln>
        </p:spPr>
      </p:sp>
      <p:sp>
        <p:nvSpPr>
          <p:cNvPr id="5" name="Text 3"/>
          <p:cNvSpPr/>
          <p:nvPr/>
        </p:nvSpPr>
        <p:spPr>
          <a:xfrm>
            <a:off x="548640" y="502920"/>
            <a:ext cx="6858000" cy="365760"/>
          </a:xfrm>
          <a:prstGeom prst="rect">
            <a:avLst/>
          </a:prstGeom>
          <a:noFill/>
          <a:ln/>
        </p:spPr>
        <p:txBody>
          <a:bodyPr wrap="square" lIns="0" tIns="0" rIns="0" bIns="0" rtlCol="0" anchor="ctr"/>
          <a:lstStyle/>
          <a:p>
            <a:pPr marL="0" indent="0">
              <a:buNone/>
            </a:pPr>
            <a:r>
              <a:rPr lang="en-US" sz="1100" kern="0" spc="200" dirty="0">
                <a:solidFill>
                  <a:srgbClr val="14B8A6"/>
                </a:solidFill>
                <a:latin typeface="Calibri" pitchFamily="34" charset="0"/>
                <a:ea typeface="Calibri" pitchFamily="34" charset="-122"/>
                <a:cs typeface="Calibri" pitchFamily="34" charset="-120"/>
              </a:rPr>
              <a:t>Advanced Statistics  ·  University of Sialkot</a:t>
            </a:r>
            <a:endParaRPr lang="en-US" sz="1100" dirty="0"/>
          </a:p>
        </p:txBody>
      </p:sp>
      <p:sp>
        <p:nvSpPr>
          <p:cNvPr id="6" name="Text 4"/>
          <p:cNvSpPr/>
          <p:nvPr/>
        </p:nvSpPr>
        <p:spPr>
          <a:xfrm>
            <a:off x="548640" y="914400"/>
            <a:ext cx="7132320" cy="19202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Z-Test for</a:t>
            </a:r>
            <a:endParaRPr lang="en-US" sz="5200" dirty="0"/>
          </a:p>
          <a:p>
            <a:pPr marL="0" indent="0">
              <a:buNone/>
            </a:pPr>
            <a:r>
              <a:rPr lang="en-US" sz="5200" b="1" dirty="0">
                <a:solidFill>
                  <a:srgbClr val="FFFFFF"/>
                </a:solidFill>
                <a:latin typeface="Cambria" pitchFamily="34" charset="0"/>
                <a:ea typeface="Cambria" pitchFamily="34" charset="-122"/>
                <a:cs typeface="Cambria" pitchFamily="34" charset="-120"/>
              </a:rPr>
              <a:t>Two Samples</a:t>
            </a:r>
            <a:endParaRPr lang="en-US" sz="5200" dirty="0"/>
          </a:p>
        </p:txBody>
      </p:sp>
      <p:sp>
        <p:nvSpPr>
          <p:cNvPr id="7" name="Text 5"/>
          <p:cNvSpPr/>
          <p:nvPr/>
        </p:nvSpPr>
        <p:spPr>
          <a:xfrm>
            <a:off x="548640" y="2880360"/>
            <a:ext cx="7315200" cy="457200"/>
          </a:xfrm>
          <a:prstGeom prst="rect">
            <a:avLst/>
          </a:prstGeom>
          <a:noFill/>
          <a:ln/>
        </p:spPr>
        <p:txBody>
          <a:bodyPr wrap="square" lIns="0" tIns="0" rIns="0" bIns="0" rtlCol="0" anchor="ctr"/>
          <a:lstStyle/>
          <a:p>
            <a:pPr marL="0" indent="0">
              <a:buNone/>
            </a:pPr>
            <a:r>
              <a:rPr lang="en-US" sz="1500" dirty="0">
                <a:solidFill>
                  <a:srgbClr val="CBD5E1"/>
                </a:solidFill>
                <a:latin typeface="Calibri" pitchFamily="34" charset="0"/>
                <a:ea typeface="Calibri" pitchFamily="34" charset="-122"/>
                <a:cs typeface="Calibri" pitchFamily="34" charset="-120"/>
              </a:rPr>
              <a:t> Real-World Applications  +  2 Solved Questions</a:t>
            </a:r>
            <a:endParaRPr lang="en-US" sz="1500" dirty="0"/>
          </a:p>
        </p:txBody>
      </p:sp>
      <p:sp>
        <p:nvSpPr>
          <p:cNvPr id="8" name="Text 6"/>
          <p:cNvSpPr/>
          <p:nvPr/>
        </p:nvSpPr>
        <p:spPr>
          <a:xfrm>
            <a:off x="548640" y="3401568"/>
            <a:ext cx="6858000" cy="45720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 complete guide to comparing two population means using statistical hypothesis testing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sp>
      <p:sp>
        <p:nvSpPr>
          <p:cNvPr id="3" name="Text 1"/>
          <p:cNvSpPr/>
          <p:nvPr/>
        </p:nvSpPr>
        <p:spPr>
          <a:xfrm>
            <a:off x="457200" y="164592"/>
            <a:ext cx="8229600" cy="347472"/>
          </a:xfrm>
          <a:prstGeom prst="rect">
            <a:avLst/>
          </a:prstGeom>
          <a:noFill/>
          <a:ln/>
        </p:spPr>
        <p:txBody>
          <a:bodyPr wrap="square" lIns="0" tIns="0" rIns="0" bIns="0" rtlCol="0" anchor="ctr"/>
          <a:lstStyle/>
          <a:p>
            <a:pPr marL="0" indent="0">
              <a:buNone/>
            </a:pPr>
            <a:r>
              <a:rPr lang="en-US" sz="1300" kern="0" spc="200" dirty="0">
                <a:solidFill>
                  <a:srgbClr val="14B8A6"/>
                </a:solidFill>
                <a:latin typeface="Calibri" pitchFamily="34" charset="0"/>
                <a:ea typeface="Calibri" pitchFamily="34" charset="-122"/>
                <a:cs typeface="Calibri" pitchFamily="34" charset="-120"/>
              </a:rPr>
              <a:t>Presented By</a:t>
            </a:r>
            <a:endParaRPr lang="en-US" sz="1300" dirty="0"/>
          </a:p>
        </p:txBody>
      </p:sp>
      <p:sp>
        <p:nvSpPr>
          <p:cNvPr id="4" name="Text 2"/>
          <p:cNvSpPr/>
          <p:nvPr/>
        </p:nvSpPr>
        <p:spPr>
          <a:xfrm>
            <a:off x="457200" y="475488"/>
            <a:ext cx="8229600" cy="420624"/>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Group Members</a:t>
            </a:r>
            <a:endParaRPr lang="en-US" sz="2400" dirty="0"/>
          </a:p>
        </p:txBody>
      </p:sp>
      <p:sp>
        <p:nvSpPr>
          <p:cNvPr id="5" name="Shape 3"/>
          <p:cNvSpPr/>
          <p:nvPr/>
        </p:nvSpPr>
        <p:spPr>
          <a:xfrm>
            <a:off x="365760" y="1188720"/>
            <a:ext cx="4023360" cy="3383280"/>
          </a:xfrm>
          <a:prstGeom prst="roundRect">
            <a:avLst>
              <a:gd name="adj" fmla="val 3243"/>
            </a:avLst>
          </a:prstGeom>
          <a:solidFill>
            <a:srgbClr val="FFFFFF"/>
          </a:solidFill>
          <a:ln w="10160">
            <a:solidFill>
              <a:srgbClr val="CBD5E1"/>
            </a:solidFill>
            <a:prstDash val="solid"/>
          </a:ln>
          <a:effectLst>
            <a:outerShdw blurRad="76200" dist="25400" dir="2700000" algn="bl" rotWithShape="0">
              <a:srgbClr val="000000">
                <a:alpha val="10000"/>
              </a:srgbClr>
            </a:outerShdw>
          </a:effectLst>
        </p:spPr>
      </p:sp>
      <p:sp>
        <p:nvSpPr>
          <p:cNvPr id="6" name="Shape 4"/>
          <p:cNvSpPr/>
          <p:nvPr/>
        </p:nvSpPr>
        <p:spPr>
          <a:xfrm>
            <a:off x="1417320" y="1417320"/>
            <a:ext cx="1920240" cy="1920240"/>
          </a:xfrm>
          <a:prstGeom prst="ellipse">
            <a:avLst/>
          </a:prstGeom>
          <a:solidFill>
            <a:srgbClr val="1B2A4A"/>
          </a:solidFill>
          <a:ln w="25400">
            <a:solidFill>
              <a:srgbClr val="0D9488"/>
            </a:solidFill>
            <a:prstDash val="solid"/>
          </a:ln>
        </p:spPr>
      </p:sp>
      <p:sp>
        <p:nvSpPr>
          <p:cNvPr id="7" name="Text 5"/>
          <p:cNvSpPr/>
          <p:nvPr/>
        </p:nvSpPr>
        <p:spPr>
          <a:xfrm>
            <a:off x="1417320" y="1417320"/>
            <a:ext cx="1920240" cy="19202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MU</a:t>
            </a:r>
            <a:endParaRPr lang="en-US" sz="3800" dirty="0"/>
          </a:p>
        </p:txBody>
      </p:sp>
      <p:sp>
        <p:nvSpPr>
          <p:cNvPr id="8" name="Text 6"/>
          <p:cNvSpPr/>
          <p:nvPr/>
        </p:nvSpPr>
        <p:spPr>
          <a:xfrm>
            <a:off x="502920" y="3429000"/>
            <a:ext cx="3749040" cy="502920"/>
          </a:xfrm>
          <a:prstGeom prst="rect">
            <a:avLst/>
          </a:prstGeom>
          <a:noFill/>
          <a:ln/>
        </p:spPr>
        <p:txBody>
          <a:bodyPr wrap="square" lIns="0" tIns="0" rIns="0" bIns="0"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Muhammad Umer</a:t>
            </a:r>
            <a:endParaRPr lang="en-US" sz="1500" dirty="0"/>
          </a:p>
        </p:txBody>
      </p:sp>
      <p:sp>
        <p:nvSpPr>
          <p:cNvPr id="9" name="Shape 7"/>
          <p:cNvSpPr/>
          <p:nvPr/>
        </p:nvSpPr>
        <p:spPr>
          <a:xfrm>
            <a:off x="1280160" y="3977640"/>
            <a:ext cx="2011680" cy="384048"/>
          </a:xfrm>
          <a:prstGeom prst="roundRect">
            <a:avLst>
              <a:gd name="adj" fmla="val 14286"/>
            </a:avLst>
          </a:prstGeom>
          <a:solidFill>
            <a:srgbClr val="0D9488"/>
          </a:solidFill>
          <a:ln w="12700">
            <a:solidFill>
              <a:srgbClr val="0D9488"/>
            </a:solidFill>
            <a:prstDash val="solid"/>
          </a:ln>
        </p:spPr>
      </p:sp>
      <p:sp>
        <p:nvSpPr>
          <p:cNvPr id="10" name="Text 8"/>
          <p:cNvSpPr/>
          <p:nvPr/>
        </p:nvSpPr>
        <p:spPr>
          <a:xfrm>
            <a:off x="1280160" y="3977640"/>
            <a:ext cx="20116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Roll No: 005</a:t>
            </a:r>
            <a:endParaRPr lang="en-US" sz="1200" dirty="0"/>
          </a:p>
        </p:txBody>
      </p:sp>
      <p:sp>
        <p:nvSpPr>
          <p:cNvPr id="11" name="Shape 9"/>
          <p:cNvSpPr/>
          <p:nvPr/>
        </p:nvSpPr>
        <p:spPr>
          <a:xfrm>
            <a:off x="4754880" y="1188720"/>
            <a:ext cx="4023360" cy="3383280"/>
          </a:xfrm>
          <a:prstGeom prst="roundRect">
            <a:avLst>
              <a:gd name="adj" fmla="val 3243"/>
            </a:avLst>
          </a:prstGeom>
          <a:solidFill>
            <a:srgbClr val="FFFFFF"/>
          </a:solidFill>
          <a:ln w="10160">
            <a:solidFill>
              <a:srgbClr val="CBD5E1"/>
            </a:solidFill>
            <a:prstDash val="solid"/>
          </a:ln>
          <a:effectLst>
            <a:outerShdw blurRad="76200" dist="25400" dir="2700000" algn="bl" rotWithShape="0">
              <a:srgbClr val="000000">
                <a:alpha val="10000"/>
              </a:srgbClr>
            </a:outerShdw>
          </a:effectLst>
        </p:spPr>
      </p:sp>
      <p:sp>
        <p:nvSpPr>
          <p:cNvPr id="12" name="Shape 10"/>
          <p:cNvSpPr/>
          <p:nvPr/>
        </p:nvSpPr>
        <p:spPr>
          <a:xfrm>
            <a:off x="5806440" y="1417320"/>
            <a:ext cx="1920240" cy="1920240"/>
          </a:xfrm>
          <a:prstGeom prst="ellipse">
            <a:avLst/>
          </a:prstGeom>
          <a:solidFill>
            <a:srgbClr val="0D9488"/>
          </a:solidFill>
          <a:ln w="25400">
            <a:solidFill>
              <a:srgbClr val="1B2A4A"/>
            </a:solidFill>
            <a:prstDash val="solid"/>
          </a:ln>
        </p:spPr>
      </p:sp>
      <p:sp>
        <p:nvSpPr>
          <p:cNvPr id="13" name="Text 11"/>
          <p:cNvSpPr/>
          <p:nvPr/>
        </p:nvSpPr>
        <p:spPr>
          <a:xfrm>
            <a:off x="5806440" y="1417320"/>
            <a:ext cx="1920240" cy="19202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TZ</a:t>
            </a:r>
            <a:endParaRPr lang="en-US" sz="3800" dirty="0"/>
          </a:p>
        </p:txBody>
      </p:sp>
      <p:sp>
        <p:nvSpPr>
          <p:cNvPr id="14" name="Text 12"/>
          <p:cNvSpPr/>
          <p:nvPr/>
        </p:nvSpPr>
        <p:spPr>
          <a:xfrm>
            <a:off x="4892040" y="3429000"/>
            <a:ext cx="3749040" cy="502920"/>
          </a:xfrm>
          <a:prstGeom prst="rect">
            <a:avLst/>
          </a:prstGeom>
          <a:noFill/>
          <a:ln/>
        </p:spPr>
        <p:txBody>
          <a:bodyPr wrap="square" lIns="0" tIns="0" rIns="0" bIns="0"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Tatheer Zahra</a:t>
            </a:r>
            <a:endParaRPr lang="en-US" sz="1500" dirty="0"/>
          </a:p>
        </p:txBody>
      </p:sp>
      <p:sp>
        <p:nvSpPr>
          <p:cNvPr id="15" name="Shape 13"/>
          <p:cNvSpPr/>
          <p:nvPr/>
        </p:nvSpPr>
        <p:spPr>
          <a:xfrm>
            <a:off x="5669280" y="3977640"/>
            <a:ext cx="2011680" cy="384048"/>
          </a:xfrm>
          <a:prstGeom prst="roundRect">
            <a:avLst>
              <a:gd name="adj" fmla="val 14286"/>
            </a:avLst>
          </a:prstGeom>
          <a:solidFill>
            <a:srgbClr val="0D9488"/>
          </a:solidFill>
          <a:ln w="12700">
            <a:solidFill>
              <a:srgbClr val="0D9488"/>
            </a:solidFill>
            <a:prstDash val="solid"/>
          </a:ln>
        </p:spPr>
      </p:sp>
      <p:sp>
        <p:nvSpPr>
          <p:cNvPr id="16" name="Text 14"/>
          <p:cNvSpPr/>
          <p:nvPr/>
        </p:nvSpPr>
        <p:spPr>
          <a:xfrm>
            <a:off x="5669280" y="3977640"/>
            <a:ext cx="20116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Roll No: 003</a:t>
            </a:r>
            <a:endParaRPr lang="en-US" sz="1200" dirty="0"/>
          </a:p>
        </p:txBody>
      </p:sp>
      <p:sp>
        <p:nvSpPr>
          <p:cNvPr id="17" name="Shape 15"/>
          <p:cNvSpPr/>
          <p:nvPr/>
        </p:nvSpPr>
        <p:spPr>
          <a:xfrm>
            <a:off x="365760" y="4681728"/>
            <a:ext cx="8412480" cy="411480"/>
          </a:xfrm>
          <a:prstGeom prst="roundRect">
            <a:avLst>
              <a:gd name="adj" fmla="val 13333"/>
            </a:avLst>
          </a:prstGeom>
          <a:solidFill>
            <a:srgbClr val="E8F4F8"/>
          </a:solidFill>
          <a:ln w="6350">
            <a:solidFill>
              <a:srgbClr val="CBD5E1"/>
            </a:solidFill>
            <a:prstDash val="solid"/>
          </a:ln>
        </p:spPr>
      </p:sp>
      <p:sp>
        <p:nvSpPr>
          <p:cNvPr id="18" name="Text 16"/>
          <p:cNvSpPr/>
          <p:nvPr/>
        </p:nvSpPr>
        <p:spPr>
          <a:xfrm>
            <a:off x="457200" y="4681728"/>
            <a:ext cx="822960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Subject: Advanced Statistics  ·  Topic: Z-Test for Two Samples  ·  Department of Artificial Intelligence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2A4A"/>
          </a:solidFill>
          <a:ln w="12700">
            <a:solidFill>
              <a:srgbClr val="1B2A4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What is a Z-Test for Two Samples?</a:t>
            </a:r>
            <a:endParaRPr lang="en-US" sz="2600" dirty="0"/>
          </a:p>
        </p:txBody>
      </p:sp>
      <p:sp>
        <p:nvSpPr>
          <p:cNvPr id="4" name="Shape 2"/>
          <p:cNvSpPr/>
          <p:nvPr/>
        </p:nvSpPr>
        <p:spPr>
          <a:xfrm>
            <a:off x="365760" y="1078992"/>
            <a:ext cx="8412480" cy="868680"/>
          </a:xfrm>
          <a:prstGeom prst="roundRect">
            <a:avLst>
              <a:gd name="adj" fmla="val 8421"/>
            </a:avLst>
          </a:prstGeom>
          <a:solidFill>
            <a:srgbClr val="1B2A4A"/>
          </a:solidFill>
          <a:ln w="19050">
            <a:solidFill>
              <a:srgbClr val="0D9488"/>
            </a:solidFill>
            <a:prstDash val="solid"/>
          </a:ln>
          <a:effectLst>
            <a:outerShdw blurRad="76200" dist="25400" dir="2700000" algn="bl" rotWithShape="0">
              <a:srgbClr val="000000">
                <a:alpha val="10000"/>
              </a:srgbClr>
            </a:outerShdw>
          </a:effectLst>
        </p:spPr>
      </p:sp>
      <p:sp>
        <p:nvSpPr>
          <p:cNvPr id="5" name="Text 3"/>
          <p:cNvSpPr/>
          <p:nvPr/>
        </p:nvSpPr>
        <p:spPr>
          <a:xfrm>
            <a:off x="457200" y="1115568"/>
            <a:ext cx="8229600" cy="795528"/>
          </a:xfrm>
          <a:prstGeom prst="rect">
            <a:avLst/>
          </a:prstGeom>
          <a:noFill/>
          <a:ln/>
        </p:spPr>
        <p:txBody>
          <a:bodyPr wrap="square" lIns="0" tIns="0" rIns="0" bIns="0" rtlCol="0" anchor="ctr"/>
          <a:lstStyle/>
          <a:p>
            <a:pPr marL="0" indent="0" algn="ctr">
              <a:buNone/>
            </a:pPr>
            <a:r>
              <a:rPr lang="en-US" sz="1900" b="1" dirty="0">
                <a:solidFill>
                  <a:srgbClr val="14B8A6"/>
                </a:solidFill>
                <a:latin typeface="Courier New" pitchFamily="34" charset="0"/>
                <a:ea typeface="Courier New" pitchFamily="34" charset="-122"/>
                <a:cs typeface="Courier New" pitchFamily="34" charset="-120"/>
              </a:rPr>
              <a:t>Z  =  (x̄₁ − x̄₂)  /  √( σ₁²/n₁  +  σ₂²/n₂ )</a:t>
            </a:r>
            <a:endParaRPr lang="en-US" sz="1900" dirty="0"/>
          </a:p>
        </p:txBody>
      </p:sp>
      <p:sp>
        <p:nvSpPr>
          <p:cNvPr id="6" name="Shape 4"/>
          <p:cNvSpPr/>
          <p:nvPr/>
        </p:nvSpPr>
        <p:spPr>
          <a:xfrm>
            <a:off x="365760" y="2057400"/>
            <a:ext cx="8412480" cy="475488"/>
          </a:xfrm>
          <a:prstGeom prst="roundRect">
            <a:avLst>
              <a:gd name="adj" fmla="val 9615"/>
            </a:avLst>
          </a:prstGeom>
          <a:solidFill>
            <a:srgbClr val="FFFFFF"/>
          </a:solidFill>
          <a:ln w="6350">
            <a:solidFill>
              <a:srgbClr val="CBD5E1"/>
            </a:solidFill>
            <a:prstDash val="solid"/>
          </a:ln>
        </p:spPr>
      </p:sp>
      <p:sp>
        <p:nvSpPr>
          <p:cNvPr id="7" name="Text 5"/>
          <p:cNvSpPr/>
          <p:nvPr/>
        </p:nvSpPr>
        <p:spPr>
          <a:xfrm>
            <a:off x="502920" y="2057400"/>
            <a:ext cx="155448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Purpose</a:t>
            </a:r>
            <a:endParaRPr lang="en-US" sz="1000" dirty="0"/>
          </a:p>
        </p:txBody>
      </p:sp>
      <p:sp>
        <p:nvSpPr>
          <p:cNvPr id="8" name="Text 6"/>
          <p:cNvSpPr/>
          <p:nvPr/>
        </p:nvSpPr>
        <p:spPr>
          <a:xfrm>
            <a:off x="2103120" y="2057400"/>
            <a:ext cx="64922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We use this test when we want to check whether the average (mean) values of two separate groups are actually different — or if the difference we see is just by chance.</a:t>
            </a:r>
            <a:endParaRPr lang="en-US" sz="1000" dirty="0"/>
          </a:p>
        </p:txBody>
      </p:sp>
      <p:sp>
        <p:nvSpPr>
          <p:cNvPr id="9" name="Shape 7"/>
          <p:cNvSpPr/>
          <p:nvPr/>
        </p:nvSpPr>
        <p:spPr>
          <a:xfrm>
            <a:off x="365760" y="2587752"/>
            <a:ext cx="8412480" cy="475488"/>
          </a:xfrm>
          <a:prstGeom prst="roundRect">
            <a:avLst>
              <a:gd name="adj" fmla="val 9615"/>
            </a:avLst>
          </a:prstGeom>
          <a:solidFill>
            <a:srgbClr val="E8F4F8"/>
          </a:solidFill>
          <a:ln w="6350">
            <a:solidFill>
              <a:srgbClr val="CBD5E1"/>
            </a:solidFill>
            <a:prstDash val="solid"/>
          </a:ln>
        </p:spPr>
      </p:sp>
      <p:sp>
        <p:nvSpPr>
          <p:cNvPr id="10" name="Text 8"/>
          <p:cNvSpPr/>
          <p:nvPr/>
        </p:nvSpPr>
        <p:spPr>
          <a:xfrm>
            <a:off x="502920" y="2587752"/>
            <a:ext cx="155448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When to Use</a:t>
            </a:r>
            <a:endParaRPr lang="en-US" sz="1000" dirty="0"/>
          </a:p>
        </p:txBody>
      </p:sp>
      <p:sp>
        <p:nvSpPr>
          <p:cNvPr id="11" name="Text 9"/>
          <p:cNvSpPr/>
          <p:nvPr/>
        </p:nvSpPr>
        <p:spPr>
          <a:xfrm>
            <a:off x="2103120" y="2587752"/>
            <a:ext cx="64922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Use it when your sample sizes are large (30 or more) and you already know the standard deviation of each group from past data or records.</a:t>
            </a:r>
            <a:endParaRPr lang="en-US" sz="1000" dirty="0"/>
          </a:p>
        </p:txBody>
      </p:sp>
      <p:sp>
        <p:nvSpPr>
          <p:cNvPr id="12" name="Shape 10"/>
          <p:cNvSpPr/>
          <p:nvPr/>
        </p:nvSpPr>
        <p:spPr>
          <a:xfrm>
            <a:off x="365760" y="3118104"/>
            <a:ext cx="8412480" cy="475488"/>
          </a:xfrm>
          <a:prstGeom prst="roundRect">
            <a:avLst>
              <a:gd name="adj" fmla="val 9615"/>
            </a:avLst>
          </a:prstGeom>
          <a:solidFill>
            <a:srgbClr val="FFFFFF"/>
          </a:solidFill>
          <a:ln w="6350">
            <a:solidFill>
              <a:srgbClr val="CBD5E1"/>
            </a:solidFill>
            <a:prstDash val="solid"/>
          </a:ln>
        </p:spPr>
      </p:sp>
      <p:sp>
        <p:nvSpPr>
          <p:cNvPr id="13" name="Text 11"/>
          <p:cNvSpPr/>
          <p:nvPr/>
        </p:nvSpPr>
        <p:spPr>
          <a:xfrm>
            <a:off x="502920" y="3118104"/>
            <a:ext cx="155448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Null Hypothesis H₀</a:t>
            </a:r>
            <a:endParaRPr lang="en-US" sz="1000" dirty="0"/>
          </a:p>
        </p:txBody>
      </p:sp>
      <p:sp>
        <p:nvSpPr>
          <p:cNvPr id="14" name="Text 12"/>
          <p:cNvSpPr/>
          <p:nvPr/>
        </p:nvSpPr>
        <p:spPr>
          <a:xfrm>
            <a:off x="2103120" y="3118104"/>
            <a:ext cx="64922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We start by assuming there is NO real difference between the two groups. Any difference we observe is just random variation.</a:t>
            </a:r>
            <a:endParaRPr lang="en-US" sz="1000" dirty="0"/>
          </a:p>
        </p:txBody>
      </p:sp>
      <p:sp>
        <p:nvSpPr>
          <p:cNvPr id="15" name="Shape 13"/>
          <p:cNvSpPr/>
          <p:nvPr/>
        </p:nvSpPr>
        <p:spPr>
          <a:xfrm>
            <a:off x="365760" y="3648456"/>
            <a:ext cx="8412480" cy="475488"/>
          </a:xfrm>
          <a:prstGeom prst="roundRect">
            <a:avLst>
              <a:gd name="adj" fmla="val 9615"/>
            </a:avLst>
          </a:prstGeom>
          <a:solidFill>
            <a:srgbClr val="E8F4F8"/>
          </a:solidFill>
          <a:ln w="6350">
            <a:solidFill>
              <a:srgbClr val="CBD5E1"/>
            </a:solidFill>
            <a:prstDash val="solid"/>
          </a:ln>
        </p:spPr>
      </p:sp>
      <p:sp>
        <p:nvSpPr>
          <p:cNvPr id="16" name="Text 14"/>
          <p:cNvSpPr/>
          <p:nvPr/>
        </p:nvSpPr>
        <p:spPr>
          <a:xfrm>
            <a:off x="502920" y="3648456"/>
            <a:ext cx="155448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Alt. Hypothesis H₁</a:t>
            </a:r>
            <a:endParaRPr lang="en-US" sz="1000" dirty="0"/>
          </a:p>
        </p:txBody>
      </p:sp>
      <p:sp>
        <p:nvSpPr>
          <p:cNvPr id="17" name="Text 15"/>
          <p:cNvSpPr/>
          <p:nvPr/>
        </p:nvSpPr>
        <p:spPr>
          <a:xfrm>
            <a:off x="2103120" y="3648456"/>
            <a:ext cx="64922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This is what we want to prove — that there IS a meaningful difference between the two group means.</a:t>
            </a:r>
            <a:endParaRPr lang="en-US" sz="1000" dirty="0"/>
          </a:p>
        </p:txBody>
      </p:sp>
      <p:sp>
        <p:nvSpPr>
          <p:cNvPr id="18" name="Shape 16"/>
          <p:cNvSpPr/>
          <p:nvPr/>
        </p:nvSpPr>
        <p:spPr>
          <a:xfrm>
            <a:off x="365760" y="4178808"/>
            <a:ext cx="8412480" cy="475488"/>
          </a:xfrm>
          <a:prstGeom prst="roundRect">
            <a:avLst>
              <a:gd name="adj" fmla="val 9615"/>
            </a:avLst>
          </a:prstGeom>
          <a:solidFill>
            <a:srgbClr val="FFFFFF"/>
          </a:solidFill>
          <a:ln w="6350">
            <a:solidFill>
              <a:srgbClr val="CBD5E1"/>
            </a:solidFill>
            <a:prstDash val="solid"/>
          </a:ln>
        </p:spPr>
      </p:sp>
      <p:sp>
        <p:nvSpPr>
          <p:cNvPr id="19" name="Text 17"/>
          <p:cNvSpPr/>
          <p:nvPr/>
        </p:nvSpPr>
        <p:spPr>
          <a:xfrm>
            <a:off x="502920" y="4178808"/>
            <a:ext cx="1554480" cy="475488"/>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Decision Rule</a:t>
            </a:r>
            <a:endParaRPr lang="en-US" sz="1000" dirty="0"/>
          </a:p>
        </p:txBody>
      </p:sp>
      <p:sp>
        <p:nvSpPr>
          <p:cNvPr id="20" name="Text 18"/>
          <p:cNvSpPr/>
          <p:nvPr/>
        </p:nvSpPr>
        <p:spPr>
          <a:xfrm>
            <a:off x="2103120" y="4178808"/>
            <a:ext cx="6492240" cy="47548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If the Z value we calculate is bigger than the critical value (like 1.96 for 5% significance), we reject the null hypothesis.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0891B2"/>
          </a:solidFill>
          <a:ln w="12700">
            <a:solidFill>
              <a:srgbClr val="0891B2"/>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01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Healthcare : Testing a New Drug</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 pharmaceutical company developed a new drug to lower blood pressure. Before releasing it, they ran a clinical trial: one group took the real drug, another got a placebo (sugar pill). After several weeks, blood pressure was measured in both groups to see if the drug worked.</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In medicine, guessing is never acceptable as you need proof. The Z-test compares the average blood pressure of both groups and tells us whether the drug made a real difference or if the result was just random chance. Since both groups are large (n=50) and independent, and the standard deviations are known, the two-sample Z-test is the right tool.</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If Z &gt; 1.96 (at α=0.05), we conclude with 95% confidence that the drug genuinely lowers blood pressure  not just coincidence.</a:t>
            </a:r>
            <a:endParaRPr lang="en-US" sz="950" dirty="0"/>
          </a:p>
        </p:txBody>
      </p:sp>
      <p:sp>
        <p:nvSpPr>
          <p:cNvPr id="16" name="Shape 13"/>
          <p:cNvSpPr/>
          <p:nvPr/>
        </p:nvSpPr>
        <p:spPr>
          <a:xfrm>
            <a:off x="5715000" y="914400"/>
            <a:ext cx="3154680" cy="594360"/>
          </a:xfrm>
          <a:prstGeom prst="roundRect">
            <a:avLst>
              <a:gd name="adj" fmla="val 10769"/>
            </a:avLst>
          </a:prstGeom>
          <a:solidFill>
            <a:srgbClr val="0891B2"/>
          </a:solidFill>
          <a:ln w="12700">
            <a:solidFill>
              <a:srgbClr val="0891B2"/>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Drug Group: n=50, Mean=130 mmHg, σ=12</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Placebo Group: n=50, Mean=138 mmHg, σ=14</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3065660"/>
            <a:ext cx="914400" cy="1460620"/>
          </a:xfrm>
          <a:prstGeom prst="roundRect">
            <a:avLst>
              <a:gd name="adj" fmla="val 4000"/>
            </a:avLst>
          </a:prstGeom>
          <a:solidFill>
            <a:srgbClr val="0891B2"/>
          </a:solidFill>
          <a:ln w="12700">
            <a:solidFill>
              <a:srgbClr val="0891B2"/>
            </a:solidFill>
            <a:prstDash val="solid"/>
          </a:ln>
        </p:spPr>
      </p:sp>
      <p:sp>
        <p:nvSpPr>
          <p:cNvPr id="23" name="Text 20"/>
          <p:cNvSpPr/>
          <p:nvPr/>
        </p:nvSpPr>
        <p:spPr>
          <a:xfrm>
            <a:off x="5989320" y="2745620"/>
            <a:ext cx="914400" cy="320040"/>
          </a:xfrm>
          <a:prstGeom prst="rect">
            <a:avLst/>
          </a:prstGeom>
          <a:noFill/>
          <a:ln/>
        </p:spPr>
        <p:txBody>
          <a:bodyPr wrap="square" lIns="0" tIns="0" rIns="0" bIns="0" rtlCol="0" anchor="ctr"/>
          <a:lstStyle/>
          <a:p>
            <a:pPr marL="0" indent="0" algn="ctr">
              <a:buNone/>
            </a:pPr>
            <a:r>
              <a:rPr lang="en-US" sz="850" b="1" dirty="0">
                <a:solidFill>
                  <a:srgbClr val="0891B2"/>
                </a:solidFill>
                <a:latin typeface="Calibri" pitchFamily="34" charset="0"/>
                <a:ea typeface="Calibri" pitchFamily="34" charset="-122"/>
                <a:cs typeface="Calibri" pitchFamily="34" charset="-120"/>
              </a:rPr>
              <a:t>130</a:t>
            </a:r>
            <a:endParaRPr lang="en-US" sz="850" dirty="0"/>
          </a:p>
          <a:p>
            <a:pPr marL="0" indent="0" algn="ctr">
              <a:buNone/>
            </a:pPr>
            <a:r>
              <a:rPr lang="en-US" sz="850" b="1" dirty="0">
                <a:solidFill>
                  <a:srgbClr val="0891B2"/>
                </a:solidFill>
                <a:latin typeface="Calibri" pitchFamily="34" charset="0"/>
                <a:ea typeface="Calibri" pitchFamily="34" charset="-122"/>
                <a:cs typeface="Calibri" pitchFamily="34" charset="-120"/>
              </a:rPr>
              <a:t>mmHg</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Drug</a:t>
            </a:r>
            <a:endParaRPr lang="en-US" sz="850" dirty="0"/>
          </a:p>
        </p:txBody>
      </p:sp>
      <p:sp>
        <p:nvSpPr>
          <p:cNvPr id="25" name="Shape 22"/>
          <p:cNvSpPr/>
          <p:nvPr/>
        </p:nvSpPr>
        <p:spPr>
          <a:xfrm>
            <a:off x="7406640" y="2975776"/>
            <a:ext cx="914400" cy="1550504"/>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655736"/>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138</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mmHg</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Placebo</a:t>
            </a:r>
            <a:endParaRPr lang="en-US" sz="850" dirty="0"/>
          </a:p>
        </p:txBody>
      </p:sp>
      <p:sp>
        <p:nvSpPr>
          <p:cNvPr id="28" name="Shape 25"/>
          <p:cNvSpPr/>
          <p:nvPr/>
        </p:nvSpPr>
        <p:spPr>
          <a:xfrm>
            <a:off x="0" y="5029200"/>
            <a:ext cx="9144000" cy="118872"/>
          </a:xfrm>
          <a:prstGeom prst="rect">
            <a:avLst/>
          </a:prstGeom>
          <a:solidFill>
            <a:srgbClr val="0891B2"/>
          </a:solidFill>
          <a:ln w="12700">
            <a:solidFill>
              <a:srgbClr val="0891B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7C3AED"/>
          </a:solidFill>
          <a:ln w="12700">
            <a:solidFill>
              <a:srgbClr val="7C3AED"/>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02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Education : Comparing Teaching Methods</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Two universities teach the same Statistics </a:t>
            </a:r>
            <a:r>
              <a:rPr lang="en-US" sz="950" dirty="0" err="1">
                <a:solidFill>
                  <a:srgbClr val="1E293B"/>
                </a:solidFill>
                <a:latin typeface="Calibri" pitchFamily="34" charset="0"/>
                <a:ea typeface="Calibri" pitchFamily="34" charset="-122"/>
                <a:cs typeface="Calibri" pitchFamily="34" charset="-120"/>
              </a:rPr>
              <a:t>cours</a:t>
            </a:r>
            <a:r>
              <a:rPr lang="en-US" sz="950" dirty="0">
                <a:solidFill>
                  <a:srgbClr val="1E293B"/>
                </a:solidFill>
                <a:latin typeface="Calibri" pitchFamily="34" charset="0"/>
                <a:ea typeface="Calibri" pitchFamily="34" charset="-122"/>
                <a:cs typeface="Calibri" pitchFamily="34" charset="-120"/>
              </a:rPr>
              <a:t>, one uses traditional classroom lectures, the other uses online learning. The education board compares final exam scores from both universities to see which method produces better student performance.</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Education policy can't be decided on opinion alone. Teachers and administrators need hard data to choose where to invest resources. The Z-test gives an objective, statistically valid comparison of student performance across two completely separate and independent groups by removing all bias from the decision.</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A significant result tells policymakers one method is genuinely better, not just slightly luckier  and guides where to invest teaching resources.</a:t>
            </a:r>
            <a:endParaRPr lang="en-US" sz="950" dirty="0"/>
          </a:p>
        </p:txBody>
      </p:sp>
      <p:sp>
        <p:nvSpPr>
          <p:cNvPr id="16" name="Shape 13"/>
          <p:cNvSpPr/>
          <p:nvPr/>
        </p:nvSpPr>
        <p:spPr>
          <a:xfrm>
            <a:off x="5715000" y="914400"/>
            <a:ext cx="3154680" cy="594360"/>
          </a:xfrm>
          <a:prstGeom prst="roundRect">
            <a:avLst>
              <a:gd name="adj" fmla="val 10769"/>
            </a:avLst>
          </a:prstGeom>
          <a:solidFill>
            <a:srgbClr val="7C3AED"/>
          </a:solidFill>
          <a:ln w="12700">
            <a:solidFill>
              <a:srgbClr val="7C3AED"/>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Traditional (Uni A): n=60, Mean=72, σ=10</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Online (Uni B): n=65, Mean=68, σ=11</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2975776"/>
            <a:ext cx="914400" cy="1550504"/>
          </a:xfrm>
          <a:prstGeom prst="roundRect">
            <a:avLst>
              <a:gd name="adj" fmla="val 4000"/>
            </a:avLst>
          </a:prstGeom>
          <a:solidFill>
            <a:srgbClr val="7C3AED"/>
          </a:solidFill>
          <a:ln w="12700">
            <a:solidFill>
              <a:srgbClr val="7C3AED"/>
            </a:solidFill>
            <a:prstDash val="solid"/>
          </a:ln>
        </p:spPr>
      </p:sp>
      <p:sp>
        <p:nvSpPr>
          <p:cNvPr id="23" name="Text 20"/>
          <p:cNvSpPr/>
          <p:nvPr/>
        </p:nvSpPr>
        <p:spPr>
          <a:xfrm>
            <a:off x="5989320" y="2655736"/>
            <a:ext cx="914400" cy="320040"/>
          </a:xfrm>
          <a:prstGeom prst="rect">
            <a:avLst/>
          </a:prstGeom>
          <a:noFill/>
          <a:ln/>
        </p:spPr>
        <p:txBody>
          <a:bodyPr wrap="square" lIns="0" tIns="0" rIns="0" bIns="0" rtlCol="0" anchor="ctr"/>
          <a:lstStyle/>
          <a:p>
            <a:pPr marL="0" indent="0" algn="ctr">
              <a:buNone/>
            </a:pPr>
            <a:r>
              <a:rPr lang="en-US" sz="850" b="1" dirty="0">
                <a:solidFill>
                  <a:srgbClr val="7C3AED"/>
                </a:solidFill>
                <a:latin typeface="Calibri" pitchFamily="34" charset="0"/>
                <a:ea typeface="Calibri" pitchFamily="34" charset="-122"/>
                <a:cs typeface="Calibri" pitchFamily="34" charset="-120"/>
              </a:rPr>
              <a:t>72</a:t>
            </a:r>
            <a:endParaRPr lang="en-US" sz="850" dirty="0"/>
          </a:p>
          <a:p>
            <a:pPr marL="0" indent="0" algn="ctr">
              <a:buNone/>
            </a:pPr>
            <a:r>
              <a:rPr lang="en-US" sz="850" b="1" dirty="0">
                <a:solidFill>
                  <a:srgbClr val="7C3AED"/>
                </a:solidFill>
                <a:latin typeface="Calibri" pitchFamily="34" charset="0"/>
                <a:ea typeface="Calibri" pitchFamily="34" charset="-122"/>
                <a:cs typeface="Calibri" pitchFamily="34" charset="-120"/>
              </a:rPr>
              <a:t>Score</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Traditional</a:t>
            </a:r>
            <a:endParaRPr lang="en-US" sz="850" dirty="0"/>
          </a:p>
        </p:txBody>
      </p:sp>
      <p:sp>
        <p:nvSpPr>
          <p:cNvPr id="25" name="Shape 22"/>
          <p:cNvSpPr/>
          <p:nvPr/>
        </p:nvSpPr>
        <p:spPr>
          <a:xfrm>
            <a:off x="7406640" y="3061915"/>
            <a:ext cx="914400" cy="1464365"/>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741875"/>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68</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Score</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Online</a:t>
            </a:r>
            <a:endParaRPr lang="en-US" sz="850" dirty="0"/>
          </a:p>
        </p:txBody>
      </p:sp>
      <p:sp>
        <p:nvSpPr>
          <p:cNvPr id="28" name="Shape 25"/>
          <p:cNvSpPr/>
          <p:nvPr/>
        </p:nvSpPr>
        <p:spPr>
          <a:xfrm>
            <a:off x="0" y="5029200"/>
            <a:ext cx="9144000" cy="118872"/>
          </a:xfrm>
          <a:prstGeom prst="rect">
            <a:avLst/>
          </a:prstGeom>
          <a:solidFill>
            <a:srgbClr val="7C3AED"/>
          </a:solidFill>
          <a:ln w="12700">
            <a:solidFill>
              <a:srgbClr val="7C3AED"/>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16A34A"/>
          </a:solidFill>
          <a:ln w="12700">
            <a:solidFill>
              <a:srgbClr val="16A34A"/>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03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Agriculture : Which Fertilizer Works Better?</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An agricultural institute tests two fertilizers on wheat crops. They apply Fertilizer X on 40 farm plots and Fertilizer Y on 45 plots. At harvest, they measure yield in kilograms per hectare to determine which fertilizer delivers more output.</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Farmers cannot afford to waste money on an inferior product. The Z-test lets researchers compare average crop yields across two independent groups of plots and tell farmers with statistical confidence that which fertilizer actually delivers more. The difference of 25 kg per hectare looks meaningful, but the test tells us whether it's statistically real.</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A significant result means the 25 kg/hectare advantage of Fertilizer X is real. At farming scale, that's a massive financial difference worth switching for.</a:t>
            </a:r>
            <a:endParaRPr lang="en-US" sz="950" dirty="0"/>
          </a:p>
        </p:txBody>
      </p:sp>
      <p:sp>
        <p:nvSpPr>
          <p:cNvPr id="16" name="Shape 13"/>
          <p:cNvSpPr/>
          <p:nvPr/>
        </p:nvSpPr>
        <p:spPr>
          <a:xfrm>
            <a:off x="5715000" y="914400"/>
            <a:ext cx="3154680" cy="594360"/>
          </a:xfrm>
          <a:prstGeom prst="roundRect">
            <a:avLst>
              <a:gd name="adj" fmla="val 10769"/>
            </a:avLst>
          </a:prstGeom>
          <a:solidFill>
            <a:srgbClr val="16A34A"/>
          </a:solidFill>
          <a:ln w="12700">
            <a:solidFill>
              <a:srgbClr val="16A34A"/>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Fertilizer X: n=40, Mean=520 kg/ha, σ=30</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Fertilizer Y: n=45, Mean=495 kg/ha, σ=28</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2975776"/>
            <a:ext cx="914400" cy="1550504"/>
          </a:xfrm>
          <a:prstGeom prst="roundRect">
            <a:avLst>
              <a:gd name="adj" fmla="val 4000"/>
            </a:avLst>
          </a:prstGeom>
          <a:solidFill>
            <a:srgbClr val="16A34A"/>
          </a:solidFill>
          <a:ln w="12700">
            <a:solidFill>
              <a:srgbClr val="16A34A"/>
            </a:solidFill>
            <a:prstDash val="solid"/>
          </a:ln>
        </p:spPr>
      </p:sp>
      <p:sp>
        <p:nvSpPr>
          <p:cNvPr id="23" name="Text 20"/>
          <p:cNvSpPr/>
          <p:nvPr/>
        </p:nvSpPr>
        <p:spPr>
          <a:xfrm>
            <a:off x="5989320" y="2655736"/>
            <a:ext cx="914400" cy="320040"/>
          </a:xfrm>
          <a:prstGeom prst="rect">
            <a:avLst/>
          </a:prstGeom>
          <a:noFill/>
          <a:ln/>
        </p:spPr>
        <p:txBody>
          <a:bodyPr wrap="square" lIns="0" tIns="0" rIns="0" bIns="0"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520</a:t>
            </a:r>
            <a:endParaRPr lang="en-US" sz="850" dirty="0"/>
          </a:p>
          <a:p>
            <a:pPr marL="0" indent="0" algn="ctr">
              <a:buNone/>
            </a:pPr>
            <a:r>
              <a:rPr lang="en-US" sz="850" b="1" dirty="0">
                <a:solidFill>
                  <a:srgbClr val="16A34A"/>
                </a:solidFill>
                <a:latin typeface="Calibri" pitchFamily="34" charset="0"/>
                <a:ea typeface="Calibri" pitchFamily="34" charset="-122"/>
                <a:cs typeface="Calibri" pitchFamily="34" charset="-120"/>
              </a:rPr>
              <a:t>kg/ha</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Fert. X</a:t>
            </a:r>
            <a:endParaRPr lang="en-US" sz="850" dirty="0"/>
          </a:p>
        </p:txBody>
      </p:sp>
      <p:sp>
        <p:nvSpPr>
          <p:cNvPr id="25" name="Shape 22"/>
          <p:cNvSpPr/>
          <p:nvPr/>
        </p:nvSpPr>
        <p:spPr>
          <a:xfrm>
            <a:off x="7406640" y="3050319"/>
            <a:ext cx="914400" cy="1475961"/>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730279"/>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495</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kg/ha</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Fert. Y</a:t>
            </a:r>
            <a:endParaRPr lang="en-US" sz="850" dirty="0"/>
          </a:p>
        </p:txBody>
      </p:sp>
      <p:sp>
        <p:nvSpPr>
          <p:cNvPr id="28" name="Shape 25"/>
          <p:cNvSpPr/>
          <p:nvPr/>
        </p:nvSpPr>
        <p:spPr>
          <a:xfrm>
            <a:off x="0" y="5029200"/>
            <a:ext cx="9144000" cy="118872"/>
          </a:xfrm>
          <a:prstGeom prst="rect">
            <a:avLst/>
          </a:prstGeom>
          <a:solidFill>
            <a:srgbClr val="16A34A"/>
          </a:solidFill>
          <a:ln w="12700">
            <a:solidFill>
              <a:srgbClr val="16A34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EA580C"/>
          </a:solidFill>
          <a:ln w="12700">
            <a:solidFill>
              <a:srgbClr val="EA580C"/>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04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Manufacturing : Quality Control</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 factory runs two production lines making the same metal part and both should measure exactly 10.00 mm. The quality manager suspects Line 2 is producing slightly off-size parts. They measure samples from both lines to check if the difference is real or just normal variation.</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In manufacturing, even a 0.03 mm difference can cause product failures. The Z-test is a standard quality engineering tool as it tells engineers whether the difference between two production lines is just normal random variation, or whether it signals a real calibration problem requiring immediate action before defective parts reach customers.</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A significant Z-value stops Line 2 immediately for recalibration by preventing thousands of defective parts from reaching customers and avoiding costly recalls.</a:t>
            </a:r>
            <a:endParaRPr lang="en-US" sz="950" dirty="0"/>
          </a:p>
        </p:txBody>
      </p:sp>
      <p:sp>
        <p:nvSpPr>
          <p:cNvPr id="16" name="Shape 13"/>
          <p:cNvSpPr/>
          <p:nvPr/>
        </p:nvSpPr>
        <p:spPr>
          <a:xfrm>
            <a:off x="5715000" y="914400"/>
            <a:ext cx="3154680" cy="594360"/>
          </a:xfrm>
          <a:prstGeom prst="roundRect">
            <a:avLst>
              <a:gd name="adj" fmla="val 10769"/>
            </a:avLst>
          </a:prstGeom>
          <a:solidFill>
            <a:srgbClr val="EA580C"/>
          </a:solidFill>
          <a:ln w="12700">
            <a:solidFill>
              <a:srgbClr val="EA580C"/>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Line 1: n=80, Mean=10.02 mm, σ=0.05</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Line 2: n=75, Mean=10.05 mm, σ=0.06</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2980404"/>
            <a:ext cx="914400" cy="1545876"/>
          </a:xfrm>
          <a:prstGeom prst="roundRect">
            <a:avLst>
              <a:gd name="adj" fmla="val 4000"/>
            </a:avLst>
          </a:prstGeom>
          <a:solidFill>
            <a:srgbClr val="EA580C"/>
          </a:solidFill>
          <a:ln w="12700">
            <a:solidFill>
              <a:srgbClr val="EA580C"/>
            </a:solidFill>
            <a:prstDash val="solid"/>
          </a:ln>
        </p:spPr>
      </p:sp>
      <p:sp>
        <p:nvSpPr>
          <p:cNvPr id="23" name="Text 20"/>
          <p:cNvSpPr/>
          <p:nvPr/>
        </p:nvSpPr>
        <p:spPr>
          <a:xfrm>
            <a:off x="5989320" y="2660364"/>
            <a:ext cx="914400" cy="320040"/>
          </a:xfrm>
          <a:prstGeom prst="rect">
            <a:avLst/>
          </a:prstGeom>
          <a:noFill/>
          <a:ln/>
        </p:spPr>
        <p:txBody>
          <a:bodyPr wrap="square" lIns="0" tIns="0" rIns="0" bIns="0" rtlCol="0" anchor="ctr"/>
          <a:lstStyle/>
          <a:p>
            <a:pPr marL="0" indent="0" algn="ctr">
              <a:buNone/>
            </a:pPr>
            <a:r>
              <a:rPr lang="en-US" sz="850" b="1" dirty="0">
                <a:solidFill>
                  <a:srgbClr val="EA580C"/>
                </a:solidFill>
                <a:latin typeface="Calibri" pitchFamily="34" charset="0"/>
                <a:ea typeface="Calibri" pitchFamily="34" charset="-122"/>
                <a:cs typeface="Calibri" pitchFamily="34" charset="-120"/>
              </a:rPr>
              <a:t>10.02</a:t>
            </a:r>
            <a:endParaRPr lang="en-US" sz="850" dirty="0"/>
          </a:p>
          <a:p>
            <a:pPr marL="0" indent="0" algn="ctr">
              <a:buNone/>
            </a:pPr>
            <a:r>
              <a:rPr lang="en-US" sz="850" b="1" dirty="0">
                <a:solidFill>
                  <a:srgbClr val="EA580C"/>
                </a:solidFill>
                <a:latin typeface="Calibri" pitchFamily="34" charset="0"/>
                <a:ea typeface="Calibri" pitchFamily="34" charset="-122"/>
                <a:cs typeface="Calibri" pitchFamily="34" charset="-120"/>
              </a:rPr>
              <a:t>mm</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Line 1</a:t>
            </a:r>
            <a:endParaRPr lang="en-US" sz="850" dirty="0"/>
          </a:p>
        </p:txBody>
      </p:sp>
      <p:sp>
        <p:nvSpPr>
          <p:cNvPr id="25" name="Shape 22"/>
          <p:cNvSpPr/>
          <p:nvPr/>
        </p:nvSpPr>
        <p:spPr>
          <a:xfrm>
            <a:off x="7406640" y="2975776"/>
            <a:ext cx="914400" cy="1550504"/>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655736"/>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10.05</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mm</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Line 2</a:t>
            </a:r>
            <a:endParaRPr lang="en-US" sz="850" dirty="0"/>
          </a:p>
        </p:txBody>
      </p:sp>
      <p:sp>
        <p:nvSpPr>
          <p:cNvPr id="28" name="Shape 25"/>
          <p:cNvSpPr/>
          <p:nvPr/>
        </p:nvSpPr>
        <p:spPr>
          <a:xfrm>
            <a:off x="0" y="5029200"/>
            <a:ext cx="9144000" cy="118872"/>
          </a:xfrm>
          <a:prstGeom prst="rect">
            <a:avLst/>
          </a:prstGeom>
          <a:solidFill>
            <a:srgbClr val="EA580C"/>
          </a:solidFill>
          <a:ln w="12700">
            <a:solidFill>
              <a:srgbClr val="EA580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DB2777"/>
          </a:solidFill>
          <a:ln w="12700">
            <a:solidFill>
              <a:srgbClr val="DB2777"/>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05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Marketing : Which Ad Campaign Wins?</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An e-commerce company runs two ad campaigns, Campaign A uses emotional storytelling, Campaign B uses discount offers. They track the average spending of customers who came through each campaign to find out which one gets customers to spend more.</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Companies spend millions on advertising and need to know what actually works. A/B testing with a Z-test is the industry standard and it scientifically determines whether one strategy outperforms another. With large independent customer samples and known spending deviations, the two-sample Z-test removes all guesswork from the budget decision.</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A significant result means doubling Campaign A's budget is a data-backed business decision — not just a gut feeling from the marketing team.</a:t>
            </a:r>
            <a:endParaRPr lang="en-US" sz="950" dirty="0"/>
          </a:p>
        </p:txBody>
      </p:sp>
      <p:sp>
        <p:nvSpPr>
          <p:cNvPr id="16" name="Shape 13"/>
          <p:cNvSpPr/>
          <p:nvPr/>
        </p:nvSpPr>
        <p:spPr>
          <a:xfrm>
            <a:off x="5715000" y="914400"/>
            <a:ext cx="3154680" cy="594360"/>
          </a:xfrm>
          <a:prstGeom prst="roundRect">
            <a:avLst>
              <a:gd name="adj" fmla="val 10769"/>
            </a:avLst>
          </a:prstGeom>
          <a:solidFill>
            <a:srgbClr val="DB2777"/>
          </a:solidFill>
          <a:ln w="12700">
            <a:solidFill>
              <a:srgbClr val="DB2777"/>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Campaign A: n=120, Mean=$85, σ=$20</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Campaign B: n=110, Mean=$78, σ=$18</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2975776"/>
            <a:ext cx="914400" cy="1550504"/>
          </a:xfrm>
          <a:prstGeom prst="roundRect">
            <a:avLst>
              <a:gd name="adj" fmla="val 4000"/>
            </a:avLst>
          </a:prstGeom>
          <a:solidFill>
            <a:srgbClr val="DB2777"/>
          </a:solidFill>
          <a:ln w="12700">
            <a:solidFill>
              <a:srgbClr val="DB2777"/>
            </a:solidFill>
            <a:prstDash val="solid"/>
          </a:ln>
        </p:spPr>
      </p:sp>
      <p:sp>
        <p:nvSpPr>
          <p:cNvPr id="23" name="Text 20"/>
          <p:cNvSpPr/>
          <p:nvPr/>
        </p:nvSpPr>
        <p:spPr>
          <a:xfrm>
            <a:off x="5989320" y="2655736"/>
            <a:ext cx="914400" cy="320040"/>
          </a:xfrm>
          <a:prstGeom prst="rect">
            <a:avLst/>
          </a:prstGeom>
          <a:noFill/>
          <a:ln/>
        </p:spPr>
        <p:txBody>
          <a:bodyPr wrap="square" lIns="0" tIns="0" rIns="0" bIns="0" rtlCol="0" anchor="ctr"/>
          <a:lstStyle/>
          <a:p>
            <a:pPr marL="0" indent="0" algn="ctr">
              <a:buNone/>
            </a:pPr>
            <a:r>
              <a:rPr lang="en-US" sz="850" b="1" dirty="0">
                <a:solidFill>
                  <a:srgbClr val="DB2777"/>
                </a:solidFill>
                <a:latin typeface="Calibri" pitchFamily="34" charset="0"/>
                <a:ea typeface="Calibri" pitchFamily="34" charset="-122"/>
                <a:cs typeface="Calibri" pitchFamily="34" charset="-120"/>
              </a:rPr>
              <a:t>85</a:t>
            </a:r>
            <a:endParaRPr lang="en-US" sz="850" dirty="0"/>
          </a:p>
          <a:p>
            <a:pPr marL="0" indent="0" algn="ctr">
              <a:buNone/>
            </a:pPr>
            <a:r>
              <a:rPr lang="en-US" sz="850" b="1" dirty="0">
                <a:solidFill>
                  <a:srgbClr val="DB2777"/>
                </a:solidFill>
                <a:latin typeface="Calibri" pitchFamily="34" charset="0"/>
                <a:ea typeface="Calibri" pitchFamily="34" charset="-122"/>
                <a:cs typeface="Calibri" pitchFamily="34" charset="-120"/>
              </a:rPr>
              <a:t>$</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Camp. A</a:t>
            </a:r>
            <a:endParaRPr lang="en-US" sz="850" dirty="0"/>
          </a:p>
        </p:txBody>
      </p:sp>
      <p:sp>
        <p:nvSpPr>
          <p:cNvPr id="25" name="Shape 22"/>
          <p:cNvSpPr/>
          <p:nvPr/>
        </p:nvSpPr>
        <p:spPr>
          <a:xfrm>
            <a:off x="7406640" y="3103464"/>
            <a:ext cx="914400" cy="1422816"/>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783424"/>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78</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Camp. B</a:t>
            </a:r>
            <a:endParaRPr lang="en-US" sz="850" dirty="0"/>
          </a:p>
        </p:txBody>
      </p:sp>
      <p:sp>
        <p:nvSpPr>
          <p:cNvPr id="28" name="Shape 25"/>
          <p:cNvSpPr/>
          <p:nvPr/>
        </p:nvSpPr>
        <p:spPr>
          <a:xfrm>
            <a:off x="0" y="5029200"/>
            <a:ext cx="9144000" cy="118872"/>
          </a:xfrm>
          <a:prstGeom prst="rect">
            <a:avLst/>
          </a:prstGeom>
          <a:solidFill>
            <a:srgbClr val="DB2777"/>
          </a:solidFill>
          <a:ln w="12700">
            <a:solidFill>
              <a:srgbClr val="DB277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Shape 1"/>
          <p:cNvSpPr/>
          <p:nvPr/>
        </p:nvSpPr>
        <p:spPr>
          <a:xfrm>
            <a:off x="228600" y="91440"/>
            <a:ext cx="640080" cy="640080"/>
          </a:xfrm>
          <a:prstGeom prst="ellipse">
            <a:avLst/>
          </a:prstGeom>
          <a:solidFill>
            <a:srgbClr val="0D9488"/>
          </a:solidFill>
          <a:ln w="12700">
            <a:solidFill>
              <a:srgbClr val="0D9488"/>
            </a:solidFill>
            <a:prstDash val="solid"/>
          </a:ln>
        </p:spPr>
      </p:sp>
      <p:pic>
        <p:nvPicPr>
          <p:cNvPr id="4" name="Image 0" descr="preencoded.png"/>
          <p:cNvPicPr>
            <a:picLocks noChangeAspect="1"/>
          </p:cNvPicPr>
          <p:nvPr/>
        </p:nvPicPr>
        <p:blipFill>
          <a:blip r:embed="rId3"/>
          <a:stretch>
            <a:fillRect/>
          </a:stretch>
        </p:blipFill>
        <p:spPr>
          <a:xfrm>
            <a:off x="329184" y="182880"/>
            <a:ext cx="438912" cy="438912"/>
          </a:xfrm>
          <a:prstGeom prst="rect">
            <a:avLst/>
          </a:prstGeom>
        </p:spPr>
      </p:pic>
      <p:sp>
        <p:nvSpPr>
          <p:cNvPr id="5" name="Text 2"/>
          <p:cNvSpPr/>
          <p:nvPr/>
        </p:nvSpPr>
        <p:spPr>
          <a:xfrm>
            <a:off x="987552" y="36576"/>
            <a:ext cx="36576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Application 06  🔬</a:t>
            </a:r>
            <a:endParaRPr lang="en-US" sz="950" dirty="0"/>
          </a:p>
        </p:txBody>
      </p:sp>
      <p:sp>
        <p:nvSpPr>
          <p:cNvPr id="6" name="Text 3"/>
          <p:cNvSpPr/>
          <p:nvPr/>
        </p:nvSpPr>
        <p:spPr>
          <a:xfrm>
            <a:off x="987552" y="320040"/>
            <a:ext cx="7955280" cy="438912"/>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Research : Lab Measurement Accuracy</a:t>
            </a:r>
            <a:endParaRPr lang="en-US" sz="1900" dirty="0"/>
          </a:p>
        </p:txBody>
      </p:sp>
      <p:sp>
        <p:nvSpPr>
          <p:cNvPr id="7" name="Shape 4"/>
          <p:cNvSpPr/>
          <p:nvPr/>
        </p:nvSpPr>
        <p:spPr>
          <a:xfrm>
            <a:off x="274320" y="914400"/>
            <a:ext cx="5303520" cy="1325880"/>
          </a:xfrm>
          <a:prstGeom prst="roundRect">
            <a:avLst>
              <a:gd name="adj" fmla="val 4828"/>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8" name="Text 5"/>
          <p:cNvSpPr/>
          <p:nvPr/>
        </p:nvSpPr>
        <p:spPr>
          <a:xfrm>
            <a:off x="411480" y="932688"/>
            <a:ext cx="50292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What Happened?</a:t>
            </a:r>
            <a:endParaRPr lang="en-US" sz="950" dirty="0"/>
          </a:p>
        </p:txBody>
      </p:sp>
      <p:sp>
        <p:nvSpPr>
          <p:cNvPr id="9" name="Text 6"/>
          <p:cNvSpPr/>
          <p:nvPr/>
        </p:nvSpPr>
        <p:spPr>
          <a:xfrm>
            <a:off x="411480" y="118872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Two laboratories independently measure the concentration of the same chemical compound. Regulatory authorities compare their results to check if both labs are producing consistent, reliable readings or if one lab has a calibration problem.</a:t>
            </a:r>
            <a:endParaRPr lang="en-US" sz="950" dirty="0"/>
          </a:p>
        </p:txBody>
      </p:sp>
      <p:sp>
        <p:nvSpPr>
          <p:cNvPr id="10" name="Shape 7"/>
          <p:cNvSpPr/>
          <p:nvPr/>
        </p:nvSpPr>
        <p:spPr>
          <a:xfrm>
            <a:off x="274320" y="2331720"/>
            <a:ext cx="5303520" cy="1325880"/>
          </a:xfrm>
          <a:prstGeom prst="roundRect">
            <a:avLst>
              <a:gd name="adj" fmla="val 4828"/>
            </a:avLst>
          </a:prstGeom>
          <a:solidFill>
            <a:srgbClr val="E8F4F8"/>
          </a:solidFill>
          <a:ln w="6350">
            <a:solidFill>
              <a:srgbClr val="CBD5E1"/>
            </a:solidFill>
            <a:prstDash val="solid"/>
          </a:ln>
        </p:spPr>
      </p:sp>
      <p:sp>
        <p:nvSpPr>
          <p:cNvPr id="11" name="Text 8"/>
          <p:cNvSpPr/>
          <p:nvPr/>
        </p:nvSpPr>
        <p:spPr>
          <a:xfrm>
            <a:off x="411480" y="2350008"/>
            <a:ext cx="5029200" cy="256032"/>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  Why Use the Z-Test Here?</a:t>
            </a:r>
            <a:endParaRPr lang="en-US" sz="950" dirty="0"/>
          </a:p>
        </p:txBody>
      </p:sp>
      <p:sp>
        <p:nvSpPr>
          <p:cNvPr id="12" name="Text 9"/>
          <p:cNvSpPr/>
          <p:nvPr/>
        </p:nvSpPr>
        <p:spPr>
          <a:xfrm>
            <a:off x="411480" y="2606040"/>
            <a:ext cx="5029200" cy="102412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Scientific research depends on reproducibility. If two labs measure the same thing and get different answers, there is a problem. Regulatory bodies use Z-tests to formally test whether the difference between two labs is just normal measurement error or whether it reveals a systematic flaw in instruments, calibration, or laboratory procedures.</a:t>
            </a:r>
            <a:endParaRPr lang="en-US" sz="950" dirty="0"/>
          </a:p>
        </p:txBody>
      </p:sp>
      <p:sp>
        <p:nvSpPr>
          <p:cNvPr id="13" name="Shape 10"/>
          <p:cNvSpPr/>
          <p:nvPr/>
        </p:nvSpPr>
        <p:spPr>
          <a:xfrm>
            <a:off x="274320" y="3749040"/>
            <a:ext cx="5303520" cy="1325880"/>
          </a:xfrm>
          <a:prstGeom prst="roundRect">
            <a:avLst>
              <a:gd name="adj" fmla="val 4828"/>
            </a:avLst>
          </a:prstGeom>
          <a:solidFill>
            <a:srgbClr val="FFF7ED"/>
          </a:solidFill>
          <a:ln w="15240">
            <a:solidFill>
              <a:srgbClr val="F59E0B"/>
            </a:solidFill>
            <a:prstDash val="solid"/>
          </a:ln>
        </p:spPr>
      </p:sp>
      <p:sp>
        <p:nvSpPr>
          <p:cNvPr id="14" name="Text 11"/>
          <p:cNvSpPr/>
          <p:nvPr/>
        </p:nvSpPr>
        <p:spPr>
          <a:xfrm>
            <a:off x="411480" y="3767328"/>
            <a:ext cx="5029200" cy="256032"/>
          </a:xfrm>
          <a:prstGeom prst="rect">
            <a:avLst/>
          </a:prstGeom>
          <a:noFill/>
          <a:ln/>
        </p:spPr>
        <p:txBody>
          <a:bodyPr wrap="square" lIns="0" tIns="0" rIns="0" bIns="0" rtlCol="0" anchor="ctr"/>
          <a:lstStyle/>
          <a:p>
            <a:pPr marL="0" indent="0">
              <a:buNone/>
            </a:pPr>
            <a:r>
              <a:rPr lang="en-US" sz="950" b="1" dirty="0">
                <a:solidFill>
                  <a:srgbClr val="92400E"/>
                </a:solidFill>
                <a:latin typeface="Calibri" pitchFamily="34" charset="0"/>
                <a:ea typeface="Calibri" pitchFamily="34" charset="-122"/>
                <a:cs typeface="Calibri" pitchFamily="34" charset="-120"/>
              </a:rPr>
              <a:t>🔑  Key Insight</a:t>
            </a:r>
            <a:endParaRPr lang="en-US" sz="950" dirty="0"/>
          </a:p>
        </p:txBody>
      </p:sp>
      <p:sp>
        <p:nvSpPr>
          <p:cNvPr id="15" name="Text 12"/>
          <p:cNvSpPr/>
          <p:nvPr/>
        </p:nvSpPr>
        <p:spPr>
          <a:xfrm>
            <a:off x="411480" y="4023360"/>
            <a:ext cx="5029200" cy="1005840"/>
          </a:xfrm>
          <a:prstGeom prst="rect">
            <a:avLst/>
          </a:prstGeom>
          <a:noFill/>
          <a:ln/>
        </p:spPr>
        <p:txBody>
          <a:bodyPr wrap="square" lIns="0" tIns="0" rIns="0" bIns="0" rtlCol="0" anchor="ctr"/>
          <a:lstStyle/>
          <a:p>
            <a:pPr marL="0" indent="0">
              <a:buNone/>
            </a:pPr>
            <a:r>
              <a:rPr lang="en-US" sz="950" dirty="0">
                <a:solidFill>
                  <a:srgbClr val="92400E"/>
                </a:solidFill>
                <a:latin typeface="Calibri" pitchFamily="34" charset="0"/>
                <a:ea typeface="Calibri" pitchFamily="34" charset="-122"/>
                <a:cs typeface="Calibri" pitchFamily="34" charset="-120"/>
              </a:rPr>
              <a:t>A significant Z-value triggers a formal investigation. Instruments are re-checked, procedures reviewed, and lab certification may be suspended until the issue is resolved.</a:t>
            </a:r>
            <a:endParaRPr lang="en-US" sz="950" dirty="0"/>
          </a:p>
        </p:txBody>
      </p:sp>
      <p:sp>
        <p:nvSpPr>
          <p:cNvPr id="16" name="Shape 13"/>
          <p:cNvSpPr/>
          <p:nvPr/>
        </p:nvSpPr>
        <p:spPr>
          <a:xfrm>
            <a:off x="5715000" y="914400"/>
            <a:ext cx="3154680" cy="594360"/>
          </a:xfrm>
          <a:prstGeom prst="roundRect">
            <a:avLst>
              <a:gd name="adj" fmla="val 10769"/>
            </a:avLst>
          </a:prstGeom>
          <a:solidFill>
            <a:srgbClr val="0D9488"/>
          </a:solidFill>
          <a:ln w="12700">
            <a:solidFill>
              <a:srgbClr val="0D9488"/>
            </a:solidFill>
            <a:prstDash val="solid"/>
          </a:ln>
          <a:effectLst>
            <a:outerShdw blurRad="76200" dist="25400" dir="2700000" algn="bl" rotWithShape="0">
              <a:srgbClr val="000000">
                <a:alpha val="10000"/>
              </a:srgbClr>
            </a:outerShdw>
          </a:effectLst>
        </p:spPr>
      </p:sp>
      <p:sp>
        <p:nvSpPr>
          <p:cNvPr id="17" name="Text 14"/>
          <p:cNvSpPr/>
          <p:nvPr/>
        </p:nvSpPr>
        <p:spPr>
          <a:xfrm>
            <a:off x="5806440" y="9144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1  →  Lab 1: n=50, Mean=14.8 mg/L, σ=1.2</a:t>
            </a:r>
            <a:endParaRPr lang="en-US" sz="950" dirty="0"/>
          </a:p>
        </p:txBody>
      </p:sp>
      <p:sp>
        <p:nvSpPr>
          <p:cNvPr id="18" name="Shape 15"/>
          <p:cNvSpPr/>
          <p:nvPr/>
        </p:nvSpPr>
        <p:spPr>
          <a:xfrm>
            <a:off x="5715000" y="1600200"/>
            <a:ext cx="3154680" cy="594360"/>
          </a:xfrm>
          <a:prstGeom prst="roundRect">
            <a:avLst>
              <a:gd name="adj" fmla="val 10769"/>
            </a:avLst>
          </a:prstGeom>
          <a:solidFill>
            <a:srgbClr val="1B2A4A"/>
          </a:solidFill>
          <a:ln w="12700">
            <a:solidFill>
              <a:srgbClr val="1B2A4A"/>
            </a:solidFill>
            <a:prstDash val="solid"/>
          </a:ln>
          <a:effectLst>
            <a:outerShdw blurRad="76200" dist="25400" dir="2700000" algn="bl" rotWithShape="0">
              <a:srgbClr val="000000">
                <a:alpha val="10000"/>
              </a:srgbClr>
            </a:outerShdw>
          </a:effectLst>
        </p:spPr>
      </p:sp>
      <p:sp>
        <p:nvSpPr>
          <p:cNvPr id="19" name="Text 16"/>
          <p:cNvSpPr/>
          <p:nvPr/>
        </p:nvSpPr>
        <p:spPr>
          <a:xfrm>
            <a:off x="5806440" y="1600200"/>
            <a:ext cx="29718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Group 2  →  Lab 2: n=55, Mean=15.3 mg/L, σ=1.5</a:t>
            </a:r>
            <a:endParaRPr lang="en-US" sz="950" dirty="0"/>
          </a:p>
        </p:txBody>
      </p:sp>
      <p:sp>
        <p:nvSpPr>
          <p:cNvPr id="20" name="Shape 17"/>
          <p:cNvSpPr/>
          <p:nvPr/>
        </p:nvSpPr>
        <p:spPr>
          <a:xfrm>
            <a:off x="5715000" y="2331720"/>
            <a:ext cx="3154680" cy="2560320"/>
          </a:xfrm>
          <a:prstGeom prst="roundRect">
            <a:avLst>
              <a:gd name="adj" fmla="val 2500"/>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21" name="Text 18"/>
          <p:cNvSpPr/>
          <p:nvPr/>
        </p:nvSpPr>
        <p:spPr>
          <a:xfrm>
            <a:off x="5824728" y="2404872"/>
            <a:ext cx="2926080" cy="256032"/>
          </a:xfrm>
          <a:prstGeom prst="rect">
            <a:avLst/>
          </a:prstGeom>
          <a:noFill/>
          <a:ln/>
        </p:spPr>
        <p:txBody>
          <a:bodyPr wrap="square" lIns="0" tIns="0" rIns="0" bIns="0" rtlCol="0" anchor="ctr"/>
          <a:lstStyle/>
          <a:p>
            <a:pPr marL="0" indent="0" algn="ctr">
              <a:buNone/>
            </a:pPr>
            <a:r>
              <a:rPr lang="en-US" sz="900" b="1" dirty="0">
                <a:solidFill>
                  <a:srgbClr val="1B2A4A"/>
                </a:solidFill>
                <a:latin typeface="Calibri" pitchFamily="34" charset="0"/>
                <a:ea typeface="Calibri" pitchFamily="34" charset="-122"/>
                <a:cs typeface="Calibri" pitchFamily="34" charset="-120"/>
              </a:rPr>
              <a:t>📊  Visual Comparison</a:t>
            </a:r>
            <a:endParaRPr lang="en-US" sz="900" dirty="0"/>
          </a:p>
        </p:txBody>
      </p:sp>
      <p:sp>
        <p:nvSpPr>
          <p:cNvPr id="22" name="Shape 19"/>
          <p:cNvSpPr/>
          <p:nvPr/>
        </p:nvSpPr>
        <p:spPr>
          <a:xfrm>
            <a:off x="5989320" y="3026446"/>
            <a:ext cx="914400" cy="1499834"/>
          </a:xfrm>
          <a:prstGeom prst="roundRect">
            <a:avLst>
              <a:gd name="adj" fmla="val 4000"/>
            </a:avLst>
          </a:prstGeom>
          <a:solidFill>
            <a:srgbClr val="0D9488"/>
          </a:solidFill>
          <a:ln w="12700">
            <a:solidFill>
              <a:srgbClr val="0D9488"/>
            </a:solidFill>
            <a:prstDash val="solid"/>
          </a:ln>
        </p:spPr>
      </p:sp>
      <p:sp>
        <p:nvSpPr>
          <p:cNvPr id="23" name="Text 20"/>
          <p:cNvSpPr/>
          <p:nvPr/>
        </p:nvSpPr>
        <p:spPr>
          <a:xfrm>
            <a:off x="5989320" y="2706406"/>
            <a:ext cx="914400" cy="320040"/>
          </a:xfrm>
          <a:prstGeom prst="rect">
            <a:avLst/>
          </a:prstGeom>
          <a:noFill/>
          <a:ln/>
        </p:spPr>
        <p:txBody>
          <a:bodyPr wrap="square" lIns="0" tIns="0" rIns="0" bIns="0" rtlCol="0" anchor="ctr"/>
          <a:lstStyle/>
          <a:p>
            <a:pPr marL="0" indent="0" algn="ctr">
              <a:buNone/>
            </a:pPr>
            <a:r>
              <a:rPr lang="en-US" sz="850" b="1" dirty="0">
                <a:solidFill>
                  <a:srgbClr val="0D9488"/>
                </a:solidFill>
                <a:latin typeface="Calibri" pitchFamily="34" charset="0"/>
                <a:ea typeface="Calibri" pitchFamily="34" charset="-122"/>
                <a:cs typeface="Calibri" pitchFamily="34" charset="-120"/>
              </a:rPr>
              <a:t>14.8</a:t>
            </a:r>
            <a:endParaRPr lang="en-US" sz="850" dirty="0"/>
          </a:p>
          <a:p>
            <a:pPr marL="0" indent="0" algn="ctr">
              <a:buNone/>
            </a:pPr>
            <a:r>
              <a:rPr lang="en-US" sz="850" b="1" dirty="0">
                <a:solidFill>
                  <a:srgbClr val="0D9488"/>
                </a:solidFill>
                <a:latin typeface="Calibri" pitchFamily="34" charset="0"/>
                <a:ea typeface="Calibri" pitchFamily="34" charset="-122"/>
                <a:cs typeface="Calibri" pitchFamily="34" charset="-120"/>
              </a:rPr>
              <a:t>mg/L</a:t>
            </a:r>
            <a:endParaRPr lang="en-US" sz="850" dirty="0"/>
          </a:p>
        </p:txBody>
      </p:sp>
      <p:sp>
        <p:nvSpPr>
          <p:cNvPr id="24" name="Text 21"/>
          <p:cNvSpPr/>
          <p:nvPr/>
        </p:nvSpPr>
        <p:spPr>
          <a:xfrm>
            <a:off x="598932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Lab 1</a:t>
            </a:r>
            <a:endParaRPr lang="en-US" sz="850" dirty="0"/>
          </a:p>
        </p:txBody>
      </p:sp>
      <p:sp>
        <p:nvSpPr>
          <p:cNvPr id="25" name="Shape 22"/>
          <p:cNvSpPr/>
          <p:nvPr/>
        </p:nvSpPr>
        <p:spPr>
          <a:xfrm>
            <a:off x="7406640" y="2975776"/>
            <a:ext cx="914400" cy="1550504"/>
          </a:xfrm>
          <a:prstGeom prst="roundRect">
            <a:avLst>
              <a:gd name="adj" fmla="val 4000"/>
            </a:avLst>
          </a:prstGeom>
          <a:solidFill>
            <a:srgbClr val="1B2A4A"/>
          </a:solidFill>
          <a:ln w="12700">
            <a:solidFill>
              <a:srgbClr val="1B2A4A"/>
            </a:solidFill>
            <a:prstDash val="solid"/>
          </a:ln>
        </p:spPr>
      </p:sp>
      <p:sp>
        <p:nvSpPr>
          <p:cNvPr id="26" name="Text 23"/>
          <p:cNvSpPr/>
          <p:nvPr/>
        </p:nvSpPr>
        <p:spPr>
          <a:xfrm>
            <a:off x="7406640" y="2655736"/>
            <a:ext cx="914400" cy="320040"/>
          </a:xfrm>
          <a:prstGeom prst="rect">
            <a:avLst/>
          </a:prstGeom>
          <a:noFill/>
          <a:ln/>
        </p:spPr>
        <p:txBody>
          <a:bodyPr wrap="square" lIns="0" tIns="0" rIns="0" bIns="0" rtlCol="0" anchor="ctr"/>
          <a:lstStyle/>
          <a:p>
            <a:pPr marL="0" indent="0" algn="ctr">
              <a:buNone/>
            </a:pPr>
            <a:r>
              <a:rPr lang="en-US" sz="850" b="1" dirty="0">
                <a:solidFill>
                  <a:srgbClr val="1B2A4A"/>
                </a:solidFill>
                <a:latin typeface="Calibri" pitchFamily="34" charset="0"/>
                <a:ea typeface="Calibri" pitchFamily="34" charset="-122"/>
                <a:cs typeface="Calibri" pitchFamily="34" charset="-120"/>
              </a:rPr>
              <a:t>15.3</a:t>
            </a:r>
            <a:endParaRPr lang="en-US" sz="850" dirty="0"/>
          </a:p>
          <a:p>
            <a:pPr marL="0" indent="0" algn="ctr">
              <a:buNone/>
            </a:pPr>
            <a:r>
              <a:rPr lang="en-US" sz="850" b="1" dirty="0">
                <a:solidFill>
                  <a:srgbClr val="1B2A4A"/>
                </a:solidFill>
                <a:latin typeface="Calibri" pitchFamily="34" charset="0"/>
                <a:ea typeface="Calibri" pitchFamily="34" charset="-122"/>
                <a:cs typeface="Calibri" pitchFamily="34" charset="-120"/>
              </a:rPr>
              <a:t>mg/L</a:t>
            </a:r>
            <a:endParaRPr lang="en-US" sz="850" dirty="0"/>
          </a:p>
        </p:txBody>
      </p:sp>
      <p:sp>
        <p:nvSpPr>
          <p:cNvPr id="27" name="Text 24"/>
          <p:cNvSpPr/>
          <p:nvPr/>
        </p:nvSpPr>
        <p:spPr>
          <a:xfrm>
            <a:off x="7406640" y="4562856"/>
            <a:ext cx="914400" cy="2286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Lab 2</a:t>
            </a:r>
            <a:endParaRPr lang="en-US" sz="850" dirty="0"/>
          </a:p>
        </p:txBody>
      </p:sp>
      <p:sp>
        <p:nvSpPr>
          <p:cNvPr id="28" name="Shape 25"/>
          <p:cNvSpPr/>
          <p:nvPr/>
        </p:nvSpPr>
        <p:spPr>
          <a:xfrm>
            <a:off x="0" y="5029200"/>
            <a:ext cx="9144000" cy="118872"/>
          </a:xfrm>
          <a:prstGeom prst="rect">
            <a:avLst/>
          </a:prstGeom>
          <a:solidFill>
            <a:srgbClr val="0D9488"/>
          </a:solidFill>
          <a:ln w="12700">
            <a:solidFill>
              <a:srgbClr val="0D948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w="12700">
            <a:solidFill>
              <a:srgbClr val="1B2A4A"/>
            </a:solidFill>
            <a:prstDash val="solid"/>
          </a:ln>
        </p:spPr>
      </p:sp>
      <p:sp>
        <p:nvSpPr>
          <p:cNvPr id="3" name="Text 1"/>
          <p:cNvSpPr/>
          <p:nvPr/>
        </p:nvSpPr>
        <p:spPr>
          <a:xfrm>
            <a:off x="457200" y="45720"/>
            <a:ext cx="4114800" cy="292608"/>
          </a:xfrm>
          <a:prstGeom prst="rect">
            <a:avLst/>
          </a:prstGeom>
          <a:noFill/>
          <a:ln/>
        </p:spPr>
        <p:txBody>
          <a:bodyPr wrap="square" lIns="0" tIns="0" rIns="0" bIns="0" rtlCol="0" anchor="ctr"/>
          <a:lstStyle/>
          <a:p>
            <a:pPr marL="0" indent="0">
              <a:buNone/>
            </a:pPr>
            <a:r>
              <a:rPr lang="en-US" sz="950" kern="0" spc="120" dirty="0">
                <a:solidFill>
                  <a:srgbClr val="14B8A6"/>
                </a:solidFill>
                <a:latin typeface="Calibri" pitchFamily="34" charset="0"/>
                <a:ea typeface="Calibri" pitchFamily="34" charset="-122"/>
                <a:cs typeface="Calibri" pitchFamily="34" charset="-120"/>
              </a:rPr>
              <a:t>🧮  Solved Question 1</a:t>
            </a:r>
            <a:endParaRPr lang="en-US" sz="95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Do Two Schools Produce Different Exam Results?</a:t>
            </a:r>
            <a:endParaRPr lang="en-US" sz="2000" dirty="0"/>
          </a:p>
        </p:txBody>
      </p:sp>
      <p:sp>
        <p:nvSpPr>
          <p:cNvPr id="5" name="Shape 3"/>
          <p:cNvSpPr/>
          <p:nvPr/>
        </p:nvSpPr>
        <p:spPr>
          <a:xfrm>
            <a:off x="274320" y="914400"/>
            <a:ext cx="8595360" cy="987552"/>
          </a:xfrm>
          <a:prstGeom prst="roundRect">
            <a:avLst>
              <a:gd name="adj" fmla="val 6481"/>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6" name="Text 4"/>
          <p:cNvSpPr/>
          <p:nvPr/>
        </p:nvSpPr>
        <p:spPr>
          <a:xfrm>
            <a:off x="411480" y="932688"/>
            <a:ext cx="18288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Background</a:t>
            </a:r>
            <a:endParaRPr lang="en-US" sz="950" dirty="0"/>
          </a:p>
        </p:txBody>
      </p:sp>
      <p:sp>
        <p:nvSpPr>
          <p:cNvPr id="7" name="Text 5"/>
          <p:cNvSpPr/>
          <p:nvPr/>
        </p:nvSpPr>
        <p:spPr>
          <a:xfrm>
            <a:off x="411480" y="1188720"/>
            <a:ext cx="822960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 state education board wants to evaluate whether students from School A (project-based learning) perform differently from School B (conventional rote learning) on standardized tests. Random samples were drawn from both schools and scores on a 100-mark test were recorded. Since both samples are large and standard deviations are known, a two-sample Z-test is appropriate. We test at α = 0.05 using a two-tailed test because either school could potentially outperform the other.</a:t>
            </a:r>
            <a:endParaRPr lang="en-US" sz="950" dirty="0"/>
          </a:p>
        </p:txBody>
      </p:sp>
      <p:sp>
        <p:nvSpPr>
          <p:cNvPr id="8" name="Shape 6"/>
          <p:cNvSpPr/>
          <p:nvPr/>
        </p:nvSpPr>
        <p:spPr>
          <a:xfrm>
            <a:off x="274320" y="1965960"/>
            <a:ext cx="8595360" cy="457200"/>
          </a:xfrm>
          <a:prstGeom prst="roundRect">
            <a:avLst>
              <a:gd name="adj" fmla="val 14000"/>
            </a:avLst>
          </a:prstGeom>
          <a:solidFill>
            <a:srgbClr val="1B2A4A"/>
          </a:solidFill>
          <a:ln w="15240">
            <a:solidFill>
              <a:srgbClr val="0D9488"/>
            </a:solidFill>
            <a:prstDash val="solid"/>
          </a:ln>
        </p:spPr>
      </p:sp>
      <p:sp>
        <p:nvSpPr>
          <p:cNvPr id="9" name="Text 7"/>
          <p:cNvSpPr/>
          <p:nvPr/>
        </p:nvSpPr>
        <p:spPr>
          <a:xfrm>
            <a:off x="457200" y="1965960"/>
            <a:ext cx="8229600" cy="45720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Given: </a:t>
            </a:r>
            <a:r>
              <a:rPr lang="en-US" sz="1100" dirty="0">
                <a:solidFill>
                  <a:srgbClr val="FFFFFF"/>
                </a:solidFill>
                <a:latin typeface="Calibri" pitchFamily="34" charset="0"/>
                <a:ea typeface="Calibri" pitchFamily="34" charset="-122"/>
                <a:cs typeface="Calibri" pitchFamily="34" charset="-120"/>
              </a:rPr>
              <a:t>School A: n₁=40, x̄₁=75, σ₁=10     |     School B: n₂=45, x̄₂=70, σ₂=12     |     α = 0.05, Two-Tailed</a:t>
            </a:r>
            <a:endParaRPr lang="en-US" sz="1100" dirty="0"/>
          </a:p>
        </p:txBody>
      </p:sp>
      <p:sp>
        <p:nvSpPr>
          <p:cNvPr id="10" name="Shape 8"/>
          <p:cNvSpPr/>
          <p:nvPr/>
        </p:nvSpPr>
        <p:spPr>
          <a:xfrm>
            <a:off x="274320" y="2514600"/>
            <a:ext cx="8595360" cy="402336"/>
          </a:xfrm>
          <a:prstGeom prst="roundRect">
            <a:avLst>
              <a:gd name="adj" fmla="val 11364"/>
            </a:avLst>
          </a:prstGeom>
          <a:solidFill>
            <a:srgbClr val="FFFFFF"/>
          </a:solidFill>
          <a:ln w="6350">
            <a:solidFill>
              <a:srgbClr val="CBD5E1"/>
            </a:solidFill>
            <a:prstDash val="solid"/>
          </a:ln>
        </p:spPr>
      </p:sp>
      <p:sp>
        <p:nvSpPr>
          <p:cNvPr id="11" name="Text 9"/>
          <p:cNvSpPr/>
          <p:nvPr/>
        </p:nvSpPr>
        <p:spPr>
          <a:xfrm>
            <a:off x="411480" y="2514600"/>
            <a:ext cx="2011680" cy="402336"/>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Step 1 — Hypotheses</a:t>
            </a:r>
            <a:endParaRPr lang="en-US" sz="950" dirty="0"/>
          </a:p>
        </p:txBody>
      </p:sp>
      <p:sp>
        <p:nvSpPr>
          <p:cNvPr id="12" name="Text 10"/>
          <p:cNvSpPr/>
          <p:nvPr/>
        </p:nvSpPr>
        <p:spPr>
          <a:xfrm>
            <a:off x="2468880" y="25146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H₀: μ₁ = μ₂  (both schools perform equally)          H₁: μ₁ ≠ μ₂  (a real difference exists between the schools)</a:t>
            </a:r>
            <a:endParaRPr lang="en-US" sz="950" dirty="0"/>
          </a:p>
        </p:txBody>
      </p:sp>
      <p:sp>
        <p:nvSpPr>
          <p:cNvPr id="13" name="Shape 11"/>
          <p:cNvSpPr/>
          <p:nvPr/>
        </p:nvSpPr>
        <p:spPr>
          <a:xfrm>
            <a:off x="274320" y="2971800"/>
            <a:ext cx="8595360" cy="402336"/>
          </a:xfrm>
          <a:prstGeom prst="roundRect">
            <a:avLst>
              <a:gd name="adj" fmla="val 11364"/>
            </a:avLst>
          </a:prstGeom>
          <a:solidFill>
            <a:srgbClr val="FFFFFF"/>
          </a:solidFill>
          <a:ln w="6350">
            <a:solidFill>
              <a:srgbClr val="CBD5E1"/>
            </a:solidFill>
            <a:prstDash val="solid"/>
          </a:ln>
        </p:spPr>
      </p:sp>
      <p:sp>
        <p:nvSpPr>
          <p:cNvPr id="14" name="Text 12"/>
          <p:cNvSpPr/>
          <p:nvPr/>
        </p:nvSpPr>
        <p:spPr>
          <a:xfrm>
            <a:off x="411480" y="2971800"/>
            <a:ext cx="2011680" cy="402336"/>
          </a:xfrm>
          <a:prstGeom prst="rect">
            <a:avLst/>
          </a:prstGeom>
          <a:noFill/>
          <a:ln/>
        </p:spPr>
        <p:txBody>
          <a:bodyPr wrap="square" lIns="0" tIns="0" rIns="0" bIns="0"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Step 2 — Calculate Z</a:t>
            </a:r>
            <a:endParaRPr lang="en-US" sz="950" dirty="0"/>
          </a:p>
        </p:txBody>
      </p:sp>
      <p:sp>
        <p:nvSpPr>
          <p:cNvPr id="15" name="Text 13"/>
          <p:cNvSpPr/>
          <p:nvPr/>
        </p:nvSpPr>
        <p:spPr>
          <a:xfrm>
            <a:off x="2468880" y="29718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Z = (75−70) / √(10²/40 + 12²/45) = 5 / √(2.5 + 3.2) = 5 / √5.7 = 5 / 2.387 ≈ 2.09</a:t>
            </a:r>
            <a:endParaRPr lang="en-US" sz="950" dirty="0"/>
          </a:p>
        </p:txBody>
      </p:sp>
      <p:sp>
        <p:nvSpPr>
          <p:cNvPr id="16" name="Shape 14"/>
          <p:cNvSpPr/>
          <p:nvPr/>
        </p:nvSpPr>
        <p:spPr>
          <a:xfrm>
            <a:off x="274320" y="3429000"/>
            <a:ext cx="8595360" cy="402336"/>
          </a:xfrm>
          <a:prstGeom prst="roundRect">
            <a:avLst>
              <a:gd name="adj" fmla="val 11364"/>
            </a:avLst>
          </a:prstGeom>
          <a:solidFill>
            <a:srgbClr val="FFFFFF"/>
          </a:solidFill>
          <a:ln w="6350">
            <a:solidFill>
              <a:srgbClr val="CBD5E1"/>
            </a:solidFill>
            <a:prstDash val="solid"/>
          </a:ln>
        </p:spPr>
      </p:sp>
      <p:sp>
        <p:nvSpPr>
          <p:cNvPr id="17" name="Text 15"/>
          <p:cNvSpPr/>
          <p:nvPr/>
        </p:nvSpPr>
        <p:spPr>
          <a:xfrm>
            <a:off x="411480" y="3429000"/>
            <a:ext cx="2011680" cy="402336"/>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Step 3 — Critical Value</a:t>
            </a:r>
            <a:endParaRPr lang="en-US" sz="950" dirty="0"/>
          </a:p>
        </p:txBody>
      </p:sp>
      <p:sp>
        <p:nvSpPr>
          <p:cNvPr id="18" name="Text 16"/>
          <p:cNvSpPr/>
          <p:nvPr/>
        </p:nvSpPr>
        <p:spPr>
          <a:xfrm>
            <a:off x="2468880" y="34290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At α = 0.05, two-tailed test  →  Z_critical = ±1.96</a:t>
            </a:r>
            <a:endParaRPr lang="en-US" sz="950" dirty="0"/>
          </a:p>
        </p:txBody>
      </p:sp>
      <p:sp>
        <p:nvSpPr>
          <p:cNvPr id="19" name="Shape 17"/>
          <p:cNvSpPr/>
          <p:nvPr/>
        </p:nvSpPr>
        <p:spPr>
          <a:xfrm>
            <a:off x="274320" y="3886200"/>
            <a:ext cx="8595360" cy="402336"/>
          </a:xfrm>
          <a:prstGeom prst="roundRect">
            <a:avLst>
              <a:gd name="adj" fmla="val 11364"/>
            </a:avLst>
          </a:prstGeom>
          <a:solidFill>
            <a:srgbClr val="FFF7ED"/>
          </a:solidFill>
          <a:ln w="6350">
            <a:solidFill>
              <a:srgbClr val="CBD5E1"/>
            </a:solidFill>
            <a:prstDash val="solid"/>
          </a:ln>
        </p:spPr>
      </p:sp>
      <p:sp>
        <p:nvSpPr>
          <p:cNvPr id="20" name="Text 18"/>
          <p:cNvSpPr/>
          <p:nvPr/>
        </p:nvSpPr>
        <p:spPr>
          <a:xfrm>
            <a:off x="411480" y="3886200"/>
            <a:ext cx="2011680" cy="402336"/>
          </a:xfrm>
          <a:prstGeom prst="rect">
            <a:avLst/>
          </a:prstGeom>
          <a:noFill/>
          <a:ln/>
        </p:spPr>
        <p:txBody>
          <a:bodyPr wrap="square" lIns="0" tIns="0" rIns="0" bIns="0" rtlCol="0" anchor="ctr"/>
          <a:lstStyle/>
          <a:p>
            <a:pPr marL="0" indent="0">
              <a:buNone/>
            </a:pPr>
            <a:r>
              <a:rPr lang="en-US" sz="950" b="1" dirty="0">
                <a:solidFill>
                  <a:srgbClr val="DB2777"/>
                </a:solidFill>
                <a:latin typeface="Calibri" pitchFamily="34" charset="0"/>
                <a:ea typeface="Calibri" pitchFamily="34" charset="-122"/>
                <a:cs typeface="Calibri" pitchFamily="34" charset="-120"/>
              </a:rPr>
              <a:t>Step 4 — Decision</a:t>
            </a:r>
            <a:endParaRPr lang="en-US" sz="950" dirty="0"/>
          </a:p>
        </p:txBody>
      </p:sp>
      <p:sp>
        <p:nvSpPr>
          <p:cNvPr id="21" name="Text 19"/>
          <p:cNvSpPr/>
          <p:nvPr/>
        </p:nvSpPr>
        <p:spPr>
          <a:xfrm>
            <a:off x="2468880" y="38862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|Z_calc| = 2.09  &gt;  Z_critical = 1.96  →  We REJECT the null hypothesis H₀</a:t>
            </a:r>
            <a:endParaRPr lang="en-US" sz="950" dirty="0"/>
          </a:p>
        </p:txBody>
      </p:sp>
      <p:sp>
        <p:nvSpPr>
          <p:cNvPr id="22" name="Shape 20"/>
          <p:cNvSpPr/>
          <p:nvPr/>
        </p:nvSpPr>
        <p:spPr>
          <a:xfrm>
            <a:off x="274320" y="4343400"/>
            <a:ext cx="8595360" cy="402336"/>
          </a:xfrm>
          <a:prstGeom prst="roundRect">
            <a:avLst>
              <a:gd name="adj" fmla="val 11364"/>
            </a:avLst>
          </a:prstGeom>
          <a:solidFill>
            <a:srgbClr val="F0FDF4"/>
          </a:solidFill>
          <a:ln w="6350">
            <a:solidFill>
              <a:srgbClr val="CBD5E1"/>
            </a:solidFill>
            <a:prstDash val="solid"/>
          </a:ln>
        </p:spPr>
      </p:sp>
      <p:sp>
        <p:nvSpPr>
          <p:cNvPr id="23" name="Text 21"/>
          <p:cNvSpPr/>
          <p:nvPr/>
        </p:nvSpPr>
        <p:spPr>
          <a:xfrm>
            <a:off x="411480" y="4343400"/>
            <a:ext cx="2011680" cy="402336"/>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Step 5 — Conclusion</a:t>
            </a:r>
            <a:endParaRPr lang="en-US" sz="950" dirty="0"/>
          </a:p>
        </p:txBody>
      </p:sp>
      <p:sp>
        <p:nvSpPr>
          <p:cNvPr id="24" name="Text 22"/>
          <p:cNvSpPr/>
          <p:nvPr/>
        </p:nvSpPr>
        <p:spPr>
          <a:xfrm>
            <a:off x="2468880" y="43434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There is a statistically significant difference. School A students score measurably higher — this is not due to random chance.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9488"/>
          </a:solidFill>
          <a:ln w="12700">
            <a:solidFill>
              <a:srgbClr val="0D9488"/>
            </a:solidFill>
            <a:prstDash val="solid"/>
          </a:ln>
        </p:spPr>
      </p:sp>
      <p:sp>
        <p:nvSpPr>
          <p:cNvPr id="3" name="Text 1"/>
          <p:cNvSpPr/>
          <p:nvPr/>
        </p:nvSpPr>
        <p:spPr>
          <a:xfrm>
            <a:off x="457200" y="45720"/>
            <a:ext cx="4114800" cy="292608"/>
          </a:xfrm>
          <a:prstGeom prst="rect">
            <a:avLst/>
          </a:prstGeom>
          <a:noFill/>
          <a:ln/>
        </p:spPr>
        <p:txBody>
          <a:bodyPr wrap="square" lIns="0" tIns="0" rIns="0" bIns="0" rtlCol="0" anchor="ctr"/>
          <a:lstStyle/>
          <a:p>
            <a:pPr marL="0" indent="0">
              <a:buNone/>
            </a:pPr>
            <a:r>
              <a:rPr lang="en-US" sz="950" kern="0" spc="120" dirty="0">
                <a:solidFill>
                  <a:srgbClr val="CCFBF1"/>
                </a:solidFill>
                <a:latin typeface="Calibri" pitchFamily="34" charset="0"/>
                <a:ea typeface="Calibri" pitchFamily="34" charset="-122"/>
                <a:cs typeface="Calibri" pitchFamily="34" charset="-120"/>
              </a:rPr>
              <a:t>🧮  Solved Question 2</a:t>
            </a:r>
            <a:endParaRPr lang="en-US" sz="95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Is Machine A Producing More Units Than Machine B?</a:t>
            </a:r>
            <a:endParaRPr lang="en-US" sz="2000" dirty="0"/>
          </a:p>
        </p:txBody>
      </p:sp>
      <p:sp>
        <p:nvSpPr>
          <p:cNvPr id="5" name="Shape 3"/>
          <p:cNvSpPr/>
          <p:nvPr/>
        </p:nvSpPr>
        <p:spPr>
          <a:xfrm>
            <a:off x="274320" y="914400"/>
            <a:ext cx="8595360" cy="987552"/>
          </a:xfrm>
          <a:prstGeom prst="roundRect">
            <a:avLst>
              <a:gd name="adj" fmla="val 6481"/>
            </a:avLst>
          </a:prstGeom>
          <a:solidFill>
            <a:srgbClr val="FFFFFF"/>
          </a:solidFill>
          <a:ln w="6350">
            <a:solidFill>
              <a:srgbClr val="CBD5E1"/>
            </a:solidFill>
            <a:prstDash val="solid"/>
          </a:ln>
          <a:effectLst>
            <a:outerShdw blurRad="76200" dist="25400" dir="2700000" algn="bl" rotWithShape="0">
              <a:srgbClr val="000000">
                <a:alpha val="10000"/>
              </a:srgbClr>
            </a:outerShdw>
          </a:effectLst>
        </p:spPr>
      </p:sp>
      <p:sp>
        <p:nvSpPr>
          <p:cNvPr id="6" name="Text 4"/>
          <p:cNvSpPr/>
          <p:nvPr/>
        </p:nvSpPr>
        <p:spPr>
          <a:xfrm>
            <a:off x="411480" y="932688"/>
            <a:ext cx="1828800" cy="25603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Background</a:t>
            </a:r>
            <a:endParaRPr lang="en-US" sz="950" dirty="0"/>
          </a:p>
        </p:txBody>
      </p:sp>
      <p:sp>
        <p:nvSpPr>
          <p:cNvPr id="7" name="Text 5"/>
          <p:cNvSpPr/>
          <p:nvPr/>
        </p:nvSpPr>
        <p:spPr>
          <a:xfrm>
            <a:off x="411480" y="1188720"/>
            <a:ext cx="8229600" cy="6858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 factory floor manager has two identical machines, Machine A and Machine B, both producing the same product. After recent maintenance on Machine A, the manager believes it now outputs more units per hour. To justify upgrading Machine B, the manager needs statistical proof. Production counts were recorded over 50 working days for each machine. Since we are testing if Machine A produces MORE (not just different), this is a one-tailed test. We use α = 0.01 because the decision involves significant capital cost.</a:t>
            </a:r>
            <a:endParaRPr lang="en-US" sz="950" dirty="0"/>
          </a:p>
        </p:txBody>
      </p:sp>
      <p:sp>
        <p:nvSpPr>
          <p:cNvPr id="8" name="Shape 6"/>
          <p:cNvSpPr/>
          <p:nvPr/>
        </p:nvSpPr>
        <p:spPr>
          <a:xfrm>
            <a:off x="274320" y="1965960"/>
            <a:ext cx="8595360" cy="457200"/>
          </a:xfrm>
          <a:prstGeom prst="roundRect">
            <a:avLst>
              <a:gd name="adj" fmla="val 14000"/>
            </a:avLst>
          </a:prstGeom>
          <a:solidFill>
            <a:srgbClr val="1B2A4A"/>
          </a:solidFill>
          <a:ln w="15240">
            <a:solidFill>
              <a:srgbClr val="F59E0B"/>
            </a:solidFill>
            <a:prstDash val="solid"/>
          </a:ln>
        </p:spPr>
      </p:sp>
      <p:sp>
        <p:nvSpPr>
          <p:cNvPr id="9" name="Text 7"/>
          <p:cNvSpPr/>
          <p:nvPr/>
        </p:nvSpPr>
        <p:spPr>
          <a:xfrm>
            <a:off x="457200" y="1965960"/>
            <a:ext cx="8229600" cy="45720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Given: </a:t>
            </a:r>
            <a:r>
              <a:rPr lang="en-US" sz="1100" dirty="0">
                <a:solidFill>
                  <a:srgbClr val="FFFFFF"/>
                </a:solidFill>
                <a:latin typeface="Calibri" pitchFamily="34" charset="0"/>
                <a:ea typeface="Calibri" pitchFamily="34" charset="-122"/>
                <a:cs typeface="Calibri" pitchFamily="34" charset="-120"/>
              </a:rPr>
              <a:t>Machine A: n₁=50, x̄₁=210 units, σ₁=15     |     Machine B: n₂=50, x̄₂=200 units, σ₂=18     |     α = 0.01, One-Tailed</a:t>
            </a:r>
            <a:endParaRPr lang="en-US" sz="1100" dirty="0"/>
          </a:p>
        </p:txBody>
      </p:sp>
      <p:sp>
        <p:nvSpPr>
          <p:cNvPr id="10" name="Shape 8"/>
          <p:cNvSpPr/>
          <p:nvPr/>
        </p:nvSpPr>
        <p:spPr>
          <a:xfrm>
            <a:off x="274320" y="2514600"/>
            <a:ext cx="8595360" cy="402336"/>
          </a:xfrm>
          <a:prstGeom prst="roundRect">
            <a:avLst>
              <a:gd name="adj" fmla="val 11364"/>
            </a:avLst>
          </a:prstGeom>
          <a:solidFill>
            <a:srgbClr val="FFFFFF"/>
          </a:solidFill>
          <a:ln w="6350">
            <a:solidFill>
              <a:srgbClr val="CBD5E1"/>
            </a:solidFill>
            <a:prstDash val="solid"/>
          </a:ln>
        </p:spPr>
      </p:sp>
      <p:sp>
        <p:nvSpPr>
          <p:cNvPr id="11" name="Text 9"/>
          <p:cNvSpPr/>
          <p:nvPr/>
        </p:nvSpPr>
        <p:spPr>
          <a:xfrm>
            <a:off x="411480" y="2514600"/>
            <a:ext cx="2011680" cy="402336"/>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Step 1 — Hypotheses</a:t>
            </a:r>
            <a:endParaRPr lang="en-US" sz="950" dirty="0"/>
          </a:p>
        </p:txBody>
      </p:sp>
      <p:sp>
        <p:nvSpPr>
          <p:cNvPr id="12" name="Text 10"/>
          <p:cNvSpPr/>
          <p:nvPr/>
        </p:nvSpPr>
        <p:spPr>
          <a:xfrm>
            <a:off x="2468880" y="25146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H₀: μ₁ ≤ μ₂  (Machine A ≤ Machine B in output)          H₁: μ₁ &gt; μ₂  (Machine A produces significantly more units)</a:t>
            </a:r>
            <a:endParaRPr lang="en-US" sz="950" dirty="0"/>
          </a:p>
        </p:txBody>
      </p:sp>
      <p:sp>
        <p:nvSpPr>
          <p:cNvPr id="13" name="Shape 11"/>
          <p:cNvSpPr/>
          <p:nvPr/>
        </p:nvSpPr>
        <p:spPr>
          <a:xfrm>
            <a:off x="274320" y="2971800"/>
            <a:ext cx="8595360" cy="402336"/>
          </a:xfrm>
          <a:prstGeom prst="roundRect">
            <a:avLst>
              <a:gd name="adj" fmla="val 11364"/>
            </a:avLst>
          </a:prstGeom>
          <a:solidFill>
            <a:srgbClr val="FFFFFF"/>
          </a:solidFill>
          <a:ln w="6350">
            <a:solidFill>
              <a:srgbClr val="CBD5E1"/>
            </a:solidFill>
            <a:prstDash val="solid"/>
          </a:ln>
        </p:spPr>
      </p:sp>
      <p:sp>
        <p:nvSpPr>
          <p:cNvPr id="14" name="Text 12"/>
          <p:cNvSpPr/>
          <p:nvPr/>
        </p:nvSpPr>
        <p:spPr>
          <a:xfrm>
            <a:off x="411480" y="2971800"/>
            <a:ext cx="2011680" cy="402336"/>
          </a:xfrm>
          <a:prstGeom prst="rect">
            <a:avLst/>
          </a:prstGeom>
          <a:noFill/>
          <a:ln/>
        </p:spPr>
        <p:txBody>
          <a:bodyPr wrap="square" lIns="0" tIns="0" rIns="0" bIns="0"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Step 2 — Calculate Z</a:t>
            </a:r>
            <a:endParaRPr lang="en-US" sz="950" dirty="0"/>
          </a:p>
        </p:txBody>
      </p:sp>
      <p:sp>
        <p:nvSpPr>
          <p:cNvPr id="15" name="Text 13"/>
          <p:cNvSpPr/>
          <p:nvPr/>
        </p:nvSpPr>
        <p:spPr>
          <a:xfrm>
            <a:off x="2468880" y="29718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Z = (210−200) / √(15²/50 + 18²/50) = 10 / √(4.5 + 6.48) = 10 / √10.98 = 10 / 3.314 ≈ 3.02</a:t>
            </a:r>
            <a:endParaRPr lang="en-US" sz="950" dirty="0"/>
          </a:p>
        </p:txBody>
      </p:sp>
      <p:sp>
        <p:nvSpPr>
          <p:cNvPr id="16" name="Shape 14"/>
          <p:cNvSpPr/>
          <p:nvPr/>
        </p:nvSpPr>
        <p:spPr>
          <a:xfrm>
            <a:off x="274320" y="3429000"/>
            <a:ext cx="8595360" cy="402336"/>
          </a:xfrm>
          <a:prstGeom prst="roundRect">
            <a:avLst>
              <a:gd name="adj" fmla="val 11364"/>
            </a:avLst>
          </a:prstGeom>
          <a:solidFill>
            <a:srgbClr val="FFFFFF"/>
          </a:solidFill>
          <a:ln w="6350">
            <a:solidFill>
              <a:srgbClr val="CBD5E1"/>
            </a:solidFill>
            <a:prstDash val="solid"/>
          </a:ln>
        </p:spPr>
      </p:sp>
      <p:sp>
        <p:nvSpPr>
          <p:cNvPr id="17" name="Text 15"/>
          <p:cNvSpPr/>
          <p:nvPr/>
        </p:nvSpPr>
        <p:spPr>
          <a:xfrm>
            <a:off x="411480" y="3429000"/>
            <a:ext cx="2011680" cy="402336"/>
          </a:xfrm>
          <a:prstGeom prst="rect">
            <a:avLst/>
          </a:prstGeom>
          <a:noFill/>
          <a:ln/>
        </p:spPr>
        <p:txBody>
          <a:bodyPr wrap="square" lIns="0" tIns="0" rIns="0" bIns="0"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Step 3 — Critical Value</a:t>
            </a:r>
            <a:endParaRPr lang="en-US" sz="950" dirty="0"/>
          </a:p>
        </p:txBody>
      </p:sp>
      <p:sp>
        <p:nvSpPr>
          <p:cNvPr id="18" name="Text 16"/>
          <p:cNvSpPr/>
          <p:nvPr/>
        </p:nvSpPr>
        <p:spPr>
          <a:xfrm>
            <a:off x="2468880" y="34290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At α = 0.01, one-tailed right-side test  →  Z_critical = +2.326</a:t>
            </a:r>
            <a:endParaRPr lang="en-US" sz="950" dirty="0"/>
          </a:p>
        </p:txBody>
      </p:sp>
      <p:sp>
        <p:nvSpPr>
          <p:cNvPr id="19" name="Shape 17"/>
          <p:cNvSpPr/>
          <p:nvPr/>
        </p:nvSpPr>
        <p:spPr>
          <a:xfrm>
            <a:off x="274320" y="3886200"/>
            <a:ext cx="8595360" cy="402336"/>
          </a:xfrm>
          <a:prstGeom prst="roundRect">
            <a:avLst>
              <a:gd name="adj" fmla="val 11364"/>
            </a:avLst>
          </a:prstGeom>
          <a:solidFill>
            <a:srgbClr val="FFF7ED"/>
          </a:solidFill>
          <a:ln w="6350">
            <a:solidFill>
              <a:srgbClr val="CBD5E1"/>
            </a:solidFill>
            <a:prstDash val="solid"/>
          </a:ln>
        </p:spPr>
      </p:sp>
      <p:sp>
        <p:nvSpPr>
          <p:cNvPr id="20" name="Text 18"/>
          <p:cNvSpPr/>
          <p:nvPr/>
        </p:nvSpPr>
        <p:spPr>
          <a:xfrm>
            <a:off x="411480" y="3886200"/>
            <a:ext cx="2011680" cy="402336"/>
          </a:xfrm>
          <a:prstGeom prst="rect">
            <a:avLst/>
          </a:prstGeom>
          <a:noFill/>
          <a:ln/>
        </p:spPr>
        <p:txBody>
          <a:bodyPr wrap="square" lIns="0" tIns="0" rIns="0" bIns="0" rtlCol="0" anchor="ctr"/>
          <a:lstStyle/>
          <a:p>
            <a:pPr marL="0" indent="0">
              <a:buNone/>
            </a:pPr>
            <a:r>
              <a:rPr lang="en-US" sz="950" b="1" dirty="0">
                <a:solidFill>
                  <a:srgbClr val="DB2777"/>
                </a:solidFill>
                <a:latin typeface="Calibri" pitchFamily="34" charset="0"/>
                <a:ea typeface="Calibri" pitchFamily="34" charset="-122"/>
                <a:cs typeface="Calibri" pitchFamily="34" charset="-120"/>
              </a:rPr>
              <a:t>Step 4 — Decision</a:t>
            </a:r>
            <a:endParaRPr lang="en-US" sz="950" dirty="0"/>
          </a:p>
        </p:txBody>
      </p:sp>
      <p:sp>
        <p:nvSpPr>
          <p:cNvPr id="21" name="Text 19"/>
          <p:cNvSpPr/>
          <p:nvPr/>
        </p:nvSpPr>
        <p:spPr>
          <a:xfrm>
            <a:off x="2468880" y="38862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Z_calc = 3.02  &gt;  2.326  →  We REJECT H₀  →  Machine A is significantly more productive</a:t>
            </a:r>
            <a:endParaRPr lang="en-US" sz="950" dirty="0"/>
          </a:p>
        </p:txBody>
      </p:sp>
      <p:sp>
        <p:nvSpPr>
          <p:cNvPr id="22" name="Shape 20"/>
          <p:cNvSpPr/>
          <p:nvPr/>
        </p:nvSpPr>
        <p:spPr>
          <a:xfrm>
            <a:off x="274320" y="4343400"/>
            <a:ext cx="8595360" cy="402336"/>
          </a:xfrm>
          <a:prstGeom prst="roundRect">
            <a:avLst>
              <a:gd name="adj" fmla="val 11364"/>
            </a:avLst>
          </a:prstGeom>
          <a:solidFill>
            <a:srgbClr val="F0FDF4"/>
          </a:solidFill>
          <a:ln w="6350">
            <a:solidFill>
              <a:srgbClr val="CBD5E1"/>
            </a:solidFill>
            <a:prstDash val="solid"/>
          </a:ln>
        </p:spPr>
      </p:sp>
      <p:sp>
        <p:nvSpPr>
          <p:cNvPr id="23" name="Text 21"/>
          <p:cNvSpPr/>
          <p:nvPr/>
        </p:nvSpPr>
        <p:spPr>
          <a:xfrm>
            <a:off x="411480" y="4343400"/>
            <a:ext cx="2011680" cy="402336"/>
          </a:xfrm>
          <a:prstGeom prst="rect">
            <a:avLst/>
          </a:prstGeom>
          <a:noFill/>
          <a:ln/>
        </p:spPr>
        <p:txBody>
          <a:bodyPr wrap="square" lIns="0" tIns="0" rIns="0" bIns="0" rtlCol="0" anchor="ctr"/>
          <a:lstStyle/>
          <a:p>
            <a:pPr marL="0" indent="0">
              <a:buNone/>
            </a:pPr>
            <a:r>
              <a:rPr lang="en-US" sz="950" b="1" dirty="0">
                <a:solidFill>
                  <a:srgbClr val="1B2A4A"/>
                </a:solidFill>
                <a:latin typeface="Calibri" pitchFamily="34" charset="0"/>
                <a:ea typeface="Calibri" pitchFamily="34" charset="-122"/>
                <a:cs typeface="Calibri" pitchFamily="34" charset="-120"/>
              </a:rPr>
              <a:t>Step 5 — Conclusion</a:t>
            </a:r>
            <a:endParaRPr lang="en-US" sz="950" dirty="0"/>
          </a:p>
        </p:txBody>
      </p:sp>
      <p:sp>
        <p:nvSpPr>
          <p:cNvPr id="24" name="Text 22"/>
          <p:cNvSpPr/>
          <p:nvPr/>
        </p:nvSpPr>
        <p:spPr>
          <a:xfrm>
            <a:off x="2468880" y="4343400"/>
            <a:ext cx="6263640" cy="40233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The 10-unit difference is real and statistically proven. The manager now has solid data to justify the upgrade cost for Machine B.</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C30"/>
        </a:solidFill>
        <a:effectLst/>
      </p:bgPr>
    </p:bg>
    <p:spTree>
      <p:nvGrpSpPr>
        <p:cNvPr id="1" name=""/>
        <p:cNvGrpSpPr/>
        <p:nvPr/>
      </p:nvGrpSpPr>
      <p:grpSpPr>
        <a:xfrm>
          <a:off x="0" y="0"/>
          <a:ext cx="0" cy="0"/>
          <a:chOff x="0" y="0"/>
          <a:chExt cx="0" cy="0"/>
        </a:xfrm>
      </p:grpSpPr>
      <p:sp>
        <p:nvSpPr>
          <p:cNvPr id="2" name="Shape 0"/>
          <p:cNvSpPr/>
          <p:nvPr/>
        </p:nvSpPr>
        <p:spPr>
          <a:xfrm>
            <a:off x="6217920" y="-457200"/>
            <a:ext cx="3657600" cy="3657600"/>
          </a:xfrm>
          <a:prstGeom prst="ellipse">
            <a:avLst/>
          </a:prstGeom>
          <a:solidFill>
            <a:srgbClr val="0D9488">
              <a:alpha val="13000"/>
            </a:srgbClr>
          </a:solidFill>
          <a:ln w="12700">
            <a:solidFill>
              <a:srgbClr val="0D9488">
                <a:alpha val="18000"/>
              </a:srgbClr>
            </a:solidFill>
            <a:prstDash val="solid"/>
          </a:ln>
        </p:spPr>
      </p:sp>
      <p:sp>
        <p:nvSpPr>
          <p:cNvPr id="3" name="Shape 1"/>
          <p:cNvSpPr/>
          <p:nvPr/>
        </p:nvSpPr>
        <p:spPr>
          <a:xfrm>
            <a:off x="-457200" y="3200400"/>
            <a:ext cx="2286000" cy="2286000"/>
          </a:xfrm>
          <a:prstGeom prst="ellipse">
            <a:avLst/>
          </a:prstGeom>
          <a:solidFill>
            <a:srgbClr val="F59E0B">
              <a:alpha val="12000"/>
            </a:srgbClr>
          </a:solidFill>
          <a:ln w="12700">
            <a:solidFill>
              <a:srgbClr val="F59E0B">
                <a:alpha val="17000"/>
              </a:srgbClr>
            </a:solidFill>
            <a:prstDash val="solid"/>
          </a:ln>
        </p:spPr>
      </p:sp>
      <p:sp>
        <p:nvSpPr>
          <p:cNvPr id="4" name="Text 2"/>
          <p:cNvSpPr/>
          <p:nvPr/>
        </p:nvSpPr>
        <p:spPr>
          <a:xfrm>
            <a:off x="457200" y="274320"/>
            <a:ext cx="54864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Text 3"/>
          <p:cNvSpPr/>
          <p:nvPr/>
        </p:nvSpPr>
        <p:spPr>
          <a:xfrm>
            <a:off x="457200" y="896112"/>
            <a:ext cx="6400800" cy="347472"/>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Everything you need to remember from this presentation</a:t>
            </a:r>
            <a:endParaRPr lang="en-US" sz="1200" dirty="0"/>
          </a:p>
        </p:txBody>
      </p:sp>
      <p:sp>
        <p:nvSpPr>
          <p:cNvPr id="6" name="Shape 4"/>
          <p:cNvSpPr/>
          <p:nvPr/>
        </p:nvSpPr>
        <p:spPr>
          <a:xfrm>
            <a:off x="365760" y="1371600"/>
            <a:ext cx="8412480" cy="621792"/>
          </a:xfrm>
          <a:prstGeom prst="roundRect">
            <a:avLst>
              <a:gd name="adj" fmla="val 10294"/>
            </a:avLst>
          </a:prstGeom>
          <a:solidFill>
            <a:srgbClr val="FFFFFF">
              <a:alpha val="7000"/>
            </a:srgbClr>
          </a:solidFill>
          <a:ln w="8890">
            <a:solidFill>
              <a:srgbClr val="14B8A6"/>
            </a:solidFill>
            <a:prstDash val="solid"/>
          </a:ln>
        </p:spPr>
      </p:sp>
      <p:sp>
        <p:nvSpPr>
          <p:cNvPr id="7" name="Text 5"/>
          <p:cNvSpPr/>
          <p:nvPr/>
        </p:nvSpPr>
        <p:spPr>
          <a:xfrm>
            <a:off x="502920" y="1371600"/>
            <a:ext cx="347472" cy="62179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896112" y="1371600"/>
            <a:ext cx="1920240" cy="621792"/>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What It Does:</a:t>
            </a:r>
            <a:endParaRPr lang="en-US" sz="1050" dirty="0"/>
          </a:p>
        </p:txBody>
      </p:sp>
      <p:sp>
        <p:nvSpPr>
          <p:cNvPr id="9" name="Text 7"/>
          <p:cNvSpPr/>
          <p:nvPr/>
        </p:nvSpPr>
        <p:spPr>
          <a:xfrm>
            <a:off x="2816352" y="1371600"/>
            <a:ext cx="5806440" cy="62179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Compares the means of two independent groups to see if the difference between them is real or just random variation</a:t>
            </a:r>
            <a:endParaRPr lang="en-US" sz="1050" dirty="0"/>
          </a:p>
        </p:txBody>
      </p:sp>
      <p:sp>
        <p:nvSpPr>
          <p:cNvPr id="10" name="Shape 8"/>
          <p:cNvSpPr/>
          <p:nvPr/>
        </p:nvSpPr>
        <p:spPr>
          <a:xfrm>
            <a:off x="365760" y="2075688"/>
            <a:ext cx="8412480" cy="621792"/>
          </a:xfrm>
          <a:prstGeom prst="roundRect">
            <a:avLst>
              <a:gd name="adj" fmla="val 10294"/>
            </a:avLst>
          </a:prstGeom>
          <a:solidFill>
            <a:srgbClr val="FFFFFF">
              <a:alpha val="7000"/>
            </a:srgbClr>
          </a:solidFill>
          <a:ln w="8890">
            <a:solidFill>
              <a:srgbClr val="14B8A6"/>
            </a:solidFill>
            <a:prstDash val="solid"/>
          </a:ln>
        </p:spPr>
      </p:sp>
      <p:sp>
        <p:nvSpPr>
          <p:cNvPr id="11" name="Text 9"/>
          <p:cNvSpPr/>
          <p:nvPr/>
        </p:nvSpPr>
        <p:spPr>
          <a:xfrm>
            <a:off x="502920" y="2075688"/>
            <a:ext cx="347472" cy="62179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96112" y="2075688"/>
            <a:ext cx="1920240" cy="621792"/>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When to Apply:</a:t>
            </a:r>
            <a:endParaRPr lang="en-US" sz="1050" dirty="0"/>
          </a:p>
        </p:txBody>
      </p:sp>
      <p:sp>
        <p:nvSpPr>
          <p:cNvPr id="13" name="Text 11"/>
          <p:cNvSpPr/>
          <p:nvPr/>
        </p:nvSpPr>
        <p:spPr>
          <a:xfrm>
            <a:off x="2816352" y="2075688"/>
            <a:ext cx="5806440" cy="62179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Sample sizes ≥ 30, groups are independent, and population standard deviations are known from historical data</a:t>
            </a:r>
            <a:endParaRPr lang="en-US" sz="1050" dirty="0"/>
          </a:p>
        </p:txBody>
      </p:sp>
      <p:sp>
        <p:nvSpPr>
          <p:cNvPr id="14" name="Shape 12"/>
          <p:cNvSpPr/>
          <p:nvPr/>
        </p:nvSpPr>
        <p:spPr>
          <a:xfrm>
            <a:off x="365760" y="2779776"/>
            <a:ext cx="8412480" cy="621792"/>
          </a:xfrm>
          <a:prstGeom prst="roundRect">
            <a:avLst>
              <a:gd name="adj" fmla="val 10294"/>
            </a:avLst>
          </a:prstGeom>
          <a:solidFill>
            <a:srgbClr val="FFFFFF">
              <a:alpha val="7000"/>
            </a:srgbClr>
          </a:solidFill>
          <a:ln w="8890">
            <a:solidFill>
              <a:srgbClr val="14B8A6"/>
            </a:solidFill>
            <a:prstDash val="solid"/>
          </a:ln>
        </p:spPr>
      </p:sp>
      <p:sp>
        <p:nvSpPr>
          <p:cNvPr id="15" name="Text 13"/>
          <p:cNvSpPr/>
          <p:nvPr/>
        </p:nvSpPr>
        <p:spPr>
          <a:xfrm>
            <a:off x="502920" y="2779776"/>
            <a:ext cx="347472" cy="62179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896112" y="2779776"/>
            <a:ext cx="1920240" cy="621792"/>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6 Real Fields:</a:t>
            </a:r>
            <a:endParaRPr lang="en-US" sz="1050" dirty="0"/>
          </a:p>
        </p:txBody>
      </p:sp>
      <p:sp>
        <p:nvSpPr>
          <p:cNvPr id="17" name="Text 15"/>
          <p:cNvSpPr/>
          <p:nvPr/>
        </p:nvSpPr>
        <p:spPr>
          <a:xfrm>
            <a:off x="2816352" y="2779776"/>
            <a:ext cx="5806440" cy="62179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Healthcare · Education · Agriculture · Manufacturing · Marketing · Scientific Research</a:t>
            </a:r>
            <a:endParaRPr lang="en-US" sz="1050" dirty="0"/>
          </a:p>
        </p:txBody>
      </p:sp>
      <p:sp>
        <p:nvSpPr>
          <p:cNvPr id="18" name="Shape 16"/>
          <p:cNvSpPr/>
          <p:nvPr/>
        </p:nvSpPr>
        <p:spPr>
          <a:xfrm>
            <a:off x="365760" y="3483864"/>
            <a:ext cx="8412480" cy="621792"/>
          </a:xfrm>
          <a:prstGeom prst="roundRect">
            <a:avLst>
              <a:gd name="adj" fmla="val 10294"/>
            </a:avLst>
          </a:prstGeom>
          <a:solidFill>
            <a:srgbClr val="FFFFFF">
              <a:alpha val="7000"/>
            </a:srgbClr>
          </a:solidFill>
          <a:ln w="8890">
            <a:solidFill>
              <a:srgbClr val="14B8A6"/>
            </a:solidFill>
            <a:prstDash val="solid"/>
          </a:ln>
        </p:spPr>
      </p:sp>
      <p:sp>
        <p:nvSpPr>
          <p:cNvPr id="19" name="Text 17"/>
          <p:cNvSpPr/>
          <p:nvPr/>
        </p:nvSpPr>
        <p:spPr>
          <a:xfrm>
            <a:off x="502920" y="3483864"/>
            <a:ext cx="347472" cy="62179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896112" y="3483864"/>
            <a:ext cx="1920240" cy="621792"/>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Two-Tailed Test:</a:t>
            </a:r>
            <a:endParaRPr lang="en-US" sz="1050" dirty="0"/>
          </a:p>
        </p:txBody>
      </p:sp>
      <p:sp>
        <p:nvSpPr>
          <p:cNvPr id="21" name="Text 19"/>
          <p:cNvSpPr/>
          <p:nvPr/>
        </p:nvSpPr>
        <p:spPr>
          <a:xfrm>
            <a:off x="2816352" y="3483864"/>
            <a:ext cx="5806440" cy="62179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Use when either group could be higher — critical value ±1.96 at α=0.05 or ±2.576 at α=0.01</a:t>
            </a:r>
            <a:endParaRPr lang="en-US" sz="1050" dirty="0"/>
          </a:p>
        </p:txBody>
      </p:sp>
      <p:sp>
        <p:nvSpPr>
          <p:cNvPr id="22" name="Shape 20"/>
          <p:cNvSpPr/>
          <p:nvPr/>
        </p:nvSpPr>
        <p:spPr>
          <a:xfrm>
            <a:off x="365760" y="4187952"/>
            <a:ext cx="8412480" cy="621792"/>
          </a:xfrm>
          <a:prstGeom prst="roundRect">
            <a:avLst>
              <a:gd name="adj" fmla="val 10294"/>
            </a:avLst>
          </a:prstGeom>
          <a:solidFill>
            <a:srgbClr val="FFFFFF">
              <a:alpha val="7000"/>
            </a:srgbClr>
          </a:solidFill>
          <a:ln w="8890">
            <a:solidFill>
              <a:srgbClr val="14B8A6"/>
            </a:solidFill>
            <a:prstDash val="solid"/>
          </a:ln>
        </p:spPr>
      </p:sp>
      <p:sp>
        <p:nvSpPr>
          <p:cNvPr id="23" name="Text 21"/>
          <p:cNvSpPr/>
          <p:nvPr/>
        </p:nvSpPr>
        <p:spPr>
          <a:xfrm>
            <a:off x="502920" y="4187952"/>
            <a:ext cx="347472" cy="62179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896112" y="4187952"/>
            <a:ext cx="1920240" cy="621792"/>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One-Tailed Test:</a:t>
            </a:r>
            <a:endParaRPr lang="en-US" sz="1050" dirty="0"/>
          </a:p>
        </p:txBody>
      </p:sp>
      <p:sp>
        <p:nvSpPr>
          <p:cNvPr id="25" name="Text 23"/>
          <p:cNvSpPr/>
          <p:nvPr/>
        </p:nvSpPr>
        <p:spPr>
          <a:xfrm>
            <a:off x="2816352" y="4187952"/>
            <a:ext cx="5806440" cy="62179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Use when testing if one specific group is higher — critical value +1.645 (α=0.05) or +2.326 (α=0.01)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2173</Words>
  <Application>Microsoft Office PowerPoint</Application>
  <PresentationFormat>On-screen Show (16:9)</PresentationFormat>
  <Paragraphs>187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6</cp:revision>
  <dcterms:created xsi:type="dcterms:W3CDTF">2026-06-22T18:47:35Z</dcterms:created>
  <dcterms:modified xsi:type="dcterms:W3CDTF">2026-06-22T19:00:04Z</dcterms:modified>
</cp:coreProperties>
</file>