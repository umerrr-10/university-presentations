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Query–Document Similarity</a:t>
            </a:r>
          </a:p>
        </c:rich>
      </c:tx>
      <c:overlay val="0"/>
    </c:title>
    <c:autoTitleDeleted val="0"/>
    <c:plotArea>
      <c:layout/>
      <c:barChart>
        <c:barDir val="col"/>
        <c:grouping val="clustered"/>
        <c:varyColors val="0"/>
        <c:ser>
          <c:idx val="0"/>
          <c:order val="0"/>
          <c:tx>
            <c:strRef>
              <c:f>Sheet1!$B$1</c:f>
              <c:strCache>
                <c:ptCount val="1"/>
                <c:pt idx="0">
                  <c:v>Cosine Similarity</c:v>
                </c:pt>
              </c:strCache>
            </c:strRef>
          </c:tx>
          <c:spPr>
            <a:solidFill>
              <a:srgbClr val="1C7293"/>
            </a:solidFill>
            <a:effectLst/>
          </c:spPr>
          <c:invertIfNegative val="0"/>
          <c:dLbls>
            <c:numFmt formatCode="#,##0" sourceLinked="0"/>
            <c:spPr>
              <a:noFill/>
              <a:ln>
                <a:noFill/>
              </a:ln>
              <a:effectLst/>
            </c:spPr>
            <c:txPr>
              <a:bodyPr/>
              <a:lstStyle/>
              <a:p>
                <a:pPr>
                  <a:defRPr sz="12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D1</c:v>
                </c:pt>
                <c:pt idx="1">
                  <c:v>D3</c:v>
                </c:pt>
                <c:pt idx="2">
                  <c:v>D2</c:v>
                </c:pt>
                <c:pt idx="3">
                  <c:v>D4</c:v>
                </c:pt>
              </c:strCache>
            </c:strRef>
          </c:cat>
          <c:val>
            <c:numRef>
              <c:f>Sheet1!$B$2:$B$5</c:f>
              <c:numCache>
                <c:formatCode>General</c:formatCode>
                <c:ptCount val="4"/>
                <c:pt idx="0">
                  <c:v>0.78</c:v>
                </c:pt>
                <c:pt idx="1">
                  <c:v>0.65</c:v>
                </c:pt>
                <c:pt idx="2">
                  <c:v>0.21</c:v>
                </c:pt>
                <c:pt idx="3">
                  <c:v>0.02</c:v>
                </c:pt>
              </c:numCache>
            </c:numRef>
          </c:val>
          <c:extLst>
            <c:ext xmlns:c16="http://schemas.microsoft.com/office/drawing/2014/chart" uri="{C3380CC4-5D6E-409C-BE32-E72D297353CC}">
              <c16:uniqueId val="{00000000-C643-4DAD-B763-46126683B88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73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73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631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topic: how search engines like Google decide which documents are most relevant to a query, using the Vector Space Model. Before presenting, replace the bracketed placeholders with your confirmed group members' names, IDs, roles, and the actual presentation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roadmap briefly. This tells the audience the story arc: from why search matters, to the math behind ranking, to a working example, and finally where the field is headed.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IR simply: finding relevant documents from a huge collection for a user's query. Point to the diagram on the right: a query goes in, it's compared against the document collection, and a ranked list comes out. Mention that Google, digital libraries, and e-commerce search are everyday examples students already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just finding documents containing the keyword isn't enough — three documents might all contain 'machine learning' but differ hugely in how relevant they really are. This motivates the need for a numeric relevance score, which VSM will provide.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IR problem formally: we have a document collection D, a user query q, and the objective is to compute a relevance score, sim(d, q), for every document and rank them. Emphasize that everything else in this presentation is really about how to define that similarity function.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comparison table: sequential search is too slow, Boolean retrieval only gives yes/no matches with no ranking, and inverted indexes make lookup fast but still don't rank results. VSM solves the ranking problem by turning documents and queries into vectors we can measure similarity between.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idea visually: each document becomes a point (vector) in space, the query becomes another point, and we measure how close they are. A smaller angle between the query and a document vector means that document is more relevant.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TF first: it just counts how often a term shows up in a document. Then IDF: it looks across the whole collection and reduces the weight of terms that appear almost everywhere, like 'the' or 'is', because they don't help distinguish documents. Together they set up the next slide, TF-IDF.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worked example step by step: compute TF, then IDF, then multiply them to get the TF-IDF weight. Emphasize that this single number becomes one entry in the document's vector — and every term in the vocabulary gets its own TF-IDF value, building the full vector.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formula: cosine similarity divides the dot product of two vectors by the product of their magnitudes, which normalizes for document length. Use the angle diagram: a small angle between query and document vectors means high similarity (score near 1), a large angle means low similarity (score near 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ten-step pipeline in order: raw documents are preprocessed, tokenized, and cleaned of stopwords, then TF and IDF are computed to build the TF-IDF matrix. This matrix gives us vectors for documents and the query, cosine similarity scores them, and the final step ranks documents from most to least relevant.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small experiment: four short documents and one query. Explain that after preprocessing and computing TF-IDF vectors, cosine similarity gives a score for each document against the query. D1 scores highest and is returned as the top result; D4, about an unrelated topic, scores lowest.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bar chart of similarity scores to visually confirm the ranking. Then walk through the ablation: without IDF weighting, all scores compress together and common-word documents get inflated scores, showing why IDF matters. Mention briefly that VSM still struggles with synonyms since it only matches exact words.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trade-offs: VSM is simple, fast, and effective enough to power real search engines, but it has real weaknesses — it treats word order as irrelevant, cannot understand meaning or synonyms, and produces huge sparse vectors for large vocabularies.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any ranking system, including VSM-based search, raises fairness and privacy questions — who gets ranked highly, and how query and document data is handled. Then look forward: modern systems build on VSM's ideas but move toward semantic understanding using embeddings, transformers, and RAG pipelines.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it together: IR is about finding and ranking relevant documents; VSM does this by representing text as weighted vectors and measuring cosine similarity. End with the concluding statement that VSM's core idea — measuring relevance numerically — is still the foundation beneath today's more advanced, semantic search systems.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references used, in APA format, including the classic Salton, Wong, and Yang paper that originally introduced the Vector Space Model, plus the standard IR and NLP textbooks by Manning et al. and Jurafsky &amp; Martin.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6309360" y="68580"/>
            <a:ext cx="5486400" cy="5486400"/>
          </a:xfrm>
          <a:prstGeom prst="ellipse">
            <a:avLst/>
          </a:prstGeom>
          <a:solidFill>
            <a:srgbClr val="13315C">
              <a:alpha val="60000"/>
            </a:srgbClr>
          </a:solidFill>
          <a:ln/>
        </p:spPr>
        <p:txBody>
          <a:bodyPr/>
          <a:lstStyle/>
          <a:p>
            <a:endParaRPr lang="en-US" dirty="0"/>
          </a:p>
        </p:txBody>
      </p:sp>
      <p:sp>
        <p:nvSpPr>
          <p:cNvPr id="3" name="Shape 1"/>
          <p:cNvSpPr/>
          <p:nvPr/>
        </p:nvSpPr>
        <p:spPr>
          <a:xfrm>
            <a:off x="8229600" y="3067812"/>
            <a:ext cx="3657600" cy="3657600"/>
          </a:xfrm>
          <a:prstGeom prst="ellipse">
            <a:avLst/>
          </a:prstGeom>
          <a:solidFill>
            <a:srgbClr val="1C7293">
              <a:alpha val="40000"/>
            </a:srgbClr>
          </a:solidFill>
          <a:ln/>
        </p:spPr>
        <p:txBody>
          <a:bodyPr/>
          <a:lstStyle/>
          <a:p>
            <a:endParaRPr lang="en-US" dirty="0"/>
          </a:p>
        </p:txBody>
      </p:sp>
      <p:sp>
        <p:nvSpPr>
          <p:cNvPr id="4" name="Shape 2"/>
          <p:cNvSpPr/>
          <p:nvPr/>
        </p:nvSpPr>
        <p:spPr>
          <a:xfrm>
            <a:off x="640080" y="640080"/>
            <a:ext cx="777240" cy="777240"/>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826618" y="826618"/>
            <a:ext cx="404165" cy="404165"/>
          </a:xfrm>
          <a:prstGeom prst="rect">
            <a:avLst/>
          </a:prstGeom>
        </p:spPr>
      </p:pic>
      <p:sp>
        <p:nvSpPr>
          <p:cNvPr id="6" name="Text 3"/>
          <p:cNvSpPr/>
          <p:nvPr/>
        </p:nvSpPr>
        <p:spPr>
          <a:xfrm>
            <a:off x="640080" y="1691640"/>
            <a:ext cx="9144000" cy="365760"/>
          </a:xfrm>
          <a:prstGeom prst="rect">
            <a:avLst/>
          </a:prstGeom>
          <a:noFill/>
          <a:ln/>
        </p:spPr>
        <p:txBody>
          <a:bodyPr wrap="square" rtlCol="0" anchor="ctr"/>
          <a:lstStyle/>
          <a:p>
            <a:pPr marL="0" indent="0">
              <a:buNone/>
            </a:pPr>
            <a:r>
              <a:rPr lang="en-US" sz="1400" b="1" kern="0" spc="200" dirty="0">
                <a:solidFill>
                  <a:srgbClr val="6FDFDF"/>
                </a:solidFill>
                <a:latin typeface="Calibri" pitchFamily="34" charset="0"/>
                <a:ea typeface="Calibri" pitchFamily="34" charset="-122"/>
                <a:cs typeface="Calibri" pitchFamily="34" charset="-120"/>
              </a:rPr>
              <a:t>NATURAL LANGUAGE PROCESSING · COURSE PRESENTATION</a:t>
            </a:r>
            <a:endParaRPr lang="en-US" sz="1400" dirty="0"/>
          </a:p>
        </p:txBody>
      </p:sp>
      <p:sp>
        <p:nvSpPr>
          <p:cNvPr id="7" name="Text 4"/>
          <p:cNvSpPr/>
          <p:nvPr/>
        </p:nvSpPr>
        <p:spPr>
          <a:xfrm>
            <a:off x="640080" y="2103120"/>
            <a:ext cx="9601200" cy="173736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Vector Space Model (VSM)</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for Information Retrieval</a:t>
            </a:r>
            <a:endParaRPr lang="en-US" sz="4000" dirty="0"/>
          </a:p>
        </p:txBody>
      </p:sp>
      <p:sp>
        <p:nvSpPr>
          <p:cNvPr id="8" name="Text 5"/>
          <p:cNvSpPr/>
          <p:nvPr/>
        </p:nvSpPr>
        <p:spPr>
          <a:xfrm>
            <a:off x="640080" y="3794760"/>
            <a:ext cx="8686800" cy="548640"/>
          </a:xfrm>
          <a:prstGeom prst="rect">
            <a:avLst/>
          </a:prstGeom>
          <a:noFill/>
          <a:ln/>
        </p:spPr>
        <p:txBody>
          <a:bodyPr wrap="square" rtlCol="0" anchor="ctr"/>
          <a:lstStyle/>
          <a:p>
            <a:pPr marL="0" indent="0">
              <a:buNone/>
            </a:pPr>
            <a:r>
              <a:rPr lang="en-US" sz="1500" i="1" dirty="0">
                <a:solidFill>
                  <a:srgbClr val="C9DCE8"/>
                </a:solidFill>
                <a:latin typeface="Calibri" pitchFamily="34" charset="0"/>
                <a:ea typeface="Calibri" pitchFamily="34" charset="-122"/>
                <a:cs typeface="Calibri" pitchFamily="34" charset="-120"/>
              </a:rPr>
              <a:t>Representing documents and queries as vectors to rank search results by relevance</a:t>
            </a:r>
            <a:endParaRPr lang="en-US" sz="1500" dirty="0"/>
          </a:p>
        </p:txBody>
      </p:sp>
      <p:sp>
        <p:nvSpPr>
          <p:cNvPr id="9" name="Shape 6"/>
          <p:cNvSpPr/>
          <p:nvPr/>
        </p:nvSpPr>
        <p:spPr>
          <a:xfrm>
            <a:off x="640080" y="4640580"/>
            <a:ext cx="10881360" cy="1828800"/>
          </a:xfrm>
          <a:prstGeom prst="roundRect">
            <a:avLst>
              <a:gd name="adj" fmla="val 6000"/>
            </a:avLst>
          </a:prstGeom>
          <a:solidFill>
            <a:srgbClr val="13315C"/>
          </a:solidFill>
          <a:ln/>
          <a:effectLst>
            <a:outerShdw blurRad="101600" dist="25400" dir="5400000" algn="bl" rotWithShape="0">
              <a:srgbClr val="1B2B3A">
                <a:alpha val="10000"/>
              </a:srgbClr>
            </a:outerShdw>
          </a:effectLst>
        </p:spPr>
      </p:sp>
      <p:sp>
        <p:nvSpPr>
          <p:cNvPr id="10" name="Text 7"/>
          <p:cNvSpPr/>
          <p:nvPr/>
        </p:nvSpPr>
        <p:spPr>
          <a:xfrm>
            <a:off x="1028700" y="4343400"/>
            <a:ext cx="7315200" cy="320040"/>
          </a:xfrm>
          <a:prstGeom prst="rect">
            <a:avLst/>
          </a:prstGeom>
          <a:noFill/>
          <a:ln/>
        </p:spPr>
        <p:txBody>
          <a:bodyPr wrap="square" rtlCol="0" anchor="ctr"/>
          <a:lstStyle/>
          <a:p>
            <a:pPr marL="0" indent="0">
              <a:buNone/>
            </a:pPr>
            <a:r>
              <a:rPr lang="en-US" sz="1100" b="1" kern="0" spc="150" dirty="0">
                <a:solidFill>
                  <a:srgbClr val="6FDFDF"/>
                </a:solidFill>
                <a:latin typeface="Calibri" pitchFamily="34" charset="0"/>
                <a:ea typeface="Calibri" pitchFamily="34" charset="-122"/>
                <a:cs typeface="Calibri" pitchFamily="34" charset="-120"/>
              </a:rPr>
              <a:t>GROUP MEMBERS </a:t>
            </a:r>
          </a:p>
        </p:txBody>
      </p:sp>
      <p:graphicFrame>
        <p:nvGraphicFramePr>
          <p:cNvPr id="11" name="Table 0"/>
          <p:cNvGraphicFramePr>
            <a:graphicFrameLocks noGrp="1"/>
          </p:cNvGraphicFramePr>
          <p:nvPr>
            <p:extLst>
              <p:ext uri="{D42A27DB-BD31-4B8C-83A1-F6EECF244321}">
                <p14:modId xmlns:p14="http://schemas.microsoft.com/office/powerpoint/2010/main" val="3600681873"/>
              </p:ext>
            </p:extLst>
          </p:nvPr>
        </p:nvGraphicFramePr>
        <p:xfrm>
          <a:off x="822960" y="4812030"/>
          <a:ext cx="8138160" cy="1485900"/>
        </p:xfrm>
        <a:graphic>
          <a:graphicData uri="http://schemas.openxmlformats.org/drawingml/2006/table">
            <a:tbl>
              <a:tblPr/>
              <a:tblGrid>
                <a:gridCol w="4462862">
                  <a:extLst>
                    <a:ext uri="{9D8B030D-6E8A-4147-A177-3AD203B41FA5}">
                      <a16:colId xmlns:a16="http://schemas.microsoft.com/office/drawing/2014/main" val="20000"/>
                    </a:ext>
                  </a:extLst>
                </a:gridCol>
                <a:gridCol w="3675298">
                  <a:extLst>
                    <a:ext uri="{9D8B030D-6E8A-4147-A177-3AD203B41FA5}">
                      <a16:colId xmlns:a16="http://schemas.microsoft.com/office/drawing/2014/main" val="20001"/>
                    </a:ext>
                  </a:extLst>
                </a:gridCol>
              </a:tblGrid>
              <a:tr h="2971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Roll #</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297180">
                <a:tc>
                  <a:txBody>
                    <a:bodyPr/>
                    <a:lstStyle/>
                    <a:p>
                      <a:pPr marL="0" indent="0">
                        <a:buNone/>
                      </a:pPr>
                      <a:r>
                        <a:rPr lang="en-US" sz="1150" dirty="0" err="1">
                          <a:solidFill>
                            <a:srgbClr val="1B2B3A"/>
                          </a:solidFill>
                          <a:latin typeface="Calibri" pitchFamily="34" charset="0"/>
                          <a:ea typeface="Calibri" pitchFamily="34" charset="-122"/>
                          <a:cs typeface="Calibri" pitchFamily="34" charset="-120"/>
                        </a:rPr>
                        <a:t>Muuhammad</a:t>
                      </a:r>
                      <a:r>
                        <a:rPr lang="en-US" sz="1150" dirty="0">
                          <a:solidFill>
                            <a:srgbClr val="1B2B3A"/>
                          </a:solidFill>
                          <a:latin typeface="Calibri" pitchFamily="34" charset="0"/>
                          <a:ea typeface="Calibri" pitchFamily="34" charset="-122"/>
                          <a:cs typeface="Calibri" pitchFamily="34" charset="-120"/>
                        </a:rPr>
                        <a:t> </a:t>
                      </a:r>
                      <a:r>
                        <a:rPr lang="en-US" sz="1150" dirty="0" err="1">
                          <a:solidFill>
                            <a:srgbClr val="1B2B3A"/>
                          </a:solidFill>
                          <a:latin typeface="Calibri" pitchFamily="34" charset="0"/>
                          <a:ea typeface="Calibri" pitchFamily="34" charset="-122"/>
                          <a:cs typeface="Calibri" pitchFamily="34" charset="-120"/>
                        </a:rPr>
                        <a:t>Umer</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23010112-005</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297180">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Muhammad </a:t>
                      </a:r>
                      <a:r>
                        <a:rPr lang="en-US" sz="1150" dirty="0" err="1">
                          <a:solidFill>
                            <a:srgbClr val="1B2B3A"/>
                          </a:solidFill>
                          <a:latin typeface="Calibri" pitchFamily="34" charset="0"/>
                          <a:ea typeface="Calibri" pitchFamily="34" charset="-122"/>
                          <a:cs typeface="Calibri" pitchFamily="34" charset="-120"/>
                        </a:rPr>
                        <a:t>Irtisam</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23010112-006</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297180">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Bilal Tariq</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23010112-007</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297180">
                <a:tc>
                  <a:txBody>
                    <a:bodyPr/>
                    <a:lstStyle/>
                    <a:p>
                      <a:pPr marL="0" indent="0">
                        <a:buNone/>
                      </a:pPr>
                      <a:r>
                        <a:rPr lang="en-US" sz="1150" dirty="0" err="1">
                          <a:latin typeface="Calibri" charset="0"/>
                          <a:ea typeface="Calibri" charset="0"/>
                          <a:cs typeface="Calibri" charset="0"/>
                        </a:rPr>
                        <a:t>Ihtesham</a:t>
                      </a:r>
                      <a:r>
                        <a:rPr lang="en-US" sz="1150" dirty="0">
                          <a:latin typeface="Calibri" charset="0"/>
                          <a:ea typeface="Calibri" charset="0"/>
                          <a:cs typeface="Calibri" charset="0"/>
                        </a:rPr>
                        <a:t> Ali</a:t>
                      </a: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a:solidFill>
                            <a:srgbClr val="1B2B3A"/>
                          </a:solidFill>
                          <a:latin typeface="Calibri" pitchFamily="34" charset="0"/>
                          <a:ea typeface="Calibri" pitchFamily="34" charset="-122"/>
                          <a:cs typeface="Calibri" pitchFamily="34" charset="-120"/>
                        </a:rPr>
                        <a:t>23010112-008</a:t>
                      </a:r>
                      <a:endParaRPr lang="en-US" sz="1150" dirty="0">
                        <a:latin typeface="Calibri" charset="0"/>
                        <a:ea typeface="Calibri" charset="0"/>
                        <a:cs typeface="Calibri" charset="0"/>
                      </a:endParaRPr>
                    </a:p>
                  </a:txBody>
                  <a:tcPr anchor="ctr">
                    <a:lnL w="9525" cap="flat" cmpd="sng" algn="ctr">
                      <a:solidFill>
                        <a:srgbClr val="2E4A63"/>
                      </a:solidFill>
                      <a:prstDash val="solid"/>
                      <a:round/>
                      <a:headEnd type="none" w="med" len="med"/>
                      <a:tailEnd type="none" w="med" len="med"/>
                    </a:lnL>
                    <a:lnR w="9525" cap="flat" cmpd="sng" algn="ctr">
                      <a:solidFill>
                        <a:srgbClr val="2E4A63"/>
                      </a:solidFill>
                      <a:prstDash val="solid"/>
                      <a:round/>
                      <a:headEnd type="none" w="med" len="med"/>
                      <a:tailEnd type="none" w="med" len="med"/>
                    </a:lnR>
                    <a:lnT w="9525" cap="flat" cmpd="sng" algn="ctr">
                      <a:solidFill>
                        <a:srgbClr val="2E4A63"/>
                      </a:solidFill>
                      <a:prstDash val="solid"/>
                      <a:round/>
                      <a:headEnd type="none" w="med" len="med"/>
                      <a:tailEnd type="none" w="med" len="med"/>
                    </a:lnT>
                    <a:lnB w="9525" cap="flat" cmpd="sng" algn="ctr">
                      <a:solidFill>
                        <a:srgbClr val="2E4A63"/>
                      </a:solidFill>
                      <a:prstDash val="solid"/>
                      <a:round/>
                      <a:headEnd type="none" w="med" len="med"/>
                      <a:tailEnd type="none" w="med" len="med"/>
                    </a:lnB>
                    <a:solidFill>
                      <a:srgbClr val="E8F1F8"/>
                    </a:solidFill>
                  </a:tcPr>
                </a:tc>
                <a:extLst>
                  <a:ext uri="{0D108BD9-81ED-4DB2-BD59-A6C34878D82A}">
                    <a16:rowId xmlns:a16="http://schemas.microsoft.com/office/drawing/2014/main" val="176996238"/>
                  </a:ext>
                </a:extLst>
              </a:tr>
            </a:tbl>
          </a:graphicData>
        </a:graphic>
      </p:graphicFrame>
      <p:sp>
        <p:nvSpPr>
          <p:cNvPr id="12" name="Text 8"/>
          <p:cNvSpPr/>
          <p:nvPr/>
        </p:nvSpPr>
        <p:spPr>
          <a:xfrm>
            <a:off x="9052560" y="5102352"/>
            <a:ext cx="2468880" cy="274320"/>
          </a:xfrm>
          <a:prstGeom prst="rect">
            <a:avLst/>
          </a:prstGeom>
          <a:noFill/>
          <a:ln/>
        </p:spPr>
        <p:txBody>
          <a:bodyPr wrap="square" rtlCol="0" anchor="ctr"/>
          <a:lstStyle/>
          <a:p>
            <a:pPr marL="0" indent="0">
              <a:buNone/>
            </a:pPr>
            <a:r>
              <a:rPr lang="en-US" sz="1100" b="1" dirty="0">
                <a:solidFill>
                  <a:srgbClr val="6FDFDF"/>
                </a:solidFill>
                <a:latin typeface="Calibri" pitchFamily="34" charset="0"/>
                <a:ea typeface="Calibri" pitchFamily="34" charset="-122"/>
                <a:cs typeface="Calibri" pitchFamily="34" charset="-120"/>
              </a:rPr>
              <a:t>Department: </a:t>
            </a:r>
            <a:endParaRPr lang="en-US" sz="1100" dirty="0"/>
          </a:p>
        </p:txBody>
      </p:sp>
      <p:sp>
        <p:nvSpPr>
          <p:cNvPr id="13" name="Text 9"/>
          <p:cNvSpPr/>
          <p:nvPr/>
        </p:nvSpPr>
        <p:spPr>
          <a:xfrm>
            <a:off x="9052560" y="5349240"/>
            <a:ext cx="2651760" cy="2743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Artificial Intelligence</a:t>
            </a:r>
            <a:endParaRPr lang="en-US" sz="1200" dirty="0"/>
          </a:p>
        </p:txBody>
      </p:sp>
      <p:sp>
        <p:nvSpPr>
          <p:cNvPr id="14" name="Text 10"/>
          <p:cNvSpPr/>
          <p:nvPr/>
        </p:nvSpPr>
        <p:spPr>
          <a:xfrm>
            <a:off x="9052560" y="5669280"/>
            <a:ext cx="2651760" cy="274320"/>
          </a:xfrm>
          <a:prstGeom prst="rect">
            <a:avLst/>
          </a:prstGeom>
          <a:noFill/>
          <a:ln/>
        </p:spPr>
        <p:txBody>
          <a:bodyPr wrap="square" rtlCol="0" anchor="ctr"/>
          <a:lstStyle/>
          <a:p>
            <a:pPr marL="0" indent="0">
              <a:buNone/>
            </a:pPr>
            <a:r>
              <a:rPr lang="en-US" sz="1200" dirty="0">
                <a:solidFill>
                  <a:srgbClr val="C9DCE8"/>
                </a:solidFill>
                <a:latin typeface="Calibri" pitchFamily="34" charset="0"/>
                <a:ea typeface="Calibri" pitchFamily="34" charset="-122"/>
                <a:cs typeface="Calibri" pitchFamily="34" charset="-120"/>
              </a:rPr>
              <a:t>University of Sialkot</a:t>
            </a:r>
            <a:endParaRPr lang="en-US" sz="1200" dirty="0"/>
          </a:p>
        </p:txBody>
      </p:sp>
      <p:sp>
        <p:nvSpPr>
          <p:cNvPr id="15" name="Text 11"/>
          <p:cNvSpPr/>
          <p:nvPr/>
        </p:nvSpPr>
        <p:spPr>
          <a:xfrm>
            <a:off x="9052560" y="5943600"/>
            <a:ext cx="2651760" cy="27432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548640" y="169164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5" name="Text 3"/>
          <p:cNvSpPr/>
          <p:nvPr/>
        </p:nvSpPr>
        <p:spPr>
          <a:xfrm>
            <a:off x="731520" y="182880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731520" y="242316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Introduction &amp; Motivation</a:t>
            </a:r>
            <a:endParaRPr lang="en-US" sz="1350" dirty="0"/>
          </a:p>
        </p:txBody>
      </p:sp>
      <p:sp>
        <p:nvSpPr>
          <p:cNvPr id="7" name="Shape 5"/>
          <p:cNvSpPr/>
          <p:nvPr/>
        </p:nvSpPr>
        <p:spPr>
          <a:xfrm>
            <a:off x="4343400" y="169164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8" name="Text 6"/>
          <p:cNvSpPr/>
          <p:nvPr/>
        </p:nvSpPr>
        <p:spPr>
          <a:xfrm>
            <a:off x="4526280" y="182880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02</a:t>
            </a:r>
            <a:endParaRPr lang="en-US" sz="3000" dirty="0"/>
          </a:p>
        </p:txBody>
      </p:sp>
      <p:sp>
        <p:nvSpPr>
          <p:cNvPr id="9" name="Text 7"/>
          <p:cNvSpPr/>
          <p:nvPr/>
        </p:nvSpPr>
        <p:spPr>
          <a:xfrm>
            <a:off x="4526280" y="242316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Problem Statement</a:t>
            </a:r>
            <a:endParaRPr lang="en-US" sz="1350" dirty="0"/>
          </a:p>
        </p:txBody>
      </p:sp>
      <p:sp>
        <p:nvSpPr>
          <p:cNvPr id="10" name="Shape 8"/>
          <p:cNvSpPr/>
          <p:nvPr/>
        </p:nvSpPr>
        <p:spPr>
          <a:xfrm>
            <a:off x="8138160" y="169164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11" name="Text 9"/>
          <p:cNvSpPr/>
          <p:nvPr/>
        </p:nvSpPr>
        <p:spPr>
          <a:xfrm>
            <a:off x="8321040" y="182880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03</a:t>
            </a:r>
            <a:endParaRPr lang="en-US" sz="3000" dirty="0"/>
          </a:p>
        </p:txBody>
      </p:sp>
      <p:sp>
        <p:nvSpPr>
          <p:cNvPr id="12" name="Text 10"/>
          <p:cNvSpPr/>
          <p:nvPr/>
        </p:nvSpPr>
        <p:spPr>
          <a:xfrm>
            <a:off x="8321040" y="242316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Background &amp; Literature Review</a:t>
            </a:r>
            <a:endParaRPr lang="en-US" sz="1350" dirty="0"/>
          </a:p>
        </p:txBody>
      </p:sp>
      <p:sp>
        <p:nvSpPr>
          <p:cNvPr id="13" name="Shape 11"/>
          <p:cNvSpPr/>
          <p:nvPr/>
        </p:nvSpPr>
        <p:spPr>
          <a:xfrm>
            <a:off x="548640" y="310896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14" name="Text 12"/>
          <p:cNvSpPr/>
          <p:nvPr/>
        </p:nvSpPr>
        <p:spPr>
          <a:xfrm>
            <a:off x="731520" y="324612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04</a:t>
            </a:r>
            <a:endParaRPr lang="en-US" sz="3000" dirty="0"/>
          </a:p>
        </p:txBody>
      </p:sp>
      <p:sp>
        <p:nvSpPr>
          <p:cNvPr id="15" name="Text 13"/>
          <p:cNvSpPr/>
          <p:nvPr/>
        </p:nvSpPr>
        <p:spPr>
          <a:xfrm>
            <a:off x="731520" y="384048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Vector Space Model</a:t>
            </a:r>
            <a:endParaRPr lang="en-US" sz="1350" dirty="0"/>
          </a:p>
        </p:txBody>
      </p:sp>
      <p:sp>
        <p:nvSpPr>
          <p:cNvPr id="16" name="Shape 14"/>
          <p:cNvSpPr/>
          <p:nvPr/>
        </p:nvSpPr>
        <p:spPr>
          <a:xfrm>
            <a:off x="4343400" y="310896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17" name="Text 15"/>
          <p:cNvSpPr/>
          <p:nvPr/>
        </p:nvSpPr>
        <p:spPr>
          <a:xfrm>
            <a:off x="4526280" y="324612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05</a:t>
            </a:r>
            <a:endParaRPr lang="en-US" sz="3000" dirty="0"/>
          </a:p>
        </p:txBody>
      </p:sp>
      <p:sp>
        <p:nvSpPr>
          <p:cNvPr id="18" name="Text 16"/>
          <p:cNvSpPr/>
          <p:nvPr/>
        </p:nvSpPr>
        <p:spPr>
          <a:xfrm>
            <a:off x="4526280" y="384048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TF, IDF &amp; Weighting</a:t>
            </a:r>
            <a:endParaRPr lang="en-US" sz="1350" dirty="0"/>
          </a:p>
        </p:txBody>
      </p:sp>
      <p:sp>
        <p:nvSpPr>
          <p:cNvPr id="19" name="Shape 17"/>
          <p:cNvSpPr/>
          <p:nvPr/>
        </p:nvSpPr>
        <p:spPr>
          <a:xfrm>
            <a:off x="8138160" y="310896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20" name="Text 18"/>
          <p:cNvSpPr/>
          <p:nvPr/>
        </p:nvSpPr>
        <p:spPr>
          <a:xfrm>
            <a:off x="8321040" y="324612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06</a:t>
            </a:r>
            <a:endParaRPr lang="en-US" sz="3000" dirty="0"/>
          </a:p>
        </p:txBody>
      </p:sp>
      <p:sp>
        <p:nvSpPr>
          <p:cNvPr id="21" name="Text 19"/>
          <p:cNvSpPr/>
          <p:nvPr/>
        </p:nvSpPr>
        <p:spPr>
          <a:xfrm>
            <a:off x="8321040" y="384048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Cosine Similarity</a:t>
            </a:r>
            <a:endParaRPr lang="en-US" sz="1350" dirty="0"/>
          </a:p>
        </p:txBody>
      </p:sp>
      <p:sp>
        <p:nvSpPr>
          <p:cNvPr id="22" name="Shape 20"/>
          <p:cNvSpPr/>
          <p:nvPr/>
        </p:nvSpPr>
        <p:spPr>
          <a:xfrm>
            <a:off x="548640" y="452628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23" name="Text 21"/>
          <p:cNvSpPr/>
          <p:nvPr/>
        </p:nvSpPr>
        <p:spPr>
          <a:xfrm>
            <a:off x="731520" y="466344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07</a:t>
            </a:r>
            <a:endParaRPr lang="en-US" sz="3000" dirty="0"/>
          </a:p>
        </p:txBody>
      </p:sp>
      <p:sp>
        <p:nvSpPr>
          <p:cNvPr id="24" name="Text 22"/>
          <p:cNvSpPr/>
          <p:nvPr/>
        </p:nvSpPr>
        <p:spPr>
          <a:xfrm>
            <a:off x="731520" y="525780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Methodology &amp; Experimental Setup</a:t>
            </a:r>
            <a:endParaRPr lang="en-US" sz="1350" dirty="0"/>
          </a:p>
        </p:txBody>
      </p:sp>
      <p:sp>
        <p:nvSpPr>
          <p:cNvPr id="25" name="Shape 23"/>
          <p:cNvSpPr/>
          <p:nvPr/>
        </p:nvSpPr>
        <p:spPr>
          <a:xfrm>
            <a:off x="4343400" y="452628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26" name="Text 24"/>
          <p:cNvSpPr/>
          <p:nvPr/>
        </p:nvSpPr>
        <p:spPr>
          <a:xfrm>
            <a:off x="4526280" y="466344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08</a:t>
            </a:r>
            <a:endParaRPr lang="en-US" sz="3000" dirty="0"/>
          </a:p>
        </p:txBody>
      </p:sp>
      <p:sp>
        <p:nvSpPr>
          <p:cNvPr id="27" name="Text 25"/>
          <p:cNvSpPr/>
          <p:nvPr/>
        </p:nvSpPr>
        <p:spPr>
          <a:xfrm>
            <a:off x="4526280" y="525780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Results, Discussion &amp; Ethics</a:t>
            </a:r>
            <a:endParaRPr lang="en-US" sz="1350" dirty="0"/>
          </a:p>
        </p:txBody>
      </p:sp>
      <p:sp>
        <p:nvSpPr>
          <p:cNvPr id="28" name="Shape 26"/>
          <p:cNvSpPr/>
          <p:nvPr/>
        </p:nvSpPr>
        <p:spPr>
          <a:xfrm>
            <a:off x="8138160" y="4526280"/>
            <a:ext cx="3611880" cy="1234440"/>
          </a:xfrm>
          <a:prstGeom prst="roundRect">
            <a:avLst>
              <a:gd name="adj" fmla="val 5926"/>
            </a:avLst>
          </a:prstGeom>
          <a:solidFill>
            <a:srgbClr val="E8F1F8"/>
          </a:solidFill>
          <a:ln/>
          <a:effectLst>
            <a:outerShdw blurRad="101600" dist="25400" dir="5400000" algn="bl" rotWithShape="0">
              <a:srgbClr val="1B2B3A">
                <a:alpha val="10000"/>
              </a:srgbClr>
            </a:outerShdw>
          </a:effectLst>
        </p:spPr>
      </p:sp>
      <p:sp>
        <p:nvSpPr>
          <p:cNvPr id="29" name="Text 27"/>
          <p:cNvSpPr/>
          <p:nvPr/>
        </p:nvSpPr>
        <p:spPr>
          <a:xfrm>
            <a:off x="8321040" y="4663440"/>
            <a:ext cx="1097280" cy="640080"/>
          </a:xfrm>
          <a:prstGeom prst="rect">
            <a:avLst/>
          </a:prstGeom>
          <a:noFill/>
          <a:ln/>
        </p:spPr>
        <p:txBody>
          <a:bodyPr wrap="square" rtlCol="0" anchor="ctr"/>
          <a:lstStyle/>
          <a:p>
            <a:pPr marL="0" indent="0">
              <a:buNone/>
            </a:pPr>
            <a:r>
              <a:rPr lang="en-US" sz="3000" b="1" dirty="0">
                <a:solidFill>
                  <a:srgbClr val="1C7293"/>
                </a:solidFill>
                <a:latin typeface="Cambria" pitchFamily="34" charset="0"/>
                <a:ea typeface="Cambria" pitchFamily="34" charset="-122"/>
                <a:cs typeface="Cambria" pitchFamily="34" charset="-120"/>
              </a:rPr>
              <a:t>09</a:t>
            </a:r>
            <a:endParaRPr lang="en-US" sz="3000" dirty="0"/>
          </a:p>
        </p:txBody>
      </p:sp>
      <p:sp>
        <p:nvSpPr>
          <p:cNvPr id="30" name="Text 28"/>
          <p:cNvSpPr/>
          <p:nvPr/>
        </p:nvSpPr>
        <p:spPr>
          <a:xfrm>
            <a:off x="8321040" y="5257800"/>
            <a:ext cx="3246120" cy="457200"/>
          </a:xfrm>
          <a:prstGeom prst="rect">
            <a:avLst/>
          </a:prstGeom>
          <a:noFill/>
          <a:ln/>
        </p:spPr>
        <p:txBody>
          <a:bodyPr wrap="square" rtlCol="0" anchor="ctr"/>
          <a:lstStyle/>
          <a:p>
            <a:pPr marL="0" indent="0">
              <a:buNone/>
            </a:pPr>
            <a:r>
              <a:rPr lang="en-US" sz="1350" b="1" dirty="0">
                <a:solidFill>
                  <a:srgbClr val="1B2B3A"/>
                </a:solidFill>
                <a:latin typeface="Calibri" pitchFamily="34" charset="0"/>
                <a:ea typeface="Calibri" pitchFamily="34" charset="-122"/>
                <a:cs typeface="Calibri" pitchFamily="34" charset="-120"/>
              </a:rPr>
              <a:t>Future Work &amp; Conclusion</a:t>
            </a:r>
            <a:endParaRPr lang="en-US" sz="1350" dirty="0"/>
          </a:p>
        </p:txBody>
      </p:sp>
      <p:sp>
        <p:nvSpPr>
          <p:cNvPr id="31" name="Text 29"/>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2</a:t>
            </a:r>
            <a:endParaRPr lang="en-US" sz="1000" dirty="0"/>
          </a:p>
        </p:txBody>
      </p:sp>
      <p:sp>
        <p:nvSpPr>
          <p:cNvPr id="32" name="Text 30"/>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What is Information Retrieval?</a:t>
            </a:r>
            <a:endParaRPr lang="en-US" sz="3200" dirty="0"/>
          </a:p>
        </p:txBody>
      </p:sp>
      <p:sp>
        <p:nvSpPr>
          <p:cNvPr id="4" name="Text 2"/>
          <p:cNvSpPr/>
          <p:nvPr/>
        </p:nvSpPr>
        <p:spPr>
          <a:xfrm>
            <a:off x="548640" y="1691640"/>
            <a:ext cx="5577840" cy="2103120"/>
          </a:xfrm>
          <a:prstGeom prst="rect">
            <a:avLst/>
          </a:prstGeom>
          <a:noFill/>
          <a:ln/>
        </p:spPr>
        <p:txBody>
          <a:bodyPr wrap="square" rtlCol="0" anchor="ctr"/>
          <a:lstStyle/>
          <a:p>
            <a:pPr marL="342900" indent="-342900">
              <a:lnSpc>
                <a:spcPct val="115000"/>
              </a:lnSpc>
              <a:spcAft>
                <a:spcPts val="1000"/>
              </a:spcAft>
              <a:buSzPct val="100000"/>
              <a:buChar char="•"/>
            </a:pPr>
            <a:r>
              <a:rPr lang="en-US" sz="1500" dirty="0">
                <a:solidFill>
                  <a:srgbClr val="1B2B3A"/>
                </a:solidFill>
                <a:latin typeface="Calibri" pitchFamily="34" charset="0"/>
                <a:ea typeface="Calibri" pitchFamily="34" charset="-122"/>
                <a:cs typeface="Calibri" pitchFamily="34" charset="-120"/>
              </a:rPr>
              <a:t>The task of finding relevant documents from a large collection in response to a user's query.</a:t>
            </a:r>
            <a:endParaRPr lang="en-US" sz="1500" dirty="0"/>
          </a:p>
          <a:p>
            <a:pPr marL="342900" indent="-342900">
              <a:lnSpc>
                <a:spcPct val="115000"/>
              </a:lnSpc>
              <a:spcAft>
                <a:spcPts val="1000"/>
              </a:spcAft>
              <a:buSzPct val="100000"/>
              <a:buChar char="•"/>
            </a:pPr>
            <a:r>
              <a:rPr lang="en-US" sz="1500" dirty="0">
                <a:solidFill>
                  <a:srgbClr val="1B2B3A"/>
                </a:solidFill>
                <a:latin typeface="Calibri" pitchFamily="34" charset="0"/>
                <a:ea typeface="Calibri" pitchFamily="34" charset="-122"/>
                <a:cs typeface="Calibri" pitchFamily="34" charset="-120"/>
              </a:rPr>
              <a:t>Needed because manually reading every document is impossible at web scale.</a:t>
            </a:r>
            <a:endParaRPr lang="en-US" sz="1500" dirty="0"/>
          </a:p>
          <a:p>
            <a:pPr marL="342900" indent="-342900">
              <a:lnSpc>
                <a:spcPct val="115000"/>
              </a:lnSpc>
              <a:buSzPct val="100000"/>
              <a:buChar char="•"/>
            </a:pPr>
            <a:r>
              <a:rPr lang="en-US" sz="1500" dirty="0">
                <a:solidFill>
                  <a:srgbClr val="1B2B3A"/>
                </a:solidFill>
                <a:latin typeface="Calibri" pitchFamily="34" charset="0"/>
                <a:ea typeface="Calibri" pitchFamily="34" charset="-122"/>
                <a:cs typeface="Calibri" pitchFamily="34" charset="-120"/>
              </a:rPr>
              <a:t>Goal: return the most useful results first, not just any match.</a:t>
            </a:r>
            <a:endParaRPr lang="en-US" sz="1500" dirty="0"/>
          </a:p>
        </p:txBody>
      </p:sp>
      <p:sp>
        <p:nvSpPr>
          <p:cNvPr id="5" name="Text 3"/>
          <p:cNvSpPr/>
          <p:nvPr/>
        </p:nvSpPr>
        <p:spPr>
          <a:xfrm>
            <a:off x="548640" y="3886200"/>
            <a:ext cx="5486400" cy="32004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REAL-WORLD APPLICATIONS</a:t>
            </a:r>
            <a:endParaRPr lang="en-US" sz="1200" dirty="0"/>
          </a:p>
        </p:txBody>
      </p:sp>
      <p:sp>
        <p:nvSpPr>
          <p:cNvPr id="6" name="Shape 4"/>
          <p:cNvSpPr/>
          <p:nvPr/>
        </p:nvSpPr>
        <p:spPr>
          <a:xfrm>
            <a:off x="548640" y="4297680"/>
            <a:ext cx="1051560" cy="1051560"/>
          </a:xfrm>
          <a:prstGeom prst="ellipse">
            <a:avLst/>
          </a:prstGeom>
          <a:solidFill>
            <a:srgbClr val="13315C"/>
          </a:solidFill>
          <a:ln/>
        </p:spPr>
      </p:sp>
      <p:pic>
        <p:nvPicPr>
          <p:cNvPr id="7" name="Image 0" descr="preencoded.png"/>
          <p:cNvPicPr>
            <a:picLocks noChangeAspect="1"/>
          </p:cNvPicPr>
          <p:nvPr/>
        </p:nvPicPr>
        <p:blipFill>
          <a:blip r:embed="rId3"/>
          <a:stretch>
            <a:fillRect/>
          </a:stretch>
        </p:blipFill>
        <p:spPr>
          <a:xfrm>
            <a:off x="801014" y="4550054"/>
            <a:ext cx="546811" cy="546811"/>
          </a:xfrm>
          <a:prstGeom prst="rect">
            <a:avLst/>
          </a:prstGeom>
        </p:spPr>
      </p:pic>
      <p:sp>
        <p:nvSpPr>
          <p:cNvPr id="8" name="Text 5"/>
          <p:cNvSpPr/>
          <p:nvPr/>
        </p:nvSpPr>
        <p:spPr>
          <a:xfrm>
            <a:off x="320040" y="5422392"/>
            <a:ext cx="1508760" cy="502920"/>
          </a:xfrm>
          <a:prstGeom prst="rect">
            <a:avLst/>
          </a:prstGeom>
          <a:noFill/>
          <a:ln/>
        </p:spPr>
        <p:txBody>
          <a:bodyPr wrap="square" rtlCol="0" anchor="ctr"/>
          <a:lstStyle/>
          <a:p>
            <a:pPr marL="0" indent="0" algn="ctr">
              <a:buNone/>
            </a:pPr>
            <a:r>
              <a:rPr lang="en-US" sz="1000" dirty="0">
                <a:solidFill>
                  <a:srgbClr val="1B2B3A"/>
                </a:solidFill>
                <a:latin typeface="Calibri" pitchFamily="34" charset="0"/>
                <a:ea typeface="Calibri" pitchFamily="34" charset="-122"/>
                <a:cs typeface="Calibri" pitchFamily="34" charset="-120"/>
              </a:rPr>
              <a:t>Google Search</a:t>
            </a:r>
            <a:endParaRPr lang="en-US" sz="1000" dirty="0"/>
          </a:p>
        </p:txBody>
      </p:sp>
      <p:sp>
        <p:nvSpPr>
          <p:cNvPr id="9" name="Shape 6"/>
          <p:cNvSpPr/>
          <p:nvPr/>
        </p:nvSpPr>
        <p:spPr>
          <a:xfrm>
            <a:off x="1737360" y="4297680"/>
            <a:ext cx="1051560" cy="1051560"/>
          </a:xfrm>
          <a:prstGeom prst="ellipse">
            <a:avLst/>
          </a:prstGeom>
          <a:solidFill>
            <a:srgbClr val="13315C"/>
          </a:solidFill>
          <a:ln/>
        </p:spPr>
      </p:sp>
      <p:pic>
        <p:nvPicPr>
          <p:cNvPr id="10" name="Image 1" descr="preencoded.png"/>
          <p:cNvPicPr>
            <a:picLocks noChangeAspect="1"/>
          </p:cNvPicPr>
          <p:nvPr/>
        </p:nvPicPr>
        <p:blipFill>
          <a:blip r:embed="rId4"/>
          <a:stretch>
            <a:fillRect/>
          </a:stretch>
        </p:blipFill>
        <p:spPr>
          <a:xfrm>
            <a:off x="1989734" y="4550054"/>
            <a:ext cx="546811" cy="546811"/>
          </a:xfrm>
          <a:prstGeom prst="rect">
            <a:avLst/>
          </a:prstGeom>
        </p:spPr>
      </p:pic>
      <p:sp>
        <p:nvSpPr>
          <p:cNvPr id="11" name="Text 7"/>
          <p:cNvSpPr/>
          <p:nvPr/>
        </p:nvSpPr>
        <p:spPr>
          <a:xfrm>
            <a:off x="1508760" y="5422392"/>
            <a:ext cx="1508760" cy="502920"/>
          </a:xfrm>
          <a:prstGeom prst="rect">
            <a:avLst/>
          </a:prstGeom>
          <a:noFill/>
          <a:ln/>
        </p:spPr>
        <p:txBody>
          <a:bodyPr wrap="square" rtlCol="0" anchor="ctr"/>
          <a:lstStyle/>
          <a:p>
            <a:pPr marL="0" indent="0" algn="ctr">
              <a:buNone/>
            </a:pPr>
            <a:r>
              <a:rPr lang="en-US" sz="1000" dirty="0">
                <a:solidFill>
                  <a:srgbClr val="1B2B3A"/>
                </a:solidFill>
                <a:latin typeface="Calibri" pitchFamily="34" charset="0"/>
                <a:ea typeface="Calibri" pitchFamily="34" charset="-122"/>
                <a:cs typeface="Calibri" pitchFamily="34" charset="-120"/>
              </a:rPr>
              <a:t>Digital Libraries</a:t>
            </a:r>
            <a:endParaRPr lang="en-US" sz="1000" dirty="0"/>
          </a:p>
        </p:txBody>
      </p:sp>
      <p:sp>
        <p:nvSpPr>
          <p:cNvPr id="12" name="Shape 8"/>
          <p:cNvSpPr/>
          <p:nvPr/>
        </p:nvSpPr>
        <p:spPr>
          <a:xfrm>
            <a:off x="2926080" y="4297680"/>
            <a:ext cx="1051560" cy="1051560"/>
          </a:xfrm>
          <a:prstGeom prst="ellipse">
            <a:avLst/>
          </a:prstGeom>
          <a:solidFill>
            <a:srgbClr val="13315C"/>
          </a:solidFill>
          <a:ln/>
        </p:spPr>
      </p:sp>
      <p:pic>
        <p:nvPicPr>
          <p:cNvPr id="13" name="Image 2" descr="preencoded.png"/>
          <p:cNvPicPr>
            <a:picLocks noChangeAspect="1"/>
          </p:cNvPicPr>
          <p:nvPr/>
        </p:nvPicPr>
        <p:blipFill>
          <a:blip r:embed="rId5"/>
          <a:stretch>
            <a:fillRect/>
          </a:stretch>
        </p:blipFill>
        <p:spPr>
          <a:xfrm>
            <a:off x="3178454" y="4550054"/>
            <a:ext cx="546811" cy="546811"/>
          </a:xfrm>
          <a:prstGeom prst="rect">
            <a:avLst/>
          </a:prstGeom>
        </p:spPr>
      </p:pic>
      <p:sp>
        <p:nvSpPr>
          <p:cNvPr id="14" name="Text 9"/>
          <p:cNvSpPr/>
          <p:nvPr/>
        </p:nvSpPr>
        <p:spPr>
          <a:xfrm>
            <a:off x="2697480" y="5422392"/>
            <a:ext cx="1508760" cy="502920"/>
          </a:xfrm>
          <a:prstGeom prst="rect">
            <a:avLst/>
          </a:prstGeom>
          <a:noFill/>
          <a:ln/>
        </p:spPr>
        <p:txBody>
          <a:bodyPr wrap="square" rtlCol="0" anchor="ctr"/>
          <a:lstStyle/>
          <a:p>
            <a:pPr marL="0" indent="0" algn="ctr">
              <a:buNone/>
            </a:pPr>
            <a:r>
              <a:rPr lang="en-US" sz="1000" dirty="0">
                <a:solidFill>
                  <a:srgbClr val="1B2B3A"/>
                </a:solidFill>
                <a:latin typeface="Calibri" pitchFamily="34" charset="0"/>
                <a:ea typeface="Calibri" pitchFamily="34" charset="-122"/>
                <a:cs typeface="Calibri" pitchFamily="34" charset="-120"/>
              </a:rPr>
              <a:t>Search Engines</a:t>
            </a:r>
            <a:endParaRPr lang="en-US" sz="1000" dirty="0"/>
          </a:p>
        </p:txBody>
      </p:sp>
      <p:sp>
        <p:nvSpPr>
          <p:cNvPr id="15" name="Shape 10"/>
          <p:cNvSpPr/>
          <p:nvPr/>
        </p:nvSpPr>
        <p:spPr>
          <a:xfrm>
            <a:off x="4114800" y="4297680"/>
            <a:ext cx="1051560" cy="1051560"/>
          </a:xfrm>
          <a:prstGeom prst="ellipse">
            <a:avLst/>
          </a:prstGeom>
          <a:solidFill>
            <a:srgbClr val="13315C"/>
          </a:solidFill>
          <a:ln/>
        </p:spPr>
      </p:sp>
      <p:pic>
        <p:nvPicPr>
          <p:cNvPr id="16" name="Image 3" descr="preencoded.png"/>
          <p:cNvPicPr>
            <a:picLocks noChangeAspect="1"/>
          </p:cNvPicPr>
          <p:nvPr/>
        </p:nvPicPr>
        <p:blipFill>
          <a:blip r:embed="rId6"/>
          <a:stretch>
            <a:fillRect/>
          </a:stretch>
        </p:blipFill>
        <p:spPr>
          <a:xfrm>
            <a:off x="4367174" y="4550054"/>
            <a:ext cx="546811" cy="546811"/>
          </a:xfrm>
          <a:prstGeom prst="rect">
            <a:avLst/>
          </a:prstGeom>
        </p:spPr>
      </p:pic>
      <p:sp>
        <p:nvSpPr>
          <p:cNvPr id="17" name="Text 11"/>
          <p:cNvSpPr/>
          <p:nvPr/>
        </p:nvSpPr>
        <p:spPr>
          <a:xfrm>
            <a:off x="3886200" y="5422392"/>
            <a:ext cx="1508760" cy="502920"/>
          </a:xfrm>
          <a:prstGeom prst="rect">
            <a:avLst/>
          </a:prstGeom>
          <a:noFill/>
          <a:ln/>
        </p:spPr>
        <p:txBody>
          <a:bodyPr wrap="square" rtlCol="0" anchor="ctr"/>
          <a:lstStyle/>
          <a:p>
            <a:pPr marL="0" indent="0" algn="ctr">
              <a:buNone/>
            </a:pPr>
            <a:r>
              <a:rPr lang="en-US" sz="1000" dirty="0">
                <a:solidFill>
                  <a:srgbClr val="1B2B3A"/>
                </a:solidFill>
                <a:latin typeface="Calibri" pitchFamily="34" charset="0"/>
                <a:ea typeface="Calibri" pitchFamily="34" charset="-122"/>
                <a:cs typeface="Calibri" pitchFamily="34" charset="-120"/>
              </a:rPr>
              <a:t>E-commerce Search</a:t>
            </a:r>
            <a:endParaRPr lang="en-US" sz="1000" dirty="0"/>
          </a:p>
        </p:txBody>
      </p:sp>
      <p:sp>
        <p:nvSpPr>
          <p:cNvPr id="18" name="Shape 12"/>
          <p:cNvSpPr/>
          <p:nvPr/>
        </p:nvSpPr>
        <p:spPr>
          <a:xfrm>
            <a:off x="5303520" y="4297680"/>
            <a:ext cx="1051560" cy="1051560"/>
          </a:xfrm>
          <a:prstGeom prst="ellipse">
            <a:avLst/>
          </a:prstGeom>
          <a:solidFill>
            <a:srgbClr val="13315C"/>
          </a:solidFill>
          <a:ln/>
        </p:spPr>
      </p:sp>
      <p:pic>
        <p:nvPicPr>
          <p:cNvPr id="19" name="Image 4" descr="preencoded.png"/>
          <p:cNvPicPr>
            <a:picLocks noChangeAspect="1"/>
          </p:cNvPicPr>
          <p:nvPr/>
        </p:nvPicPr>
        <p:blipFill>
          <a:blip r:embed="rId7"/>
          <a:stretch>
            <a:fillRect/>
          </a:stretch>
        </p:blipFill>
        <p:spPr>
          <a:xfrm>
            <a:off x="5555894" y="4550054"/>
            <a:ext cx="546811" cy="546811"/>
          </a:xfrm>
          <a:prstGeom prst="rect">
            <a:avLst/>
          </a:prstGeom>
        </p:spPr>
      </p:pic>
      <p:sp>
        <p:nvSpPr>
          <p:cNvPr id="20" name="Text 13"/>
          <p:cNvSpPr/>
          <p:nvPr/>
        </p:nvSpPr>
        <p:spPr>
          <a:xfrm>
            <a:off x="5074920" y="5422392"/>
            <a:ext cx="1508760" cy="502920"/>
          </a:xfrm>
          <a:prstGeom prst="rect">
            <a:avLst/>
          </a:prstGeom>
          <a:noFill/>
          <a:ln/>
        </p:spPr>
        <p:txBody>
          <a:bodyPr wrap="square" rtlCol="0" anchor="ctr"/>
          <a:lstStyle/>
          <a:p>
            <a:pPr marL="0" indent="0" algn="ctr">
              <a:buNone/>
            </a:pPr>
            <a:r>
              <a:rPr lang="en-US" sz="1000" dirty="0">
                <a:solidFill>
                  <a:srgbClr val="1B2B3A"/>
                </a:solidFill>
                <a:latin typeface="Calibri" pitchFamily="34" charset="0"/>
                <a:ea typeface="Calibri" pitchFamily="34" charset="-122"/>
                <a:cs typeface="Calibri" pitchFamily="34" charset="-120"/>
              </a:rPr>
              <a:t>Document Retrieval</a:t>
            </a:r>
            <a:endParaRPr lang="en-US" sz="1000" dirty="0"/>
          </a:p>
        </p:txBody>
      </p:sp>
      <p:sp>
        <p:nvSpPr>
          <p:cNvPr id="21" name="Shape 14"/>
          <p:cNvSpPr/>
          <p:nvPr/>
        </p:nvSpPr>
        <p:spPr>
          <a:xfrm>
            <a:off x="6583680" y="1691640"/>
            <a:ext cx="5029200" cy="4206240"/>
          </a:xfrm>
          <a:prstGeom prst="roundRect">
            <a:avLst>
              <a:gd name="adj" fmla="val 2609"/>
            </a:avLst>
          </a:prstGeom>
          <a:solidFill>
            <a:srgbClr val="0B2545"/>
          </a:solidFill>
          <a:ln/>
          <a:effectLst>
            <a:outerShdw blurRad="101600" dist="25400" dir="5400000" algn="bl" rotWithShape="0">
              <a:srgbClr val="1B2B3A">
                <a:alpha val="10000"/>
              </a:srgbClr>
            </a:outerShdw>
          </a:effectLst>
        </p:spPr>
      </p:sp>
      <p:sp>
        <p:nvSpPr>
          <p:cNvPr id="22" name="Shape 15"/>
          <p:cNvSpPr/>
          <p:nvPr/>
        </p:nvSpPr>
        <p:spPr>
          <a:xfrm>
            <a:off x="7315200" y="2057400"/>
            <a:ext cx="822960" cy="822960"/>
          </a:xfrm>
          <a:prstGeom prst="ellipse">
            <a:avLst/>
          </a:prstGeom>
          <a:solidFill>
            <a:srgbClr val="1C7293"/>
          </a:solidFill>
          <a:ln/>
        </p:spPr>
      </p:sp>
      <p:pic>
        <p:nvPicPr>
          <p:cNvPr id="23" name="Image 5" descr="preencoded.png"/>
          <p:cNvPicPr>
            <a:picLocks noChangeAspect="1"/>
          </p:cNvPicPr>
          <p:nvPr/>
        </p:nvPicPr>
        <p:blipFill>
          <a:blip r:embed="rId5"/>
          <a:stretch>
            <a:fillRect/>
          </a:stretch>
        </p:blipFill>
        <p:spPr>
          <a:xfrm>
            <a:off x="7512710" y="2254910"/>
            <a:ext cx="427939" cy="427939"/>
          </a:xfrm>
          <a:prstGeom prst="rect">
            <a:avLst/>
          </a:prstGeom>
        </p:spPr>
      </p:pic>
      <p:sp>
        <p:nvSpPr>
          <p:cNvPr id="24" name="Text 16"/>
          <p:cNvSpPr/>
          <p:nvPr/>
        </p:nvSpPr>
        <p:spPr>
          <a:xfrm>
            <a:off x="7315200" y="2926080"/>
            <a:ext cx="822960" cy="274320"/>
          </a:xfrm>
          <a:prstGeom prst="rect">
            <a:avLst/>
          </a:prstGeom>
          <a:noFill/>
          <a:ln/>
        </p:spPr>
        <p:txBody>
          <a:bodyPr wrap="square" rtlCol="0" anchor="ctr"/>
          <a:lstStyle/>
          <a:p>
            <a:pPr marL="0" indent="0" algn="ctr">
              <a:buNone/>
            </a:pPr>
            <a:r>
              <a:rPr lang="en-US" sz="1000" dirty="0">
                <a:solidFill>
                  <a:srgbClr val="C9DCE8"/>
                </a:solidFill>
                <a:latin typeface="Calibri" pitchFamily="34" charset="0"/>
                <a:ea typeface="Calibri" pitchFamily="34" charset="-122"/>
                <a:cs typeface="Calibri" pitchFamily="34" charset="-120"/>
              </a:rPr>
              <a:t>Query</a:t>
            </a:r>
            <a:endParaRPr lang="en-US" sz="1000" dirty="0"/>
          </a:p>
        </p:txBody>
      </p:sp>
      <p:sp>
        <p:nvSpPr>
          <p:cNvPr id="25" name="Shape 17"/>
          <p:cNvSpPr/>
          <p:nvPr/>
        </p:nvSpPr>
        <p:spPr>
          <a:xfrm>
            <a:off x="8275320" y="2423160"/>
            <a:ext cx="1005840" cy="0"/>
          </a:xfrm>
          <a:prstGeom prst="line">
            <a:avLst/>
          </a:prstGeom>
          <a:noFill/>
          <a:ln w="31750">
            <a:solidFill>
              <a:srgbClr val="6FDFDF"/>
            </a:solidFill>
            <a:prstDash val="solid"/>
            <a:tailEnd type="triangle"/>
          </a:ln>
        </p:spPr>
      </p:sp>
      <p:sp>
        <p:nvSpPr>
          <p:cNvPr id="26" name="Shape 18"/>
          <p:cNvSpPr/>
          <p:nvPr/>
        </p:nvSpPr>
        <p:spPr>
          <a:xfrm>
            <a:off x="9509760" y="1828800"/>
            <a:ext cx="1554480" cy="1188720"/>
          </a:xfrm>
          <a:prstGeom prst="roundRect">
            <a:avLst>
              <a:gd name="adj" fmla="val 3846"/>
            </a:avLst>
          </a:prstGeom>
          <a:solidFill>
            <a:srgbClr val="FFFFFF"/>
          </a:solidFill>
          <a:ln w="12700">
            <a:solidFill>
              <a:srgbClr val="9FC1D6"/>
            </a:solidFill>
            <a:prstDash val="solid"/>
          </a:ln>
        </p:spPr>
      </p:sp>
      <p:sp>
        <p:nvSpPr>
          <p:cNvPr id="27" name="Shape 19"/>
          <p:cNvSpPr/>
          <p:nvPr/>
        </p:nvSpPr>
        <p:spPr>
          <a:xfrm>
            <a:off x="9674352" y="1993392"/>
            <a:ext cx="1554480" cy="1188720"/>
          </a:xfrm>
          <a:prstGeom prst="roundRect">
            <a:avLst>
              <a:gd name="adj" fmla="val 3846"/>
            </a:avLst>
          </a:prstGeom>
          <a:solidFill>
            <a:srgbClr val="FFFFFF"/>
          </a:solidFill>
          <a:ln w="12700">
            <a:solidFill>
              <a:srgbClr val="9FC1D6"/>
            </a:solidFill>
            <a:prstDash val="solid"/>
          </a:ln>
        </p:spPr>
      </p:sp>
      <p:sp>
        <p:nvSpPr>
          <p:cNvPr id="28" name="Shape 20"/>
          <p:cNvSpPr/>
          <p:nvPr/>
        </p:nvSpPr>
        <p:spPr>
          <a:xfrm>
            <a:off x="9838944" y="2157984"/>
            <a:ext cx="1554480" cy="1188720"/>
          </a:xfrm>
          <a:prstGeom prst="roundRect">
            <a:avLst>
              <a:gd name="adj" fmla="val 3846"/>
            </a:avLst>
          </a:prstGeom>
          <a:solidFill>
            <a:srgbClr val="FFFFFF"/>
          </a:solidFill>
          <a:ln w="12700">
            <a:solidFill>
              <a:srgbClr val="9FC1D6"/>
            </a:solidFill>
            <a:prstDash val="solid"/>
          </a:ln>
        </p:spPr>
      </p:sp>
      <p:pic>
        <p:nvPicPr>
          <p:cNvPr id="29" name="Image 6" descr="preencoded.png"/>
          <p:cNvPicPr>
            <a:picLocks noChangeAspect="1"/>
          </p:cNvPicPr>
          <p:nvPr/>
        </p:nvPicPr>
        <p:blipFill>
          <a:blip r:embed="rId7"/>
          <a:stretch>
            <a:fillRect/>
          </a:stretch>
        </p:blipFill>
        <p:spPr>
          <a:xfrm>
            <a:off x="9802368" y="2331720"/>
            <a:ext cx="457200" cy="457200"/>
          </a:xfrm>
          <a:prstGeom prst="rect">
            <a:avLst/>
          </a:prstGeom>
        </p:spPr>
      </p:pic>
      <p:sp>
        <p:nvSpPr>
          <p:cNvPr id="30" name="Text 21"/>
          <p:cNvSpPr/>
          <p:nvPr/>
        </p:nvSpPr>
        <p:spPr>
          <a:xfrm>
            <a:off x="9372600" y="3246120"/>
            <a:ext cx="2103120" cy="457200"/>
          </a:xfrm>
          <a:prstGeom prst="rect">
            <a:avLst/>
          </a:prstGeom>
          <a:noFill/>
          <a:ln/>
        </p:spPr>
        <p:txBody>
          <a:bodyPr wrap="square" rtlCol="0" anchor="ctr"/>
          <a:lstStyle/>
          <a:p>
            <a:pPr marL="0" indent="0" algn="ctr">
              <a:buNone/>
            </a:pPr>
            <a:r>
              <a:rPr lang="en-US" sz="1000" dirty="0">
                <a:solidFill>
                  <a:srgbClr val="C9DCE8"/>
                </a:solidFill>
                <a:latin typeface="Calibri" pitchFamily="34" charset="0"/>
                <a:ea typeface="Calibri" pitchFamily="34" charset="-122"/>
                <a:cs typeface="Calibri" pitchFamily="34" charset="-120"/>
              </a:rPr>
              <a:t>Document</a:t>
            </a:r>
            <a:endParaRPr lang="en-US" sz="1000" dirty="0"/>
          </a:p>
          <a:p>
            <a:pPr marL="0" indent="0" algn="ctr">
              <a:buNone/>
            </a:pPr>
            <a:r>
              <a:rPr lang="en-US" sz="1000" dirty="0">
                <a:solidFill>
                  <a:srgbClr val="C9DCE8"/>
                </a:solidFill>
                <a:latin typeface="Calibri" pitchFamily="34" charset="0"/>
                <a:ea typeface="Calibri" pitchFamily="34" charset="-122"/>
                <a:cs typeface="Calibri" pitchFamily="34" charset="-120"/>
              </a:rPr>
              <a:t>Collection</a:t>
            </a:r>
            <a:endParaRPr lang="en-US" sz="1000" dirty="0"/>
          </a:p>
        </p:txBody>
      </p:sp>
      <p:sp>
        <p:nvSpPr>
          <p:cNvPr id="31" name="Shape 22"/>
          <p:cNvSpPr/>
          <p:nvPr/>
        </p:nvSpPr>
        <p:spPr>
          <a:xfrm>
            <a:off x="7772400" y="3246120"/>
            <a:ext cx="0" cy="1051560"/>
          </a:xfrm>
          <a:prstGeom prst="line">
            <a:avLst/>
          </a:prstGeom>
          <a:noFill/>
          <a:ln w="31750">
            <a:solidFill>
              <a:srgbClr val="6FDFDF"/>
            </a:solidFill>
            <a:prstDash val="solid"/>
            <a:tailEnd type="triangle"/>
          </a:ln>
        </p:spPr>
      </p:sp>
      <p:grpSp>
        <p:nvGrpSpPr>
          <p:cNvPr id="43" name="Group 42">
            <a:extLst>
              <a:ext uri="{FF2B5EF4-FFF2-40B4-BE49-F238E27FC236}">
                <a16:creationId xmlns:a16="http://schemas.microsoft.com/office/drawing/2014/main" id="{37D2FBA9-86EA-4EF8-832D-038701F7307A}"/>
              </a:ext>
            </a:extLst>
          </p:cNvPr>
          <p:cNvGrpSpPr/>
          <p:nvPr/>
        </p:nvGrpSpPr>
        <p:grpSpPr>
          <a:xfrm>
            <a:off x="6949440" y="4358101"/>
            <a:ext cx="4206240" cy="301752"/>
            <a:chOff x="6949440" y="4700016"/>
            <a:chExt cx="4206240" cy="301752"/>
          </a:xfrm>
        </p:grpSpPr>
        <p:sp>
          <p:nvSpPr>
            <p:cNvPr id="32" name="Shape 23"/>
            <p:cNvSpPr/>
            <p:nvPr/>
          </p:nvSpPr>
          <p:spPr>
            <a:xfrm>
              <a:off x="6949440" y="4709160"/>
              <a:ext cx="4206240" cy="292608"/>
            </a:xfrm>
            <a:prstGeom prst="roundRect">
              <a:avLst>
                <a:gd name="adj" fmla="val 18750"/>
              </a:avLst>
            </a:prstGeom>
            <a:solidFill>
              <a:srgbClr val="13315C"/>
            </a:solidFill>
            <a:ln/>
          </p:spPr>
        </p:sp>
        <p:sp>
          <p:nvSpPr>
            <p:cNvPr id="33" name="Text 24"/>
            <p:cNvSpPr/>
            <p:nvPr/>
          </p:nvSpPr>
          <p:spPr>
            <a:xfrm>
              <a:off x="7086600" y="4700016"/>
              <a:ext cx="393192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 Most relevant</a:t>
              </a:r>
              <a:endParaRPr lang="en-US" sz="1100" dirty="0"/>
            </a:p>
          </p:txBody>
        </p:sp>
      </p:grpSp>
      <p:grpSp>
        <p:nvGrpSpPr>
          <p:cNvPr id="42" name="Group 41">
            <a:extLst>
              <a:ext uri="{FF2B5EF4-FFF2-40B4-BE49-F238E27FC236}">
                <a16:creationId xmlns:a16="http://schemas.microsoft.com/office/drawing/2014/main" id="{333F1657-1ED6-418B-B9B2-50BB0D1DCDE7}"/>
              </a:ext>
            </a:extLst>
          </p:cNvPr>
          <p:cNvGrpSpPr/>
          <p:nvPr/>
        </p:nvGrpSpPr>
        <p:grpSpPr>
          <a:xfrm>
            <a:off x="6949440" y="4833588"/>
            <a:ext cx="4206240" cy="301752"/>
            <a:chOff x="6949440" y="5084064"/>
            <a:chExt cx="4206240" cy="301752"/>
          </a:xfrm>
        </p:grpSpPr>
        <p:sp>
          <p:nvSpPr>
            <p:cNvPr id="34" name="Shape 25"/>
            <p:cNvSpPr/>
            <p:nvPr/>
          </p:nvSpPr>
          <p:spPr>
            <a:xfrm>
              <a:off x="6949440" y="5093208"/>
              <a:ext cx="4206240" cy="292608"/>
            </a:xfrm>
            <a:prstGeom prst="roundRect">
              <a:avLst>
                <a:gd name="adj" fmla="val 18750"/>
              </a:avLst>
            </a:prstGeom>
            <a:solidFill>
              <a:srgbClr val="13315C"/>
            </a:solidFill>
            <a:ln/>
          </p:spPr>
        </p:sp>
        <p:sp>
          <p:nvSpPr>
            <p:cNvPr id="35" name="Text 26"/>
            <p:cNvSpPr/>
            <p:nvPr/>
          </p:nvSpPr>
          <p:spPr>
            <a:xfrm>
              <a:off x="7086600" y="5084064"/>
              <a:ext cx="393192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 Relevant</a:t>
              </a:r>
              <a:endParaRPr lang="en-US" sz="1100" dirty="0"/>
            </a:p>
          </p:txBody>
        </p:sp>
      </p:grpSp>
      <p:grpSp>
        <p:nvGrpSpPr>
          <p:cNvPr id="41" name="Group 40">
            <a:extLst>
              <a:ext uri="{FF2B5EF4-FFF2-40B4-BE49-F238E27FC236}">
                <a16:creationId xmlns:a16="http://schemas.microsoft.com/office/drawing/2014/main" id="{1AFB1FAA-EDDD-4F3D-89DB-FFAEDE1625A0}"/>
              </a:ext>
            </a:extLst>
          </p:cNvPr>
          <p:cNvGrpSpPr/>
          <p:nvPr/>
        </p:nvGrpSpPr>
        <p:grpSpPr>
          <a:xfrm>
            <a:off x="6949440" y="5304505"/>
            <a:ext cx="4206240" cy="301752"/>
            <a:chOff x="6949440" y="5468112"/>
            <a:chExt cx="4206240" cy="301752"/>
          </a:xfrm>
        </p:grpSpPr>
        <p:sp>
          <p:nvSpPr>
            <p:cNvPr id="36" name="Shape 27"/>
            <p:cNvSpPr/>
            <p:nvPr/>
          </p:nvSpPr>
          <p:spPr>
            <a:xfrm>
              <a:off x="6949440" y="5477256"/>
              <a:ext cx="4206240" cy="292608"/>
            </a:xfrm>
            <a:prstGeom prst="roundRect">
              <a:avLst>
                <a:gd name="adj" fmla="val 18750"/>
              </a:avLst>
            </a:prstGeom>
            <a:solidFill>
              <a:srgbClr val="13315C"/>
            </a:solidFill>
            <a:ln/>
          </p:spPr>
        </p:sp>
        <p:sp>
          <p:nvSpPr>
            <p:cNvPr id="37" name="Text 28"/>
            <p:cNvSpPr/>
            <p:nvPr/>
          </p:nvSpPr>
          <p:spPr>
            <a:xfrm>
              <a:off x="7086600" y="5468112"/>
              <a:ext cx="3931920" cy="29260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 Less relevant</a:t>
              </a:r>
              <a:endParaRPr lang="en-US" sz="1100" dirty="0"/>
            </a:p>
          </p:txBody>
        </p:sp>
      </p:grpSp>
      <p:sp>
        <p:nvSpPr>
          <p:cNvPr id="38" name="Text 29"/>
          <p:cNvSpPr/>
          <p:nvPr/>
        </p:nvSpPr>
        <p:spPr>
          <a:xfrm>
            <a:off x="6949440" y="5870448"/>
            <a:ext cx="4206240" cy="274320"/>
          </a:xfrm>
          <a:prstGeom prst="rect">
            <a:avLst/>
          </a:prstGeom>
          <a:noFill/>
          <a:ln/>
        </p:spPr>
        <p:txBody>
          <a:bodyPr wrap="square" rtlCol="0" anchor="ctr"/>
          <a:lstStyle/>
          <a:p>
            <a:pPr marL="0" indent="0" algn="ctr">
              <a:buNone/>
            </a:pPr>
            <a:r>
              <a:rPr lang="en-US" sz="1000" dirty="0">
                <a:solidFill>
                  <a:srgbClr val="C9DCE8"/>
                </a:solidFill>
                <a:latin typeface="Calibri" pitchFamily="34" charset="0"/>
                <a:ea typeface="Calibri" pitchFamily="34" charset="-122"/>
                <a:cs typeface="Calibri" pitchFamily="34" charset="-120"/>
              </a:rPr>
              <a:t>Ranked Results</a:t>
            </a:r>
            <a:endParaRPr lang="en-US" sz="1000" dirty="0"/>
          </a:p>
        </p:txBody>
      </p:sp>
      <p:sp>
        <p:nvSpPr>
          <p:cNvPr id="39" name="Text 3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3</a:t>
            </a:r>
            <a:endParaRPr lang="en-US" sz="1000" dirty="0"/>
          </a:p>
        </p:txBody>
      </p:sp>
      <p:sp>
        <p:nvSpPr>
          <p:cNvPr id="40" name="Text 3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Why Isn't Keyword Matching Enough?</a:t>
            </a:r>
            <a:endParaRPr lang="en-US" sz="3200" dirty="0"/>
          </a:p>
        </p:txBody>
      </p:sp>
      <p:sp>
        <p:nvSpPr>
          <p:cNvPr id="4" name="Text 2"/>
          <p:cNvSpPr/>
          <p:nvPr/>
        </p:nvSpPr>
        <p:spPr>
          <a:xfrm>
            <a:off x="548640" y="1691640"/>
            <a:ext cx="5212080" cy="2194560"/>
          </a:xfrm>
          <a:prstGeom prst="rect">
            <a:avLst/>
          </a:prstGeom>
          <a:noFill/>
          <a:ln/>
        </p:spPr>
        <p:txBody>
          <a:bodyPr wrap="square" rtlCol="0" anchor="ctr"/>
          <a:lstStyle/>
          <a:p>
            <a:pPr marL="342900" indent="-342900">
              <a:lnSpc>
                <a:spcPct val="115000"/>
              </a:lnSpc>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Ranking matters: users only look at the top few results.</a:t>
            </a:r>
            <a:endParaRPr lang="en-US" sz="1500" dirty="0"/>
          </a:p>
          <a:p>
            <a:pPr marL="342900" indent="-342900">
              <a:lnSpc>
                <a:spcPct val="115000"/>
              </a:lnSpc>
              <a:spcAft>
                <a:spcPts val="800"/>
              </a:spcAft>
              <a:buSzPct val="100000"/>
              <a:buChar char="•"/>
            </a:pPr>
            <a:r>
              <a:rPr lang="en-US" sz="1500" dirty="0">
                <a:solidFill>
                  <a:srgbClr val="1B2B3A"/>
                </a:solidFill>
                <a:latin typeface="Calibri" pitchFamily="34" charset="0"/>
                <a:ea typeface="Calibri" pitchFamily="34" charset="-122"/>
                <a:cs typeface="Calibri" pitchFamily="34" charset="-120"/>
              </a:rPr>
              <a:t>Simple keyword matching treats all matching documents as equally relevant.</a:t>
            </a:r>
            <a:endParaRPr lang="en-US" sz="1500" dirty="0"/>
          </a:p>
          <a:p>
            <a:pPr marL="342900" indent="-342900">
              <a:lnSpc>
                <a:spcPct val="115000"/>
              </a:lnSpc>
              <a:buSzPct val="100000"/>
              <a:buChar char="•"/>
            </a:pPr>
            <a:r>
              <a:rPr lang="en-US" sz="1500" dirty="0">
                <a:solidFill>
                  <a:srgbClr val="1B2B3A"/>
                </a:solidFill>
                <a:latin typeface="Calibri" pitchFamily="34" charset="0"/>
                <a:ea typeface="Calibri" pitchFamily="34" charset="-122"/>
                <a:cs typeface="Calibri" pitchFamily="34" charset="-120"/>
              </a:rPr>
              <a:t>Challenge: how do we measure "how relevant" a document really is?</a:t>
            </a:r>
            <a:endParaRPr lang="en-US" sz="1500" dirty="0"/>
          </a:p>
        </p:txBody>
      </p:sp>
      <p:sp>
        <p:nvSpPr>
          <p:cNvPr id="5" name="Shape 3"/>
          <p:cNvSpPr/>
          <p:nvPr/>
        </p:nvSpPr>
        <p:spPr>
          <a:xfrm>
            <a:off x="6126480" y="1691640"/>
            <a:ext cx="5486400" cy="4297680"/>
          </a:xfrm>
          <a:prstGeom prst="roundRect">
            <a:avLst>
              <a:gd name="adj" fmla="val 2128"/>
            </a:avLst>
          </a:prstGeom>
          <a:solidFill>
            <a:srgbClr val="E8F1F8"/>
          </a:solidFill>
          <a:ln/>
          <a:effectLst>
            <a:outerShdw blurRad="101600" dist="25400" dir="5400000" algn="bl" rotWithShape="0">
              <a:srgbClr val="1B2B3A">
                <a:alpha val="10000"/>
              </a:srgbClr>
            </a:outerShdw>
          </a:effectLst>
        </p:spPr>
      </p:sp>
      <p:sp>
        <p:nvSpPr>
          <p:cNvPr id="6" name="Text 4"/>
          <p:cNvSpPr/>
          <p:nvPr/>
        </p:nvSpPr>
        <p:spPr>
          <a:xfrm>
            <a:off x="6400800" y="1874520"/>
            <a:ext cx="493776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EXAMPLE — QUERY: "machine learning"</a:t>
            </a:r>
            <a:endParaRPr lang="en-US" sz="1200" dirty="0"/>
          </a:p>
        </p:txBody>
      </p:sp>
      <p:sp>
        <p:nvSpPr>
          <p:cNvPr id="7" name="Shape 5"/>
          <p:cNvSpPr/>
          <p:nvPr/>
        </p:nvSpPr>
        <p:spPr>
          <a:xfrm>
            <a:off x="6400800" y="2331720"/>
            <a:ext cx="4937760" cy="1051560"/>
          </a:xfrm>
          <a:prstGeom prst="roundRect">
            <a:avLst>
              <a:gd name="adj" fmla="val 6087"/>
            </a:avLst>
          </a:prstGeom>
          <a:solidFill>
            <a:srgbClr val="FFFFFF"/>
          </a:solidFill>
          <a:ln w="12700">
            <a:solidFill>
              <a:srgbClr val="CFE1EC"/>
            </a:solidFill>
            <a:prstDash val="solid"/>
          </a:ln>
        </p:spPr>
      </p:sp>
      <p:sp>
        <p:nvSpPr>
          <p:cNvPr id="8" name="Text 6"/>
          <p:cNvSpPr/>
          <p:nvPr/>
        </p:nvSpPr>
        <p:spPr>
          <a:xfrm>
            <a:off x="6583680" y="2423160"/>
            <a:ext cx="1188720" cy="27432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Doc A</a:t>
            </a:r>
            <a:endParaRPr lang="en-US" sz="1200" dirty="0"/>
          </a:p>
        </p:txBody>
      </p:sp>
      <p:sp>
        <p:nvSpPr>
          <p:cNvPr id="9" name="Text 7"/>
          <p:cNvSpPr/>
          <p:nvPr/>
        </p:nvSpPr>
        <p:spPr>
          <a:xfrm>
            <a:off x="6583680" y="2715768"/>
            <a:ext cx="4480560" cy="502920"/>
          </a:xfrm>
          <a:prstGeom prst="rect">
            <a:avLst/>
          </a:prstGeom>
          <a:noFill/>
          <a:ln/>
        </p:spPr>
        <p:txBody>
          <a:bodyPr wrap="square" rtlCol="0" anchor="ctr"/>
          <a:lstStyle/>
          <a:p>
            <a:pPr marL="0" indent="0">
              <a:buNone/>
            </a:pPr>
            <a:r>
              <a:rPr lang="en-US" sz="1050" dirty="0">
                <a:solidFill>
                  <a:srgbClr val="5C7385"/>
                </a:solidFill>
                <a:latin typeface="Calibri" pitchFamily="34" charset="0"/>
                <a:ea typeface="Calibri" pitchFamily="34" charset="-122"/>
                <a:cs typeface="Calibri" pitchFamily="34" charset="-120"/>
              </a:rPr>
              <a:t>Mentions "machine learning" once in a long unrelated article.</a:t>
            </a:r>
            <a:endParaRPr lang="en-US" sz="1050" dirty="0"/>
          </a:p>
        </p:txBody>
      </p:sp>
      <p:sp>
        <p:nvSpPr>
          <p:cNvPr id="10" name="Text 8"/>
          <p:cNvSpPr/>
          <p:nvPr/>
        </p:nvSpPr>
        <p:spPr>
          <a:xfrm>
            <a:off x="9418320" y="2423160"/>
            <a:ext cx="1828800" cy="274320"/>
          </a:xfrm>
          <a:prstGeom prst="rect">
            <a:avLst/>
          </a:prstGeom>
          <a:noFill/>
          <a:ln/>
        </p:spPr>
        <p:txBody>
          <a:bodyPr wrap="square" rtlCol="0" anchor="ctr"/>
          <a:lstStyle/>
          <a:p>
            <a:pPr marL="0" indent="0" algn="r">
              <a:buNone/>
            </a:pPr>
            <a:r>
              <a:rPr lang="en-US" sz="1050" b="1" dirty="0">
                <a:solidFill>
                  <a:srgbClr val="1C7293"/>
                </a:solidFill>
                <a:latin typeface="Calibri" pitchFamily="34" charset="0"/>
                <a:ea typeface="Calibri" pitchFamily="34" charset="-122"/>
                <a:cs typeface="Calibri" pitchFamily="34" charset="-120"/>
              </a:rPr>
              <a:t>Low relevance</a:t>
            </a:r>
            <a:endParaRPr lang="en-US" sz="1050" dirty="0"/>
          </a:p>
        </p:txBody>
      </p:sp>
      <p:sp>
        <p:nvSpPr>
          <p:cNvPr id="11" name="Shape 9"/>
          <p:cNvSpPr/>
          <p:nvPr/>
        </p:nvSpPr>
        <p:spPr>
          <a:xfrm>
            <a:off x="6400800" y="3502152"/>
            <a:ext cx="4937760" cy="1051560"/>
          </a:xfrm>
          <a:prstGeom prst="roundRect">
            <a:avLst>
              <a:gd name="adj" fmla="val 6087"/>
            </a:avLst>
          </a:prstGeom>
          <a:solidFill>
            <a:srgbClr val="FFFFFF"/>
          </a:solidFill>
          <a:ln w="12700">
            <a:solidFill>
              <a:srgbClr val="CFE1EC"/>
            </a:solidFill>
            <a:prstDash val="solid"/>
          </a:ln>
        </p:spPr>
      </p:sp>
      <p:sp>
        <p:nvSpPr>
          <p:cNvPr id="12" name="Text 10"/>
          <p:cNvSpPr/>
          <p:nvPr/>
        </p:nvSpPr>
        <p:spPr>
          <a:xfrm>
            <a:off x="6583680" y="3593592"/>
            <a:ext cx="1188720" cy="27432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Doc B</a:t>
            </a:r>
            <a:endParaRPr lang="en-US" sz="1200" dirty="0"/>
          </a:p>
        </p:txBody>
      </p:sp>
      <p:sp>
        <p:nvSpPr>
          <p:cNvPr id="13" name="Text 11"/>
          <p:cNvSpPr/>
          <p:nvPr/>
        </p:nvSpPr>
        <p:spPr>
          <a:xfrm>
            <a:off x="6583680" y="3886200"/>
            <a:ext cx="4480560" cy="502920"/>
          </a:xfrm>
          <a:prstGeom prst="rect">
            <a:avLst/>
          </a:prstGeom>
          <a:noFill/>
          <a:ln/>
        </p:spPr>
        <p:txBody>
          <a:bodyPr wrap="square" rtlCol="0" anchor="ctr"/>
          <a:lstStyle/>
          <a:p>
            <a:pPr marL="0" indent="0">
              <a:buNone/>
            </a:pPr>
            <a:r>
              <a:rPr lang="en-US" sz="1050" dirty="0">
                <a:solidFill>
                  <a:srgbClr val="5C7385"/>
                </a:solidFill>
                <a:latin typeface="Calibri" pitchFamily="34" charset="0"/>
                <a:ea typeface="Calibri" pitchFamily="34" charset="-122"/>
                <a:cs typeface="Calibri" pitchFamily="34" charset="-120"/>
              </a:rPr>
              <a:t>Entirely focused on machine learning concepts and methods.</a:t>
            </a:r>
            <a:endParaRPr lang="en-US" sz="1050" dirty="0"/>
          </a:p>
        </p:txBody>
      </p:sp>
      <p:sp>
        <p:nvSpPr>
          <p:cNvPr id="14" name="Text 12"/>
          <p:cNvSpPr/>
          <p:nvPr/>
        </p:nvSpPr>
        <p:spPr>
          <a:xfrm>
            <a:off x="9418320" y="3593592"/>
            <a:ext cx="1828800" cy="274320"/>
          </a:xfrm>
          <a:prstGeom prst="rect">
            <a:avLst/>
          </a:prstGeom>
          <a:noFill/>
          <a:ln/>
        </p:spPr>
        <p:txBody>
          <a:bodyPr wrap="square" rtlCol="0" anchor="ctr"/>
          <a:lstStyle/>
          <a:p>
            <a:pPr marL="0" indent="0" algn="r">
              <a:buNone/>
            </a:pPr>
            <a:r>
              <a:rPr lang="en-US" sz="1050" b="1" dirty="0">
                <a:solidFill>
                  <a:srgbClr val="1C7293"/>
                </a:solidFill>
                <a:latin typeface="Calibri" pitchFamily="34" charset="0"/>
                <a:ea typeface="Calibri" pitchFamily="34" charset="-122"/>
                <a:cs typeface="Calibri" pitchFamily="34" charset="-120"/>
              </a:rPr>
              <a:t>High relevance</a:t>
            </a:r>
            <a:endParaRPr lang="en-US" sz="1050" dirty="0"/>
          </a:p>
        </p:txBody>
      </p:sp>
      <p:sp>
        <p:nvSpPr>
          <p:cNvPr id="15" name="Shape 13"/>
          <p:cNvSpPr/>
          <p:nvPr/>
        </p:nvSpPr>
        <p:spPr>
          <a:xfrm>
            <a:off x="6400800" y="4672584"/>
            <a:ext cx="4937760" cy="1051560"/>
          </a:xfrm>
          <a:prstGeom prst="roundRect">
            <a:avLst>
              <a:gd name="adj" fmla="val 6087"/>
            </a:avLst>
          </a:prstGeom>
          <a:solidFill>
            <a:srgbClr val="FFFFFF"/>
          </a:solidFill>
          <a:ln w="12700">
            <a:solidFill>
              <a:srgbClr val="CFE1EC"/>
            </a:solidFill>
            <a:prstDash val="solid"/>
          </a:ln>
        </p:spPr>
      </p:sp>
      <p:sp>
        <p:nvSpPr>
          <p:cNvPr id="16" name="Text 14"/>
          <p:cNvSpPr/>
          <p:nvPr/>
        </p:nvSpPr>
        <p:spPr>
          <a:xfrm>
            <a:off x="6583680" y="4764024"/>
            <a:ext cx="1188720" cy="27432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Doc C</a:t>
            </a:r>
            <a:endParaRPr lang="en-US" sz="1200" dirty="0"/>
          </a:p>
        </p:txBody>
      </p:sp>
      <p:sp>
        <p:nvSpPr>
          <p:cNvPr id="17" name="Text 15"/>
          <p:cNvSpPr/>
          <p:nvPr/>
        </p:nvSpPr>
        <p:spPr>
          <a:xfrm>
            <a:off x="6583680" y="5056632"/>
            <a:ext cx="4480560" cy="502920"/>
          </a:xfrm>
          <a:prstGeom prst="rect">
            <a:avLst/>
          </a:prstGeom>
          <a:noFill/>
          <a:ln/>
        </p:spPr>
        <p:txBody>
          <a:bodyPr wrap="square" rtlCol="0" anchor="ctr"/>
          <a:lstStyle/>
          <a:p>
            <a:pPr marL="0" indent="0">
              <a:buNone/>
            </a:pPr>
            <a:r>
              <a:rPr lang="en-US" sz="1050" dirty="0">
                <a:solidFill>
                  <a:srgbClr val="5C7385"/>
                </a:solidFill>
                <a:latin typeface="Calibri" pitchFamily="34" charset="0"/>
                <a:ea typeface="Calibri" pitchFamily="34" charset="-122"/>
                <a:cs typeface="Calibri" pitchFamily="34" charset="-120"/>
              </a:rPr>
              <a:t>Mentions "machine learning" a few times in a related context.</a:t>
            </a:r>
            <a:endParaRPr lang="en-US" sz="1050" dirty="0"/>
          </a:p>
        </p:txBody>
      </p:sp>
      <p:sp>
        <p:nvSpPr>
          <p:cNvPr id="18" name="Text 16"/>
          <p:cNvSpPr/>
          <p:nvPr/>
        </p:nvSpPr>
        <p:spPr>
          <a:xfrm>
            <a:off x="9418320" y="4764024"/>
            <a:ext cx="1828800" cy="274320"/>
          </a:xfrm>
          <a:prstGeom prst="rect">
            <a:avLst/>
          </a:prstGeom>
          <a:noFill/>
          <a:ln/>
        </p:spPr>
        <p:txBody>
          <a:bodyPr wrap="square" rtlCol="0" anchor="ctr"/>
          <a:lstStyle/>
          <a:p>
            <a:pPr marL="0" indent="0" algn="r">
              <a:buNone/>
            </a:pPr>
            <a:r>
              <a:rPr lang="en-US" sz="1050" b="1" dirty="0">
                <a:solidFill>
                  <a:srgbClr val="1C7293"/>
                </a:solidFill>
                <a:latin typeface="Calibri" pitchFamily="34" charset="0"/>
                <a:ea typeface="Calibri" pitchFamily="34" charset="-122"/>
                <a:cs typeface="Calibri" pitchFamily="34" charset="-120"/>
              </a:rPr>
              <a:t>Medium relevance</a:t>
            </a:r>
            <a:endParaRPr lang="en-US" sz="1050" dirty="0"/>
          </a:p>
        </p:txBody>
      </p:sp>
      <p:sp>
        <p:nvSpPr>
          <p:cNvPr id="19" name="Text 17"/>
          <p:cNvSpPr/>
          <p:nvPr/>
        </p:nvSpPr>
        <p:spPr>
          <a:xfrm>
            <a:off x="548640" y="4297680"/>
            <a:ext cx="5212080" cy="822960"/>
          </a:xfrm>
          <a:prstGeom prst="rect">
            <a:avLst/>
          </a:prstGeom>
          <a:noFill/>
          <a:ln/>
        </p:spPr>
        <p:txBody>
          <a:bodyPr wrap="square" rtlCol="0" anchor="ctr"/>
          <a:lstStyle/>
          <a:p>
            <a:pPr marL="0" indent="0">
              <a:buNone/>
            </a:pPr>
            <a:r>
              <a:rPr lang="en-US" sz="1350" i="1" dirty="0">
                <a:solidFill>
                  <a:srgbClr val="1C7293"/>
                </a:solidFill>
                <a:latin typeface="Calibri" pitchFamily="34" charset="0"/>
                <a:ea typeface="Calibri" pitchFamily="34" charset="-122"/>
                <a:cs typeface="Calibri" pitchFamily="34" charset="-120"/>
              </a:rPr>
              <a:t>Keyword matching alone cannot tell these apart — we need a way to score relevance.</a:t>
            </a:r>
            <a:endParaRPr lang="en-US" sz="1350" dirty="0"/>
          </a:p>
        </p:txBody>
      </p:sp>
      <p:sp>
        <p:nvSpPr>
          <p:cNvPr id="20" name="Text 18"/>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6FDFDF"/>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Formal Definition of the IR Problem</a:t>
            </a:r>
            <a:endParaRPr lang="en-US" sz="3200" dirty="0"/>
          </a:p>
        </p:txBody>
      </p:sp>
      <p:sp>
        <p:nvSpPr>
          <p:cNvPr id="4" name="Shape 2"/>
          <p:cNvSpPr/>
          <p:nvPr/>
        </p:nvSpPr>
        <p:spPr>
          <a:xfrm>
            <a:off x="548640" y="1691640"/>
            <a:ext cx="3520440" cy="2011680"/>
          </a:xfrm>
          <a:prstGeom prst="roundRect">
            <a:avLst>
              <a:gd name="adj" fmla="val 4545"/>
            </a:avLst>
          </a:prstGeom>
          <a:solidFill>
            <a:srgbClr val="13315C"/>
          </a:solidFill>
          <a:ln/>
          <a:effectLst>
            <a:outerShdw blurRad="101600" dist="25400" dir="5400000" algn="bl" rotWithShape="0">
              <a:srgbClr val="1B2B3A">
                <a:alpha val="10000"/>
              </a:srgbClr>
            </a:outerShdw>
          </a:effectLst>
        </p:spPr>
      </p:sp>
      <p:sp>
        <p:nvSpPr>
          <p:cNvPr id="5" name="Shape 3"/>
          <p:cNvSpPr/>
          <p:nvPr/>
        </p:nvSpPr>
        <p:spPr>
          <a:xfrm>
            <a:off x="777240" y="1920240"/>
            <a:ext cx="594360" cy="594360"/>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919886" y="2062886"/>
            <a:ext cx="309067" cy="309067"/>
          </a:xfrm>
          <a:prstGeom prst="rect">
            <a:avLst/>
          </a:prstGeom>
        </p:spPr>
      </p:pic>
      <p:sp>
        <p:nvSpPr>
          <p:cNvPr id="7" name="Text 4"/>
          <p:cNvSpPr/>
          <p:nvPr/>
        </p:nvSpPr>
        <p:spPr>
          <a:xfrm>
            <a:off x="777240" y="2651760"/>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Document Collection</a:t>
            </a:r>
            <a:endParaRPr lang="en-US" sz="1400" dirty="0"/>
          </a:p>
        </p:txBody>
      </p:sp>
      <p:sp>
        <p:nvSpPr>
          <p:cNvPr id="8" name="Text 5"/>
          <p:cNvSpPr/>
          <p:nvPr/>
        </p:nvSpPr>
        <p:spPr>
          <a:xfrm>
            <a:off x="777240" y="3017520"/>
            <a:ext cx="3063240" cy="640080"/>
          </a:xfrm>
          <a:prstGeom prst="rect">
            <a:avLst/>
          </a:prstGeom>
          <a:noFill/>
          <a:ln/>
        </p:spPr>
        <p:txBody>
          <a:bodyPr wrap="square" rtlCol="0" anchor="ctr"/>
          <a:lstStyle/>
          <a:p>
            <a:pPr marL="0" indent="0">
              <a:buNone/>
            </a:pPr>
            <a:r>
              <a:rPr lang="en-US" sz="1100" dirty="0">
                <a:solidFill>
                  <a:srgbClr val="C9DCE8"/>
                </a:solidFill>
                <a:latin typeface="Calibri" pitchFamily="34" charset="0"/>
                <a:ea typeface="Calibri" pitchFamily="34" charset="-122"/>
                <a:cs typeface="Calibri" pitchFamily="34" charset="-120"/>
              </a:rPr>
              <a:t>A set D = {d1, d2, ..., dn} of documents to search through.</a:t>
            </a:r>
            <a:endParaRPr lang="en-US" sz="1100" dirty="0"/>
          </a:p>
        </p:txBody>
      </p:sp>
      <p:sp>
        <p:nvSpPr>
          <p:cNvPr id="9" name="Shape 6"/>
          <p:cNvSpPr/>
          <p:nvPr/>
        </p:nvSpPr>
        <p:spPr>
          <a:xfrm>
            <a:off x="4251960" y="1691640"/>
            <a:ext cx="3520440" cy="2011680"/>
          </a:xfrm>
          <a:prstGeom prst="roundRect">
            <a:avLst>
              <a:gd name="adj" fmla="val 4545"/>
            </a:avLst>
          </a:prstGeom>
          <a:solidFill>
            <a:srgbClr val="13315C"/>
          </a:solidFill>
          <a:ln/>
          <a:effectLst>
            <a:outerShdw blurRad="101600" dist="25400" dir="5400000" algn="bl" rotWithShape="0">
              <a:srgbClr val="1B2B3A">
                <a:alpha val="10000"/>
              </a:srgbClr>
            </a:outerShdw>
          </a:effectLst>
        </p:spPr>
      </p:sp>
      <p:sp>
        <p:nvSpPr>
          <p:cNvPr id="10" name="Shape 7"/>
          <p:cNvSpPr/>
          <p:nvPr/>
        </p:nvSpPr>
        <p:spPr>
          <a:xfrm>
            <a:off x="4480560" y="1920240"/>
            <a:ext cx="594360" cy="594360"/>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4623206" y="2062886"/>
            <a:ext cx="309067" cy="309067"/>
          </a:xfrm>
          <a:prstGeom prst="rect">
            <a:avLst/>
          </a:prstGeom>
        </p:spPr>
      </p:pic>
      <p:sp>
        <p:nvSpPr>
          <p:cNvPr id="12" name="Text 8"/>
          <p:cNvSpPr/>
          <p:nvPr/>
        </p:nvSpPr>
        <p:spPr>
          <a:xfrm>
            <a:off x="4480560" y="2651760"/>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User Query</a:t>
            </a:r>
            <a:endParaRPr lang="en-US" sz="1400" dirty="0"/>
          </a:p>
        </p:txBody>
      </p:sp>
      <p:sp>
        <p:nvSpPr>
          <p:cNvPr id="13" name="Text 9"/>
          <p:cNvSpPr/>
          <p:nvPr/>
        </p:nvSpPr>
        <p:spPr>
          <a:xfrm>
            <a:off x="4480560" y="3017520"/>
            <a:ext cx="3063240" cy="640080"/>
          </a:xfrm>
          <a:prstGeom prst="rect">
            <a:avLst/>
          </a:prstGeom>
          <a:noFill/>
          <a:ln/>
        </p:spPr>
        <p:txBody>
          <a:bodyPr wrap="square" rtlCol="0" anchor="ctr"/>
          <a:lstStyle/>
          <a:p>
            <a:pPr marL="0" indent="0">
              <a:buNone/>
            </a:pPr>
            <a:r>
              <a:rPr lang="en-US" sz="1100" dirty="0">
                <a:solidFill>
                  <a:srgbClr val="C9DCE8"/>
                </a:solidFill>
                <a:latin typeface="Calibri" pitchFamily="34" charset="0"/>
                <a:ea typeface="Calibri" pitchFamily="34" charset="-122"/>
                <a:cs typeface="Calibri" pitchFamily="34" charset="-120"/>
              </a:rPr>
              <a:t>A query q expressing the user's information need.</a:t>
            </a:r>
            <a:endParaRPr lang="en-US" sz="1100" dirty="0"/>
          </a:p>
        </p:txBody>
      </p:sp>
      <p:sp>
        <p:nvSpPr>
          <p:cNvPr id="14" name="Shape 10"/>
          <p:cNvSpPr/>
          <p:nvPr/>
        </p:nvSpPr>
        <p:spPr>
          <a:xfrm>
            <a:off x="7955280" y="1691640"/>
            <a:ext cx="3520440" cy="2011680"/>
          </a:xfrm>
          <a:prstGeom prst="roundRect">
            <a:avLst>
              <a:gd name="adj" fmla="val 4545"/>
            </a:avLst>
          </a:prstGeom>
          <a:solidFill>
            <a:srgbClr val="13315C"/>
          </a:solidFill>
          <a:ln/>
          <a:effectLst>
            <a:outerShdw blurRad="101600" dist="25400" dir="5400000" algn="bl" rotWithShape="0">
              <a:srgbClr val="1B2B3A">
                <a:alpha val="10000"/>
              </a:srgbClr>
            </a:outerShdw>
          </a:effectLst>
        </p:spPr>
      </p:sp>
      <p:sp>
        <p:nvSpPr>
          <p:cNvPr id="15" name="Shape 11"/>
          <p:cNvSpPr/>
          <p:nvPr/>
        </p:nvSpPr>
        <p:spPr>
          <a:xfrm>
            <a:off x="8183880" y="1920240"/>
            <a:ext cx="594360" cy="594360"/>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326526" y="2062886"/>
            <a:ext cx="309067" cy="309067"/>
          </a:xfrm>
          <a:prstGeom prst="rect">
            <a:avLst/>
          </a:prstGeom>
        </p:spPr>
      </p:pic>
      <p:sp>
        <p:nvSpPr>
          <p:cNvPr id="17" name="Text 12"/>
          <p:cNvSpPr/>
          <p:nvPr/>
        </p:nvSpPr>
        <p:spPr>
          <a:xfrm>
            <a:off x="8183880" y="2651760"/>
            <a:ext cx="3063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p>
        </p:txBody>
      </p:sp>
      <p:sp>
        <p:nvSpPr>
          <p:cNvPr id="18" name="Text 13"/>
          <p:cNvSpPr/>
          <p:nvPr/>
        </p:nvSpPr>
        <p:spPr>
          <a:xfrm>
            <a:off x="8183880" y="3017520"/>
            <a:ext cx="3063240" cy="640080"/>
          </a:xfrm>
          <a:prstGeom prst="rect">
            <a:avLst/>
          </a:prstGeom>
          <a:noFill/>
          <a:ln/>
        </p:spPr>
        <p:txBody>
          <a:bodyPr wrap="square" rtlCol="0" anchor="ctr"/>
          <a:lstStyle/>
          <a:p>
            <a:pPr marL="0" indent="0">
              <a:buNone/>
            </a:pPr>
            <a:r>
              <a:rPr lang="en-US" sz="1100" dirty="0">
                <a:solidFill>
                  <a:srgbClr val="C9DCE8"/>
                </a:solidFill>
                <a:latin typeface="Calibri" pitchFamily="34" charset="0"/>
                <a:ea typeface="Calibri" pitchFamily="34" charset="-122"/>
                <a:cs typeface="Calibri" pitchFamily="34" charset="-120"/>
              </a:rPr>
              <a:t>Retrieve and rank documents by relevance to q.</a:t>
            </a:r>
            <a:endParaRPr lang="en-US" sz="1100" dirty="0"/>
          </a:p>
        </p:txBody>
      </p:sp>
      <p:sp>
        <p:nvSpPr>
          <p:cNvPr id="19" name="Shape 14"/>
          <p:cNvSpPr/>
          <p:nvPr/>
        </p:nvSpPr>
        <p:spPr>
          <a:xfrm>
            <a:off x="548640" y="3977640"/>
            <a:ext cx="11064240" cy="2011680"/>
          </a:xfrm>
          <a:prstGeom prst="roundRect">
            <a:avLst>
              <a:gd name="adj" fmla="val 4545"/>
            </a:avLst>
          </a:prstGeom>
          <a:solidFill>
            <a:srgbClr val="10365E"/>
          </a:solidFill>
          <a:ln/>
          <a:effectLst>
            <a:outerShdw blurRad="101600" dist="25400" dir="5400000" algn="bl" rotWithShape="0">
              <a:srgbClr val="1B2B3A">
                <a:alpha val="10000"/>
              </a:srgbClr>
            </a:outerShdw>
          </a:effectLst>
        </p:spPr>
      </p:sp>
      <p:sp>
        <p:nvSpPr>
          <p:cNvPr id="20" name="Text 15"/>
          <p:cNvSpPr/>
          <p:nvPr/>
        </p:nvSpPr>
        <p:spPr>
          <a:xfrm>
            <a:off x="822960" y="4160520"/>
            <a:ext cx="5486400" cy="320040"/>
          </a:xfrm>
          <a:prstGeom prst="rect">
            <a:avLst/>
          </a:prstGeom>
          <a:noFill/>
          <a:ln/>
        </p:spPr>
        <p:txBody>
          <a:bodyPr wrap="square" rtlCol="0" anchor="ctr"/>
          <a:lstStyle/>
          <a:p>
            <a:pPr marL="0" indent="0">
              <a:buNone/>
            </a:pPr>
            <a:r>
              <a:rPr lang="en-US" sz="1200" b="1" kern="0" spc="100" dirty="0">
                <a:solidFill>
                  <a:srgbClr val="6FDFDF"/>
                </a:solidFill>
                <a:latin typeface="Calibri" pitchFamily="34" charset="0"/>
                <a:ea typeface="Calibri" pitchFamily="34" charset="-122"/>
                <a:cs typeface="Calibri" pitchFamily="34" charset="-120"/>
              </a:rPr>
              <a:t>MATHEMATICAL FORMULATION</a:t>
            </a:r>
            <a:endParaRPr lang="en-US" sz="1200" dirty="0"/>
          </a:p>
        </p:txBody>
      </p:sp>
      <p:sp>
        <p:nvSpPr>
          <p:cNvPr id="21" name="Text 16"/>
          <p:cNvSpPr/>
          <p:nvPr/>
        </p:nvSpPr>
        <p:spPr>
          <a:xfrm>
            <a:off x="822960" y="4526280"/>
            <a:ext cx="7315200" cy="36576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Given D = {d1, d2, ..., dn} and query q, find and rank d ∈ D by:</a:t>
            </a:r>
            <a:endParaRPr lang="en-US" sz="1350" dirty="0"/>
          </a:p>
        </p:txBody>
      </p:sp>
      <p:sp>
        <p:nvSpPr>
          <p:cNvPr id="22" name="Text 17"/>
          <p:cNvSpPr/>
          <p:nvPr/>
        </p:nvSpPr>
        <p:spPr>
          <a:xfrm>
            <a:off x="822960" y="4937760"/>
            <a:ext cx="5486400" cy="502920"/>
          </a:xfrm>
          <a:prstGeom prst="rect">
            <a:avLst/>
          </a:prstGeom>
          <a:noFill/>
          <a:ln/>
        </p:spPr>
        <p:txBody>
          <a:bodyPr wrap="square" rtlCol="0" anchor="ctr"/>
          <a:lstStyle/>
          <a:p>
            <a:pPr marL="0" indent="0">
              <a:buNone/>
            </a:pPr>
            <a:r>
              <a:rPr lang="en-US" sz="2000" b="1" i="1" dirty="0">
                <a:solidFill>
                  <a:srgbClr val="6FDFDF"/>
                </a:solidFill>
                <a:latin typeface="Cambria" pitchFamily="34" charset="0"/>
                <a:ea typeface="Cambria" pitchFamily="34" charset="-122"/>
                <a:cs typeface="Cambria" pitchFamily="34" charset="-120"/>
              </a:rPr>
              <a:t>Relevance Score = sim(d, q)</a:t>
            </a:r>
            <a:endParaRPr lang="en-US" sz="2000" dirty="0"/>
          </a:p>
        </p:txBody>
      </p:sp>
      <p:sp>
        <p:nvSpPr>
          <p:cNvPr id="23" name="Text 18"/>
          <p:cNvSpPr/>
          <p:nvPr/>
        </p:nvSpPr>
        <p:spPr>
          <a:xfrm>
            <a:off x="822960" y="5440680"/>
            <a:ext cx="10241280" cy="548640"/>
          </a:xfrm>
          <a:prstGeom prst="rect">
            <a:avLst/>
          </a:prstGeom>
          <a:noFill/>
          <a:ln/>
        </p:spPr>
        <p:txBody>
          <a:bodyPr wrap="square" rtlCol="0" anchor="ctr"/>
          <a:lstStyle/>
          <a:p>
            <a:pPr marL="0" indent="0">
              <a:buNone/>
            </a:pPr>
            <a:r>
              <a:rPr lang="en-US" sz="1150" dirty="0">
                <a:solidFill>
                  <a:srgbClr val="C9DCE8"/>
                </a:solidFill>
                <a:latin typeface="Calibri" pitchFamily="34" charset="0"/>
                <a:ea typeface="Calibri" pitchFamily="34" charset="-122"/>
                <a:cs typeface="Calibri" pitchFamily="34" charset="-120"/>
              </a:rPr>
              <a:t>The higher sim(d, q), the more relevant document d is considered to query q.</a:t>
            </a:r>
            <a:endParaRPr lang="en-US" sz="1150" dirty="0"/>
          </a:p>
          <a:p>
            <a:pPr marL="0" indent="0">
              <a:buNone/>
            </a:pPr>
            <a:r>
              <a:rPr lang="en-US" sz="1150" dirty="0">
                <a:solidFill>
                  <a:srgbClr val="C9DCE8"/>
                </a:solidFill>
                <a:latin typeface="Calibri" pitchFamily="34" charset="0"/>
                <a:ea typeface="Calibri" pitchFamily="34" charset="-122"/>
                <a:cs typeface="Calibri" pitchFamily="34" charset="-120"/>
              </a:rPr>
              <a:t>VSM defines sim(·,·) using vectors and cosine similarity, covered next.</a:t>
            </a:r>
            <a:endParaRPr lang="en-US" sz="1150" dirty="0"/>
          </a:p>
        </p:txBody>
      </p:sp>
      <p:sp>
        <p:nvSpPr>
          <p:cNvPr id="24" name="Text 19"/>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5</a:t>
            </a:r>
            <a:endParaRPr lang="en-US" sz="1000" dirty="0"/>
          </a:p>
        </p:txBody>
      </p:sp>
      <p:sp>
        <p:nvSpPr>
          <p:cNvPr id="25" name="Text 20"/>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From Early Retrieval Methods to VSM</a:t>
            </a:r>
            <a:endParaRPr lang="en-US" sz="32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50" dirty="0">
                <a:solidFill>
                  <a:srgbClr val="5C7385"/>
                </a:solidFill>
                <a:latin typeface="Calibri" pitchFamily="34" charset="0"/>
                <a:ea typeface="Calibri" pitchFamily="34" charset="-122"/>
                <a:cs typeface="Calibri" pitchFamily="34" charset="-120"/>
              </a:rPr>
              <a:t>Earlier approaches to retrieval had significant limitations that motivated better models:</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743200"/>
        </p:xfrm>
        <a:graphic>
          <a:graphicData uri="http://schemas.openxmlformats.org/drawingml/2006/table">
            <a:tbl>
              <a:tblPr/>
              <a:tblGrid>
                <a:gridCol w="27432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4864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B254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Idea</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B254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Key Limitation</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Sequential Search</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Scan every document for query terms</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Extremely slow on large collections</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548640">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Boolean Retrieval</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Match using AND / OR / NOT logic</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No ranking — results are binary match/no match</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548640">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Inverted Index</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Precomputed term → document lookup</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Faster lookup, but still no relevance ranking</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548640">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Vector Space Model</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b="1" dirty="0">
                          <a:solidFill>
                            <a:srgbClr val="0B2545"/>
                          </a:solidFill>
                          <a:latin typeface="Calibri" pitchFamily="34" charset="0"/>
                          <a:ea typeface="Calibri" pitchFamily="34" charset="-122"/>
                          <a:cs typeface="Calibri" pitchFamily="34" charset="-120"/>
                        </a:rPr>
                        <a:t>Represent documents &amp; queries as weighted vectors</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250" b="1" dirty="0">
                          <a:solidFill>
                            <a:srgbClr val="1C7293"/>
                          </a:solidFill>
                          <a:latin typeface="Calibri" pitchFamily="34" charset="0"/>
                          <a:ea typeface="Calibri" pitchFamily="34" charset="-122"/>
                          <a:cs typeface="Calibri" pitchFamily="34" charset="-120"/>
                        </a:rPr>
                        <a:t>Enables ranked, graded relevance scoring</a:t>
                      </a:r>
                      <a:endParaRPr lang="en-US" sz="12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029200"/>
            <a:ext cx="11064240" cy="1051560"/>
          </a:xfrm>
          <a:prstGeom prst="roundRect">
            <a:avLst>
              <a:gd name="adj" fmla="val 6957"/>
            </a:avLst>
          </a:prstGeom>
          <a:solidFill>
            <a:srgbClr val="FFF6E5"/>
          </a:solidFill>
          <a:ln/>
          <a:effectLst>
            <a:outerShdw blurRad="101600" dist="25400" dir="5400000" algn="bl" rotWithShape="0">
              <a:srgbClr val="1B2B3A">
                <a:alpha val="10000"/>
              </a:srgbClr>
            </a:outerShdw>
          </a:effectLst>
        </p:spPr>
      </p:sp>
      <p:pic>
        <p:nvPicPr>
          <p:cNvPr id="5" name="Image 0" descr="preencoded.png"/>
          <p:cNvPicPr>
            <a:picLocks noChangeAspect="1"/>
          </p:cNvPicPr>
          <p:nvPr/>
        </p:nvPicPr>
        <p:blipFill>
          <a:blip r:embed="rId3"/>
          <a:stretch>
            <a:fillRect/>
          </a:stretch>
        </p:blipFill>
        <p:spPr>
          <a:xfrm>
            <a:off x="777240" y="5193792"/>
            <a:ext cx="502920" cy="502920"/>
          </a:xfrm>
          <a:prstGeom prst="rect">
            <a:avLst/>
          </a:prstGeom>
        </p:spPr>
      </p:pic>
      <p:sp>
        <p:nvSpPr>
          <p:cNvPr id="8" name="Text 4"/>
          <p:cNvSpPr/>
          <p:nvPr/>
        </p:nvSpPr>
        <p:spPr>
          <a:xfrm>
            <a:off x="1463040" y="5120640"/>
            <a:ext cx="9875520" cy="822960"/>
          </a:xfrm>
          <a:prstGeom prst="rect">
            <a:avLst/>
          </a:prstGeom>
          <a:noFill/>
          <a:ln/>
        </p:spPr>
        <p:txBody>
          <a:bodyPr wrap="square" rtlCol="0" anchor="ctr"/>
          <a:lstStyle/>
          <a:p>
            <a:pPr marL="0" indent="0">
              <a:buNone/>
            </a:pPr>
            <a:r>
              <a:rPr lang="en-US" sz="1250" i="1" dirty="0">
                <a:solidFill>
                  <a:srgbClr val="6B5116"/>
                </a:solidFill>
                <a:latin typeface="Calibri" pitchFamily="34" charset="0"/>
                <a:ea typeface="Calibri" pitchFamily="34" charset="-122"/>
                <a:cs typeface="Calibri" pitchFamily="34" charset="-120"/>
              </a:rPr>
              <a:t>VSM was an improvement because it moved retrieval from exact matching to graded, ranked relevance — the foundation of modern search engines.</a:t>
            </a:r>
            <a:endParaRPr lang="en-US" sz="1250" dirty="0"/>
          </a:p>
        </p:txBody>
      </p:sp>
      <p:sp>
        <p:nvSpPr>
          <p:cNvPr id="9" name="Text 5"/>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6</a:t>
            </a:r>
            <a:endParaRPr lang="en-US" sz="1000" dirty="0"/>
          </a:p>
        </p:txBody>
      </p:sp>
      <p:sp>
        <p:nvSpPr>
          <p:cNvPr id="10" name="Text 6"/>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VECTOR SPACE MODEL</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Documents and Queries as Vectors</a:t>
            </a:r>
            <a:endParaRPr lang="en-US" sz="3200" dirty="0"/>
          </a:p>
        </p:txBody>
      </p:sp>
      <p:sp>
        <p:nvSpPr>
          <p:cNvPr id="4" name="Text 2"/>
          <p:cNvSpPr/>
          <p:nvPr/>
        </p:nvSpPr>
        <p:spPr>
          <a:xfrm>
            <a:off x="548640" y="1691640"/>
            <a:ext cx="5394960" cy="3017520"/>
          </a:xfrm>
          <a:prstGeom prst="rect">
            <a:avLst/>
          </a:prstGeom>
          <a:noFill/>
          <a:ln/>
        </p:spPr>
        <p:txBody>
          <a:bodyPr wrap="square" rtlCol="0" anchor="ctr"/>
          <a:lstStyle/>
          <a:p>
            <a:pPr marL="342900" indent="-342900">
              <a:lnSpc>
                <a:spcPct val="120000"/>
              </a:lnSpc>
              <a:spcAft>
                <a:spcPts val="800"/>
              </a:spcAft>
              <a:buSzPct val="100000"/>
              <a:buChar char="•"/>
            </a:pPr>
            <a:r>
              <a:rPr lang="en-US" sz="1450" dirty="0">
                <a:solidFill>
                  <a:srgbClr val="1B2B3A"/>
                </a:solidFill>
                <a:latin typeface="Calibri" pitchFamily="34" charset="0"/>
                <a:ea typeface="Calibri" pitchFamily="34" charset="-122"/>
                <a:cs typeface="Calibri" pitchFamily="34" charset="-120"/>
              </a:rPr>
              <a:t>Each document is represented as a vector in a multi-dimensional space.</a:t>
            </a:r>
            <a:endParaRPr lang="en-US" sz="1450" dirty="0"/>
          </a:p>
          <a:p>
            <a:pPr marL="342900" indent="-342900">
              <a:lnSpc>
                <a:spcPct val="120000"/>
              </a:lnSpc>
              <a:spcAft>
                <a:spcPts val="800"/>
              </a:spcAft>
              <a:buSzPct val="100000"/>
              <a:buChar char="•"/>
            </a:pPr>
            <a:r>
              <a:rPr lang="en-US" sz="1450" dirty="0">
                <a:solidFill>
                  <a:srgbClr val="1B2B3A"/>
                </a:solidFill>
                <a:latin typeface="Calibri" pitchFamily="34" charset="0"/>
                <a:ea typeface="Calibri" pitchFamily="34" charset="-122"/>
                <a:cs typeface="Calibri" pitchFamily="34" charset="-120"/>
              </a:rPr>
              <a:t>Each dimension corresponds to a unique term in the vocabulary.</a:t>
            </a:r>
            <a:endParaRPr lang="en-US" sz="1450" dirty="0"/>
          </a:p>
          <a:p>
            <a:pPr marL="342900" indent="-342900">
              <a:lnSpc>
                <a:spcPct val="120000"/>
              </a:lnSpc>
              <a:spcAft>
                <a:spcPts val="800"/>
              </a:spcAft>
              <a:buSzPct val="100000"/>
              <a:buChar char="•"/>
            </a:pPr>
            <a:r>
              <a:rPr lang="en-US" sz="1450" dirty="0">
                <a:solidFill>
                  <a:srgbClr val="1B2B3A"/>
                </a:solidFill>
                <a:latin typeface="Calibri" pitchFamily="34" charset="0"/>
                <a:ea typeface="Calibri" pitchFamily="34" charset="-122"/>
                <a:cs typeface="Calibri" pitchFamily="34" charset="-120"/>
              </a:rPr>
              <a:t>The query is represented as a vector in the same space.</a:t>
            </a:r>
            <a:endParaRPr lang="en-US" sz="1450" dirty="0"/>
          </a:p>
          <a:p>
            <a:pPr marL="342900" indent="-342900">
              <a:lnSpc>
                <a:spcPct val="120000"/>
              </a:lnSpc>
              <a:buSzPct val="100000"/>
              <a:buChar char="•"/>
            </a:pPr>
            <a:r>
              <a:rPr lang="en-US" sz="1450" dirty="0">
                <a:solidFill>
                  <a:srgbClr val="1B2B3A"/>
                </a:solidFill>
                <a:latin typeface="Calibri" pitchFamily="34" charset="0"/>
                <a:ea typeface="Calibri" pitchFamily="34" charset="-122"/>
                <a:cs typeface="Calibri" pitchFamily="34" charset="-120"/>
              </a:rPr>
              <a:t>Relevance is measured by how similar the query vector is to each document vector.</a:t>
            </a:r>
            <a:endParaRPr lang="en-US" sz="1450" dirty="0"/>
          </a:p>
        </p:txBody>
      </p:sp>
      <p:sp>
        <p:nvSpPr>
          <p:cNvPr id="5" name="Shape 3"/>
          <p:cNvSpPr/>
          <p:nvPr/>
        </p:nvSpPr>
        <p:spPr>
          <a:xfrm>
            <a:off x="6217920" y="1691640"/>
            <a:ext cx="5394960" cy="4206240"/>
          </a:xfrm>
          <a:prstGeom prst="roundRect">
            <a:avLst>
              <a:gd name="adj" fmla="val 2174"/>
            </a:avLst>
          </a:prstGeom>
          <a:solidFill>
            <a:srgbClr val="E8F1F8"/>
          </a:solidFill>
          <a:ln/>
          <a:effectLst>
            <a:outerShdw blurRad="101600" dist="25400" dir="5400000" algn="bl" rotWithShape="0">
              <a:srgbClr val="1B2B3A">
                <a:alpha val="10000"/>
              </a:srgbClr>
            </a:outerShdw>
          </a:effectLst>
        </p:spPr>
      </p:sp>
      <p:sp>
        <p:nvSpPr>
          <p:cNvPr id="6" name="Shape 4"/>
          <p:cNvSpPr/>
          <p:nvPr/>
        </p:nvSpPr>
        <p:spPr>
          <a:xfrm>
            <a:off x="6949440" y="5394960"/>
            <a:ext cx="3291840" cy="0"/>
          </a:xfrm>
          <a:prstGeom prst="line">
            <a:avLst/>
          </a:prstGeom>
          <a:noFill/>
          <a:ln w="19050">
            <a:solidFill>
              <a:srgbClr val="5C7385"/>
            </a:solidFill>
            <a:prstDash val="solid"/>
            <a:tailEnd type="triangle"/>
          </a:ln>
        </p:spPr>
      </p:sp>
      <p:sp>
        <p:nvSpPr>
          <p:cNvPr id="7" name="Shape 5"/>
          <p:cNvSpPr/>
          <p:nvPr/>
        </p:nvSpPr>
        <p:spPr>
          <a:xfrm>
            <a:off x="6949440" y="5394960"/>
            <a:ext cx="0" cy="0"/>
          </a:xfrm>
          <a:prstGeom prst="line">
            <a:avLst/>
          </a:prstGeom>
          <a:noFill/>
          <a:ln w="19050">
            <a:solidFill>
              <a:srgbClr val="5C7385"/>
            </a:solidFill>
            <a:prstDash val="solid"/>
            <a:tailEnd type="triangle"/>
          </a:ln>
        </p:spPr>
      </p:sp>
      <p:sp>
        <p:nvSpPr>
          <p:cNvPr id="8" name="Text 6"/>
          <p:cNvSpPr/>
          <p:nvPr/>
        </p:nvSpPr>
        <p:spPr>
          <a:xfrm>
            <a:off x="9601200" y="5468112"/>
            <a:ext cx="914400" cy="274320"/>
          </a:xfrm>
          <a:prstGeom prst="rect">
            <a:avLst/>
          </a:prstGeom>
          <a:noFill/>
          <a:ln/>
        </p:spPr>
        <p:txBody>
          <a:bodyPr wrap="square" rtlCol="0" anchor="ctr"/>
          <a:lstStyle/>
          <a:p>
            <a:pPr marL="0" indent="0">
              <a:buNone/>
            </a:pPr>
            <a:r>
              <a:rPr lang="en-US" sz="1000" dirty="0">
                <a:solidFill>
                  <a:srgbClr val="5C7385"/>
                </a:solidFill>
                <a:latin typeface="Calibri" pitchFamily="34" charset="0"/>
                <a:ea typeface="Calibri" pitchFamily="34" charset="-122"/>
                <a:cs typeface="Calibri" pitchFamily="34" charset="-120"/>
              </a:rPr>
              <a:t>Term A</a:t>
            </a:r>
            <a:endParaRPr lang="en-US" sz="1000" dirty="0"/>
          </a:p>
        </p:txBody>
      </p:sp>
      <p:sp>
        <p:nvSpPr>
          <p:cNvPr id="9" name="Text 7"/>
          <p:cNvSpPr/>
          <p:nvPr/>
        </p:nvSpPr>
        <p:spPr>
          <a:xfrm>
            <a:off x="6355080" y="1874520"/>
            <a:ext cx="914400" cy="274320"/>
          </a:xfrm>
          <a:prstGeom prst="rect">
            <a:avLst/>
          </a:prstGeom>
          <a:noFill/>
          <a:ln/>
        </p:spPr>
        <p:txBody>
          <a:bodyPr wrap="square" rtlCol="0" anchor="ctr"/>
          <a:lstStyle/>
          <a:p>
            <a:pPr marL="0" indent="0">
              <a:buNone/>
            </a:pPr>
            <a:r>
              <a:rPr lang="en-US" sz="1000" dirty="0">
                <a:solidFill>
                  <a:srgbClr val="5C7385"/>
                </a:solidFill>
                <a:latin typeface="Calibri" pitchFamily="34" charset="0"/>
                <a:ea typeface="Calibri" pitchFamily="34" charset="-122"/>
                <a:cs typeface="Calibri" pitchFamily="34" charset="-120"/>
              </a:rPr>
              <a:t>Term B</a:t>
            </a:r>
            <a:endParaRPr lang="en-US" sz="1000" dirty="0"/>
          </a:p>
        </p:txBody>
      </p:sp>
      <p:sp>
        <p:nvSpPr>
          <p:cNvPr id="10" name="Shape 8"/>
          <p:cNvSpPr/>
          <p:nvPr/>
        </p:nvSpPr>
        <p:spPr>
          <a:xfrm>
            <a:off x="6949440" y="5394960"/>
            <a:ext cx="2377440" cy="0"/>
          </a:xfrm>
          <a:prstGeom prst="line">
            <a:avLst/>
          </a:prstGeom>
          <a:noFill/>
          <a:ln w="38100">
            <a:solidFill>
              <a:srgbClr val="1C7293"/>
            </a:solidFill>
            <a:prstDash val="solid"/>
            <a:tailEnd type="triangle"/>
          </a:ln>
        </p:spPr>
      </p:sp>
      <p:sp>
        <p:nvSpPr>
          <p:cNvPr id="11" name="Text 9"/>
          <p:cNvSpPr/>
          <p:nvPr/>
        </p:nvSpPr>
        <p:spPr>
          <a:xfrm>
            <a:off x="9052560" y="2971800"/>
            <a:ext cx="1463040" cy="274320"/>
          </a:xfrm>
          <a:prstGeom prst="rect">
            <a:avLst/>
          </a:prstGeom>
          <a:noFill/>
          <a:ln/>
        </p:spPr>
        <p:txBody>
          <a:bodyPr wrap="square"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Document (d)</a:t>
            </a:r>
            <a:endParaRPr lang="en-US" sz="1050" dirty="0"/>
          </a:p>
        </p:txBody>
      </p:sp>
      <p:sp>
        <p:nvSpPr>
          <p:cNvPr id="12" name="Shape 10"/>
          <p:cNvSpPr/>
          <p:nvPr/>
        </p:nvSpPr>
        <p:spPr>
          <a:xfrm>
            <a:off x="6949440" y="5394960"/>
            <a:ext cx="2743200" cy="0"/>
          </a:xfrm>
          <a:prstGeom prst="line">
            <a:avLst/>
          </a:prstGeom>
          <a:noFill/>
          <a:ln w="38100">
            <a:solidFill>
              <a:srgbClr val="C0392B"/>
            </a:solidFill>
            <a:prstDash val="solid"/>
            <a:tailEnd type="triangle"/>
          </a:ln>
        </p:spPr>
      </p:sp>
      <p:sp>
        <p:nvSpPr>
          <p:cNvPr id="13" name="Text 11"/>
          <p:cNvSpPr/>
          <p:nvPr/>
        </p:nvSpPr>
        <p:spPr>
          <a:xfrm>
            <a:off x="9418320" y="3566160"/>
            <a:ext cx="1280160" cy="274320"/>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Query (q)</a:t>
            </a:r>
            <a:endParaRPr lang="en-US" sz="1050" dirty="0"/>
          </a:p>
        </p:txBody>
      </p:sp>
      <p:sp>
        <p:nvSpPr>
          <p:cNvPr id="14" name="Text 12"/>
          <p:cNvSpPr/>
          <p:nvPr/>
        </p:nvSpPr>
        <p:spPr>
          <a:xfrm>
            <a:off x="7452360" y="4709160"/>
            <a:ext cx="365760" cy="320040"/>
          </a:xfrm>
          <a:prstGeom prst="rect">
            <a:avLst/>
          </a:prstGeom>
          <a:noFill/>
          <a:ln/>
        </p:spPr>
        <p:txBody>
          <a:bodyPr wrap="square" rtlCol="0" anchor="ctr"/>
          <a:lstStyle/>
          <a:p>
            <a:pPr marL="0" indent="0">
              <a:buNone/>
            </a:pPr>
            <a:r>
              <a:rPr lang="en-US" sz="1600" i="1" dirty="0">
                <a:solidFill>
                  <a:srgbClr val="0B2545"/>
                </a:solidFill>
                <a:latin typeface="Cambria" pitchFamily="34" charset="0"/>
                <a:ea typeface="Cambria" pitchFamily="34" charset="-122"/>
                <a:cs typeface="Cambria" pitchFamily="34" charset="-120"/>
              </a:rPr>
              <a:t>θ</a:t>
            </a:r>
            <a:endParaRPr lang="en-US" sz="1600" dirty="0"/>
          </a:p>
        </p:txBody>
      </p:sp>
      <p:sp>
        <p:nvSpPr>
          <p:cNvPr id="15" name="Text 13"/>
          <p:cNvSpPr/>
          <p:nvPr/>
        </p:nvSpPr>
        <p:spPr>
          <a:xfrm>
            <a:off x="6446520" y="1828800"/>
            <a:ext cx="4937760" cy="54864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The angle θ between vectors indicates similarity — a smaller angle means higher relevance.</a:t>
            </a:r>
            <a:endParaRPr lang="en-US" sz="1150" dirty="0"/>
          </a:p>
        </p:txBody>
      </p:sp>
      <p:sp>
        <p:nvSpPr>
          <p:cNvPr id="16" name="Text 14"/>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7</a:t>
            </a:r>
            <a:endParaRPr lang="en-US" sz="1000" dirty="0"/>
          </a:p>
        </p:txBody>
      </p:sp>
      <p:sp>
        <p:nvSpPr>
          <p:cNvPr id="17" name="Text 15"/>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TERM WEIGHTING</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Term Frequency (TF) &amp; Inverse Document Frequency (IDF)</a:t>
            </a:r>
            <a:endParaRPr lang="en-US" sz="3200" dirty="0"/>
          </a:p>
        </p:txBody>
      </p:sp>
      <p:sp>
        <p:nvSpPr>
          <p:cNvPr id="4" name="Shape 2"/>
          <p:cNvSpPr/>
          <p:nvPr/>
        </p:nvSpPr>
        <p:spPr>
          <a:xfrm>
            <a:off x="548640" y="1691640"/>
            <a:ext cx="5394960" cy="4206240"/>
          </a:xfrm>
          <a:prstGeom prst="roundRect">
            <a:avLst>
              <a:gd name="adj" fmla="val 2174"/>
            </a:avLst>
          </a:prstGeom>
          <a:solidFill>
            <a:srgbClr val="E8F1F8"/>
          </a:solidFill>
          <a:ln/>
          <a:effectLst>
            <a:outerShdw blurRad="101600" dist="25400" dir="5400000" algn="bl" rotWithShape="0">
              <a:srgbClr val="1B2B3A">
                <a:alpha val="10000"/>
              </a:srgbClr>
            </a:outerShdw>
          </a:effectLst>
        </p:spPr>
      </p:sp>
      <p:sp>
        <p:nvSpPr>
          <p:cNvPr id="5" name="Shape 3"/>
          <p:cNvSpPr/>
          <p:nvPr/>
        </p:nvSpPr>
        <p:spPr>
          <a:xfrm>
            <a:off x="822960" y="1920240"/>
            <a:ext cx="548640" cy="548640"/>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954634" y="2051914"/>
            <a:ext cx="285293" cy="285293"/>
          </a:xfrm>
          <a:prstGeom prst="rect">
            <a:avLst/>
          </a:prstGeom>
        </p:spPr>
      </p:pic>
      <p:sp>
        <p:nvSpPr>
          <p:cNvPr id="7" name="Text 4"/>
          <p:cNvSpPr/>
          <p:nvPr/>
        </p:nvSpPr>
        <p:spPr>
          <a:xfrm>
            <a:off x="1508760" y="1965960"/>
            <a:ext cx="4206240" cy="457200"/>
          </a:xfrm>
          <a:prstGeom prst="rect">
            <a:avLst/>
          </a:prstGeom>
          <a:noFill/>
          <a:ln/>
        </p:spPr>
        <p:txBody>
          <a:bodyPr wrap="square"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Term Frequency (TF)</a:t>
            </a:r>
            <a:endParaRPr lang="en-US" sz="1700" dirty="0"/>
          </a:p>
        </p:txBody>
      </p:sp>
      <p:sp>
        <p:nvSpPr>
          <p:cNvPr id="8" name="Text 5"/>
          <p:cNvSpPr/>
          <p:nvPr/>
        </p:nvSpPr>
        <p:spPr>
          <a:xfrm>
            <a:off x="822960" y="2514600"/>
            <a:ext cx="4846320" cy="685800"/>
          </a:xfrm>
          <a:prstGeom prst="rect">
            <a:avLst/>
          </a:prstGeom>
          <a:noFill/>
          <a:ln/>
        </p:spPr>
        <p:txBody>
          <a:bodyPr wrap="square" rtlCol="0" anchor="ctr"/>
          <a:lstStyle/>
          <a:p>
            <a:pPr marL="0" indent="0">
              <a:buNone/>
            </a:pPr>
            <a:r>
              <a:rPr lang="en-US" sz="1200" dirty="0">
                <a:solidFill>
                  <a:srgbClr val="1B2B3A"/>
                </a:solidFill>
                <a:latin typeface="Calibri" pitchFamily="34" charset="0"/>
                <a:ea typeface="Calibri" pitchFamily="34" charset="-122"/>
                <a:cs typeface="Calibri" pitchFamily="34" charset="-120"/>
              </a:rPr>
              <a:t>How often a term appears in a document — more occurrences suggest more importance to that document.</a:t>
            </a:r>
            <a:endParaRPr lang="en-US" sz="1200" dirty="0"/>
          </a:p>
        </p:txBody>
      </p:sp>
      <p:sp>
        <p:nvSpPr>
          <p:cNvPr id="9" name="Shape 6"/>
          <p:cNvSpPr/>
          <p:nvPr/>
        </p:nvSpPr>
        <p:spPr>
          <a:xfrm>
            <a:off x="822960" y="3246120"/>
            <a:ext cx="4846320" cy="594360"/>
          </a:xfrm>
          <a:prstGeom prst="roundRect">
            <a:avLst>
              <a:gd name="adj" fmla="val 9231"/>
            </a:avLst>
          </a:prstGeom>
          <a:solidFill>
            <a:srgbClr val="FFFFFF"/>
          </a:solidFill>
          <a:ln w="12700">
            <a:solidFill>
              <a:srgbClr val="CFE1EC"/>
            </a:solidFill>
            <a:prstDash val="solid"/>
          </a:ln>
        </p:spPr>
      </p:sp>
      <p:sp>
        <p:nvSpPr>
          <p:cNvPr id="10" name="Text 7"/>
          <p:cNvSpPr/>
          <p:nvPr/>
        </p:nvSpPr>
        <p:spPr>
          <a:xfrm>
            <a:off x="914400" y="3310128"/>
            <a:ext cx="4663440" cy="457200"/>
          </a:xfrm>
          <a:prstGeom prst="rect">
            <a:avLst/>
          </a:prstGeom>
          <a:noFill/>
          <a:ln/>
        </p:spPr>
        <p:txBody>
          <a:bodyPr wrap="square" rtlCol="0" anchor="ctr"/>
          <a:lstStyle/>
          <a:p>
            <a:pPr marL="0" indent="0">
              <a:buNone/>
            </a:pPr>
            <a:r>
              <a:rPr lang="en-US" sz="1300" i="1" dirty="0">
                <a:solidFill>
                  <a:srgbClr val="0B2545"/>
                </a:solidFill>
                <a:latin typeface="Cambria" pitchFamily="34" charset="0"/>
                <a:ea typeface="Cambria" pitchFamily="34" charset="-122"/>
                <a:cs typeface="Cambria" pitchFamily="34" charset="-120"/>
              </a:rPr>
              <a:t>TF(t,d) = (count of t in d) / (total terms in d)</a:t>
            </a:r>
            <a:endParaRPr lang="en-US" sz="1300" dirty="0"/>
          </a:p>
        </p:txBody>
      </p:sp>
      <p:sp>
        <p:nvSpPr>
          <p:cNvPr id="11" name="Text 8"/>
          <p:cNvSpPr/>
          <p:nvPr/>
        </p:nvSpPr>
        <p:spPr>
          <a:xfrm>
            <a:off x="822960" y="3977640"/>
            <a:ext cx="4846320" cy="64008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Example: word "learning" appears 3 times in a 100-word document → TF = 3/100 = 0.03</a:t>
            </a:r>
            <a:endParaRPr lang="en-US" sz="1150" dirty="0"/>
          </a:p>
        </p:txBody>
      </p:sp>
      <p:sp>
        <p:nvSpPr>
          <p:cNvPr id="12" name="Text 9"/>
          <p:cNvSpPr/>
          <p:nvPr/>
        </p:nvSpPr>
        <p:spPr>
          <a:xfrm>
            <a:off x="822960" y="4800600"/>
            <a:ext cx="4846320" cy="822960"/>
          </a:xfrm>
          <a:prstGeom prst="rect">
            <a:avLst/>
          </a:prstGeom>
          <a:noFill/>
          <a:ln/>
        </p:spPr>
        <p:txBody>
          <a:bodyPr wrap="square" rtlCol="0" anchor="ctr"/>
          <a:lstStyle/>
          <a:p>
            <a:pPr marL="0" indent="0">
              <a:buNone/>
            </a:pPr>
            <a:r>
              <a:rPr lang="en-US" sz="1150" dirty="0">
                <a:solidFill>
                  <a:srgbClr val="1C7293"/>
                </a:solidFill>
                <a:latin typeface="Calibri" pitchFamily="34" charset="0"/>
                <a:ea typeface="Calibri" pitchFamily="34" charset="-122"/>
                <a:cs typeface="Calibri" pitchFamily="34" charset="-120"/>
              </a:rPr>
              <a:t>Common words ("the", "is") get high TF but carry little meaning.</a:t>
            </a:r>
            <a:endParaRPr lang="en-US" sz="1150" dirty="0"/>
          </a:p>
        </p:txBody>
      </p:sp>
      <p:sp>
        <p:nvSpPr>
          <p:cNvPr id="13" name="Shape 10"/>
          <p:cNvSpPr/>
          <p:nvPr/>
        </p:nvSpPr>
        <p:spPr>
          <a:xfrm>
            <a:off x="6217920" y="1691640"/>
            <a:ext cx="5394960" cy="4206240"/>
          </a:xfrm>
          <a:prstGeom prst="roundRect">
            <a:avLst>
              <a:gd name="adj" fmla="val 2174"/>
            </a:avLst>
          </a:prstGeom>
          <a:solidFill>
            <a:srgbClr val="FFF1E8"/>
          </a:solidFill>
          <a:ln/>
          <a:effectLst>
            <a:outerShdw blurRad="101600" dist="25400" dir="5400000" algn="bl" rotWithShape="0">
              <a:srgbClr val="1B2B3A">
                <a:alpha val="10000"/>
              </a:srgbClr>
            </a:outerShdw>
          </a:effectLst>
        </p:spPr>
      </p:sp>
      <p:sp>
        <p:nvSpPr>
          <p:cNvPr id="14" name="Shape 11"/>
          <p:cNvSpPr/>
          <p:nvPr/>
        </p:nvSpPr>
        <p:spPr>
          <a:xfrm>
            <a:off x="6492240" y="1920240"/>
            <a:ext cx="548640" cy="548640"/>
          </a:xfrm>
          <a:prstGeom prst="ellipse">
            <a:avLst/>
          </a:prstGeom>
          <a:solidFill>
            <a:srgbClr val="C0662A"/>
          </a:solidFill>
          <a:ln/>
        </p:spPr>
      </p:sp>
      <p:pic>
        <p:nvPicPr>
          <p:cNvPr id="15" name="Image 1" descr="preencoded.png"/>
          <p:cNvPicPr>
            <a:picLocks noChangeAspect="1"/>
          </p:cNvPicPr>
          <p:nvPr/>
        </p:nvPicPr>
        <p:blipFill>
          <a:blip r:embed="rId4"/>
          <a:stretch>
            <a:fillRect/>
          </a:stretch>
        </p:blipFill>
        <p:spPr>
          <a:xfrm>
            <a:off x="6623914" y="2051914"/>
            <a:ext cx="285293" cy="285293"/>
          </a:xfrm>
          <a:prstGeom prst="rect">
            <a:avLst/>
          </a:prstGeom>
        </p:spPr>
      </p:pic>
      <p:sp>
        <p:nvSpPr>
          <p:cNvPr id="16" name="Text 12"/>
          <p:cNvSpPr/>
          <p:nvPr/>
        </p:nvSpPr>
        <p:spPr>
          <a:xfrm>
            <a:off x="7178040" y="1965960"/>
            <a:ext cx="4206240" cy="457200"/>
          </a:xfrm>
          <a:prstGeom prst="rect">
            <a:avLst/>
          </a:prstGeom>
          <a:noFill/>
          <a:ln/>
        </p:spPr>
        <p:txBody>
          <a:bodyPr wrap="square"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Inverse Document Frequency (IDF)</a:t>
            </a:r>
            <a:endParaRPr lang="en-US" sz="1700" dirty="0"/>
          </a:p>
        </p:txBody>
      </p:sp>
      <p:sp>
        <p:nvSpPr>
          <p:cNvPr id="17" name="Text 13"/>
          <p:cNvSpPr/>
          <p:nvPr/>
        </p:nvSpPr>
        <p:spPr>
          <a:xfrm>
            <a:off x="6492240" y="2514600"/>
            <a:ext cx="4846320" cy="685800"/>
          </a:xfrm>
          <a:prstGeom prst="rect">
            <a:avLst/>
          </a:prstGeom>
          <a:noFill/>
          <a:ln/>
        </p:spPr>
        <p:txBody>
          <a:bodyPr wrap="square" rtlCol="0" anchor="ctr"/>
          <a:lstStyle/>
          <a:p>
            <a:pPr marL="0" indent="0">
              <a:buNone/>
            </a:pPr>
            <a:r>
              <a:rPr lang="en-US" sz="1200" dirty="0">
                <a:solidFill>
                  <a:srgbClr val="1B2B3A"/>
                </a:solidFill>
                <a:latin typeface="Calibri" pitchFamily="34" charset="0"/>
                <a:ea typeface="Calibri" pitchFamily="34" charset="-122"/>
                <a:cs typeface="Calibri" pitchFamily="34" charset="-120"/>
              </a:rPr>
              <a:t>How rare or common a term is across the whole collection — rarer terms are more informative.</a:t>
            </a:r>
            <a:endParaRPr lang="en-US" sz="1200" dirty="0"/>
          </a:p>
        </p:txBody>
      </p:sp>
      <p:sp>
        <p:nvSpPr>
          <p:cNvPr id="18" name="Shape 14"/>
          <p:cNvSpPr/>
          <p:nvPr/>
        </p:nvSpPr>
        <p:spPr>
          <a:xfrm>
            <a:off x="6492240" y="3246120"/>
            <a:ext cx="4846320" cy="594360"/>
          </a:xfrm>
          <a:prstGeom prst="roundRect">
            <a:avLst>
              <a:gd name="adj" fmla="val 9231"/>
            </a:avLst>
          </a:prstGeom>
          <a:solidFill>
            <a:srgbClr val="FFFFFF"/>
          </a:solidFill>
          <a:ln w="12700">
            <a:solidFill>
              <a:srgbClr val="F0D8C4"/>
            </a:solidFill>
            <a:prstDash val="solid"/>
          </a:ln>
        </p:spPr>
      </p:sp>
      <p:sp>
        <p:nvSpPr>
          <p:cNvPr id="19" name="Text 15"/>
          <p:cNvSpPr/>
          <p:nvPr/>
        </p:nvSpPr>
        <p:spPr>
          <a:xfrm>
            <a:off x="6583680" y="3310128"/>
            <a:ext cx="4663440" cy="457200"/>
          </a:xfrm>
          <a:prstGeom prst="rect">
            <a:avLst/>
          </a:prstGeom>
          <a:noFill/>
          <a:ln/>
        </p:spPr>
        <p:txBody>
          <a:bodyPr wrap="square" rtlCol="0" anchor="ctr"/>
          <a:lstStyle/>
          <a:p>
            <a:pPr marL="0" indent="0">
              <a:buNone/>
            </a:pPr>
            <a:r>
              <a:rPr lang="en-US" sz="1300" i="1" dirty="0">
                <a:solidFill>
                  <a:srgbClr val="0B2545"/>
                </a:solidFill>
                <a:latin typeface="Cambria" pitchFamily="34" charset="0"/>
                <a:ea typeface="Cambria" pitchFamily="34" charset="-122"/>
                <a:cs typeface="Cambria" pitchFamily="34" charset="-120"/>
              </a:rPr>
              <a:t>IDF(t) = log( N / df(t) )</a:t>
            </a:r>
            <a:endParaRPr lang="en-US" sz="1300" dirty="0"/>
          </a:p>
        </p:txBody>
      </p:sp>
      <p:sp>
        <p:nvSpPr>
          <p:cNvPr id="20" name="Text 16"/>
          <p:cNvSpPr/>
          <p:nvPr/>
        </p:nvSpPr>
        <p:spPr>
          <a:xfrm>
            <a:off x="6492240" y="3977640"/>
            <a:ext cx="4846320" cy="54864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N = total documents, df(t) = number of documents containing term t</a:t>
            </a:r>
            <a:endParaRPr lang="en-US" sz="1150" dirty="0"/>
          </a:p>
        </p:txBody>
      </p:sp>
      <p:sp>
        <p:nvSpPr>
          <p:cNvPr id="21" name="Text 17"/>
          <p:cNvSpPr/>
          <p:nvPr/>
        </p:nvSpPr>
        <p:spPr>
          <a:xfrm>
            <a:off x="6492240" y="4617720"/>
            <a:ext cx="4846320" cy="1005840"/>
          </a:xfrm>
          <a:prstGeom prst="rect">
            <a:avLst/>
          </a:prstGeom>
          <a:noFill/>
          <a:ln/>
        </p:spPr>
        <p:txBody>
          <a:bodyPr wrap="square" rtlCol="0" anchor="ctr"/>
          <a:lstStyle/>
          <a:p>
            <a:pPr marL="0" indent="0">
              <a:buNone/>
            </a:pPr>
            <a:r>
              <a:rPr lang="en-US" sz="1150" dirty="0">
                <a:solidFill>
                  <a:srgbClr val="C0662A"/>
                </a:solidFill>
                <a:latin typeface="Calibri" pitchFamily="34" charset="0"/>
                <a:ea typeface="Calibri" pitchFamily="34" charset="-122"/>
                <a:cs typeface="Calibri" pitchFamily="34" charset="-120"/>
              </a:rPr>
              <a:t>Words appearing in almost every document (like "the") get an IDF close to zero — so common words are automatically down-weighted.</a:t>
            </a:r>
            <a:endParaRPr lang="en-US" sz="1150" dirty="0"/>
          </a:p>
        </p:txBody>
      </p:sp>
      <p:sp>
        <p:nvSpPr>
          <p:cNvPr id="22" name="Text 18"/>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8</a:t>
            </a:r>
            <a:endParaRPr lang="en-US" sz="1000" dirty="0"/>
          </a:p>
        </p:txBody>
      </p:sp>
      <p:sp>
        <p:nvSpPr>
          <p:cNvPr id="23" name="Text 19"/>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TERM WEIGHTING</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Combining TF and IDF</a:t>
            </a:r>
            <a:endParaRPr lang="en-US" sz="3200" dirty="0"/>
          </a:p>
        </p:txBody>
      </p:sp>
      <p:sp>
        <p:nvSpPr>
          <p:cNvPr id="4" name="Text 2"/>
          <p:cNvSpPr/>
          <p:nvPr/>
        </p:nvSpPr>
        <p:spPr>
          <a:xfrm>
            <a:off x="548640" y="1691640"/>
            <a:ext cx="5120640" cy="2377440"/>
          </a:xfrm>
          <a:prstGeom prst="rect">
            <a:avLst/>
          </a:prstGeom>
          <a:noFill/>
          <a:ln/>
        </p:spPr>
        <p:txBody>
          <a:bodyPr wrap="square" rtlCol="0" anchor="ctr"/>
          <a:lstStyle/>
          <a:p>
            <a:pPr marL="342900" indent="-342900">
              <a:lnSpc>
                <a:spcPct val="120000"/>
              </a:lnSpc>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TF alone overrates common words; IDF alone ignores how often a term is used in a specific document.</a:t>
            </a:r>
            <a:endParaRPr lang="en-US" sz="1400" dirty="0"/>
          </a:p>
          <a:p>
            <a:pPr marL="342900" indent="-342900">
              <a:lnSpc>
                <a:spcPct val="120000"/>
              </a:lnSpc>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Multiplying them balances both: local importance × global rarity.</a:t>
            </a:r>
            <a:endParaRPr lang="en-US" sz="1400" dirty="0"/>
          </a:p>
          <a:p>
            <a:pPr marL="342900" indent="-342900">
              <a:lnSpc>
                <a:spcPct val="120000"/>
              </a:lnSpc>
              <a:buSzPct val="100000"/>
              <a:buChar char="•"/>
            </a:pPr>
            <a:r>
              <a:rPr lang="en-US" sz="1400" dirty="0">
                <a:solidFill>
                  <a:srgbClr val="1B2B3A"/>
                </a:solidFill>
                <a:latin typeface="Calibri" pitchFamily="34" charset="0"/>
                <a:ea typeface="Calibri" pitchFamily="34" charset="-122"/>
                <a:cs typeface="Calibri" pitchFamily="34" charset="-120"/>
              </a:rPr>
              <a:t>This weighted score becomes the coordinate value for that term in the document's vector.</a:t>
            </a:r>
            <a:endParaRPr lang="en-US" sz="1400" dirty="0"/>
          </a:p>
        </p:txBody>
      </p:sp>
      <p:sp>
        <p:nvSpPr>
          <p:cNvPr id="5" name="Shape 3"/>
          <p:cNvSpPr/>
          <p:nvPr/>
        </p:nvSpPr>
        <p:spPr>
          <a:xfrm>
            <a:off x="548640" y="4114800"/>
            <a:ext cx="5120640" cy="1554480"/>
          </a:xfrm>
          <a:prstGeom prst="roundRect">
            <a:avLst>
              <a:gd name="adj" fmla="val 5882"/>
            </a:avLst>
          </a:prstGeom>
          <a:solidFill>
            <a:srgbClr val="0B2545"/>
          </a:solidFill>
          <a:ln/>
          <a:effectLst>
            <a:outerShdw blurRad="101600" dist="25400" dir="5400000" algn="bl" rotWithShape="0">
              <a:srgbClr val="1B2B3A">
                <a:alpha val="10000"/>
              </a:srgbClr>
            </a:outerShdw>
          </a:effectLst>
        </p:spPr>
      </p:sp>
      <p:sp>
        <p:nvSpPr>
          <p:cNvPr id="6" name="Text 4"/>
          <p:cNvSpPr/>
          <p:nvPr/>
        </p:nvSpPr>
        <p:spPr>
          <a:xfrm>
            <a:off x="822960" y="4343400"/>
            <a:ext cx="4572000" cy="548640"/>
          </a:xfrm>
          <a:prstGeom prst="rect">
            <a:avLst/>
          </a:prstGeom>
          <a:noFill/>
          <a:ln/>
        </p:spPr>
        <p:txBody>
          <a:bodyPr wrap="square" rtlCol="0" anchor="ctr"/>
          <a:lstStyle/>
          <a:p>
            <a:pPr marL="0" indent="0">
              <a:buNone/>
            </a:pPr>
            <a:r>
              <a:rPr lang="en-US" sz="1900" b="1" i="1" dirty="0">
                <a:solidFill>
                  <a:srgbClr val="6FDFDF"/>
                </a:solidFill>
                <a:latin typeface="Cambria" pitchFamily="34" charset="0"/>
                <a:ea typeface="Cambria" pitchFamily="34" charset="-122"/>
                <a:cs typeface="Cambria" pitchFamily="34" charset="-120"/>
              </a:rPr>
              <a:t>TF-IDF(t,d) = TF(t,d) × IDF(t)</a:t>
            </a:r>
            <a:endParaRPr lang="en-US" sz="1900" dirty="0"/>
          </a:p>
        </p:txBody>
      </p:sp>
      <p:sp>
        <p:nvSpPr>
          <p:cNvPr id="7" name="Text 5"/>
          <p:cNvSpPr/>
          <p:nvPr/>
        </p:nvSpPr>
        <p:spPr>
          <a:xfrm>
            <a:off x="822960" y="4937760"/>
            <a:ext cx="4572000" cy="640080"/>
          </a:xfrm>
          <a:prstGeom prst="rect">
            <a:avLst/>
          </a:prstGeom>
          <a:noFill/>
          <a:ln/>
        </p:spPr>
        <p:txBody>
          <a:bodyPr wrap="square" rtlCol="0" anchor="ctr"/>
          <a:lstStyle/>
          <a:p>
            <a:pPr marL="0" indent="0">
              <a:buNone/>
            </a:pPr>
            <a:r>
              <a:rPr lang="en-US" sz="1150" dirty="0">
                <a:solidFill>
                  <a:srgbClr val="C9DCE8"/>
                </a:solidFill>
                <a:latin typeface="Calibri" pitchFamily="34" charset="0"/>
                <a:ea typeface="Calibri" pitchFamily="34" charset="-122"/>
                <a:cs typeface="Calibri" pitchFamily="34" charset="-120"/>
              </a:rPr>
              <a:t>High weight → term is frequent in this document but rare overall (highly distinctive).</a:t>
            </a:r>
            <a:endParaRPr lang="en-US" sz="1150" dirty="0"/>
          </a:p>
        </p:txBody>
      </p:sp>
      <p:sp>
        <p:nvSpPr>
          <p:cNvPr id="8" name="Shape 6"/>
          <p:cNvSpPr/>
          <p:nvPr/>
        </p:nvSpPr>
        <p:spPr>
          <a:xfrm>
            <a:off x="5989320" y="1691640"/>
            <a:ext cx="5623560" cy="4206240"/>
          </a:xfrm>
          <a:prstGeom prst="roundRect">
            <a:avLst>
              <a:gd name="adj" fmla="val 2174"/>
            </a:avLst>
          </a:prstGeom>
          <a:solidFill>
            <a:srgbClr val="E8F1F8"/>
          </a:solidFill>
          <a:ln/>
          <a:effectLst>
            <a:outerShdw blurRad="101600" dist="25400" dir="5400000" algn="bl" rotWithShape="0">
              <a:srgbClr val="1B2B3A">
                <a:alpha val="10000"/>
              </a:srgbClr>
            </a:outerShdw>
          </a:effectLst>
        </p:spPr>
      </p:sp>
      <p:sp>
        <p:nvSpPr>
          <p:cNvPr id="9" name="Text 7"/>
          <p:cNvSpPr/>
          <p:nvPr/>
        </p:nvSpPr>
        <p:spPr>
          <a:xfrm>
            <a:off x="6263640" y="1874520"/>
            <a:ext cx="4572000" cy="32004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10" name="Text 8"/>
          <p:cNvSpPr/>
          <p:nvPr/>
        </p:nvSpPr>
        <p:spPr>
          <a:xfrm>
            <a:off x="6263640" y="2212848"/>
            <a:ext cx="5120640" cy="685800"/>
          </a:xfrm>
          <a:prstGeom prst="rect">
            <a:avLst/>
          </a:prstGeom>
          <a:noFill/>
          <a:ln/>
        </p:spPr>
        <p:txBody>
          <a:bodyPr wrap="square" rtlCol="0" anchor="ctr"/>
          <a:lstStyle/>
          <a:p>
            <a:pPr marL="0" indent="0">
              <a:buNone/>
            </a:pPr>
            <a:r>
              <a:rPr lang="en-US" sz="1150" dirty="0">
                <a:solidFill>
                  <a:srgbClr val="5C7385"/>
                </a:solidFill>
                <a:latin typeface="Calibri" pitchFamily="34" charset="0"/>
                <a:ea typeface="Calibri" pitchFamily="34" charset="-122"/>
                <a:cs typeface="Calibri" pitchFamily="34" charset="-120"/>
              </a:rPr>
              <a:t>Term "retrieval" · Collection of N = 100 documents · appears in df = 10 documents · appears 4 times in a 200-word document 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63640" y="3017520"/>
          <a:ext cx="5120640" cy="1463040"/>
        </p:xfrm>
        <a:graphic>
          <a:graphicData uri="http://schemas.openxmlformats.org/drawingml/2006/table">
            <a:tbl>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Calculation</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TF</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4 / 200</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IDF</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log(100 / 10)</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1B2B3A"/>
                          </a:solidFill>
                          <a:latin typeface="Calibri" pitchFamily="34" charset="0"/>
                          <a:ea typeface="Calibri" pitchFamily="34" charset="-122"/>
                          <a:cs typeface="Calibri" pitchFamily="34" charset="-120"/>
                        </a:rPr>
                        <a:t>TF-IDF</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0.02 × 1.0</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C7293"/>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9"/>
          <p:cNvSpPr/>
          <p:nvPr/>
        </p:nvSpPr>
        <p:spPr>
          <a:xfrm>
            <a:off x="6263640" y="4709160"/>
            <a:ext cx="5120640" cy="100584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This TF-IDF value becomes one coordinate of document d's vector — repeated for every term in the vocabulary.</a:t>
            </a:r>
            <a:endParaRPr lang="en-US" sz="1150" dirty="0"/>
          </a:p>
        </p:txBody>
      </p:sp>
      <p:sp>
        <p:nvSpPr>
          <p:cNvPr id="13" name="Text 1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9</a:t>
            </a:r>
            <a:endParaRPr lang="en-US" sz="1000" dirty="0"/>
          </a:p>
        </p:txBody>
      </p:sp>
      <p:sp>
        <p:nvSpPr>
          <p:cNvPr id="14" name="Text 1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6FDFDF"/>
                </a:solidFill>
                <a:latin typeface="Calibri" pitchFamily="34" charset="0"/>
                <a:ea typeface="Calibri" pitchFamily="34" charset="-122"/>
                <a:cs typeface="Calibri" pitchFamily="34" charset="-120"/>
              </a:rPr>
              <a:t>SIMILARITY MEASURE</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Cosine Similarity</a:t>
            </a:r>
            <a:endParaRPr lang="en-US" sz="3200" dirty="0"/>
          </a:p>
        </p:txBody>
      </p:sp>
      <p:sp>
        <p:nvSpPr>
          <p:cNvPr id="4" name="Text 2"/>
          <p:cNvSpPr/>
          <p:nvPr/>
        </p:nvSpPr>
        <p:spPr>
          <a:xfrm>
            <a:off x="548640" y="1691640"/>
            <a:ext cx="5212080" cy="2194560"/>
          </a:xfrm>
          <a:prstGeom prst="rect">
            <a:avLst/>
          </a:prstGeom>
          <a:noFill/>
          <a:ln/>
        </p:spPr>
        <p:txBody>
          <a:bodyPr wrap="square" rtlCol="0" anchor="ctr"/>
          <a:lstStyle/>
          <a:p>
            <a:pPr marL="342900" indent="-342900">
              <a:lnSpc>
                <a:spcPct val="120000"/>
              </a:lnSpc>
              <a:spcAft>
                <a:spcPts val="800"/>
              </a:spcAft>
              <a:buSzPct val="100000"/>
              <a:buChar char="•"/>
            </a:pPr>
            <a:r>
              <a:rPr lang="en-US" sz="1400" dirty="0">
                <a:solidFill>
                  <a:srgbClr val="E4EEF5"/>
                </a:solidFill>
                <a:latin typeface="Calibri" pitchFamily="34" charset="0"/>
                <a:ea typeface="Calibri" pitchFamily="34" charset="-122"/>
                <a:cs typeface="Calibri" pitchFamily="34" charset="-120"/>
              </a:rPr>
              <a:t>Measures the cosine of the angle between the query vector and a document vector.</a:t>
            </a:r>
            <a:endParaRPr lang="en-US" sz="1400" dirty="0"/>
          </a:p>
          <a:p>
            <a:pPr marL="342900" indent="-342900">
              <a:lnSpc>
                <a:spcPct val="120000"/>
              </a:lnSpc>
              <a:spcAft>
                <a:spcPts val="800"/>
              </a:spcAft>
              <a:buSzPct val="100000"/>
              <a:buChar char="•"/>
            </a:pPr>
            <a:r>
              <a:rPr lang="en-US" sz="1400" dirty="0">
                <a:solidFill>
                  <a:srgbClr val="E4EEF5"/>
                </a:solidFill>
                <a:latin typeface="Calibri" pitchFamily="34" charset="0"/>
                <a:ea typeface="Calibri" pitchFamily="34" charset="-122"/>
                <a:cs typeface="Calibri" pitchFamily="34" charset="-120"/>
              </a:rPr>
              <a:t>Focuses on direction (term pattern), not vector length (document size).</a:t>
            </a:r>
            <a:endParaRPr lang="en-US" sz="1400" dirty="0"/>
          </a:p>
          <a:p>
            <a:pPr marL="342900" indent="-342900">
              <a:lnSpc>
                <a:spcPct val="120000"/>
              </a:lnSpc>
              <a:buSzPct val="100000"/>
              <a:buChar char="•"/>
            </a:pPr>
            <a:r>
              <a:rPr lang="en-US" sz="1400" dirty="0">
                <a:solidFill>
                  <a:srgbClr val="E4EEF5"/>
                </a:solidFill>
                <a:latin typeface="Calibri" pitchFamily="34" charset="0"/>
                <a:ea typeface="Calibri" pitchFamily="34" charset="-122"/>
                <a:cs typeface="Calibri" pitchFamily="34" charset="-120"/>
              </a:rPr>
              <a:t>Range: 0 (completely dissimilar) to 1 (identical direction).</a:t>
            </a:r>
            <a:endParaRPr lang="en-US" sz="1400" dirty="0"/>
          </a:p>
        </p:txBody>
      </p:sp>
      <p:sp>
        <p:nvSpPr>
          <p:cNvPr id="5" name="Shape 3"/>
          <p:cNvSpPr/>
          <p:nvPr/>
        </p:nvSpPr>
        <p:spPr>
          <a:xfrm>
            <a:off x="548640" y="3886200"/>
            <a:ext cx="5212080" cy="2011680"/>
          </a:xfrm>
          <a:prstGeom prst="roundRect">
            <a:avLst>
              <a:gd name="adj" fmla="val 4545"/>
            </a:avLst>
          </a:prstGeom>
          <a:solidFill>
            <a:srgbClr val="13315C"/>
          </a:solidFill>
          <a:ln/>
          <a:effectLst>
            <a:outerShdw blurRad="101600" dist="25400" dir="5400000" algn="bl" rotWithShape="0">
              <a:srgbClr val="1B2B3A">
                <a:alpha val="10000"/>
              </a:srgbClr>
            </a:outerShdw>
          </a:effectLst>
        </p:spPr>
      </p:sp>
      <p:sp>
        <p:nvSpPr>
          <p:cNvPr id="6" name="Text 4"/>
          <p:cNvSpPr/>
          <p:nvPr/>
        </p:nvSpPr>
        <p:spPr>
          <a:xfrm>
            <a:off x="822960" y="4114800"/>
            <a:ext cx="4754880" cy="502920"/>
          </a:xfrm>
          <a:prstGeom prst="rect">
            <a:avLst/>
          </a:prstGeom>
          <a:noFill/>
          <a:ln/>
        </p:spPr>
        <p:txBody>
          <a:bodyPr wrap="square" rtlCol="0" anchor="ctr"/>
          <a:lstStyle/>
          <a:p>
            <a:pPr marL="0" indent="0">
              <a:buNone/>
            </a:pPr>
            <a:r>
              <a:rPr lang="en-US" sz="1800" b="1" i="1" dirty="0">
                <a:solidFill>
                  <a:srgbClr val="6FDFDF"/>
                </a:solidFill>
                <a:latin typeface="Cambria" pitchFamily="34" charset="0"/>
                <a:ea typeface="Cambria" pitchFamily="34" charset="-122"/>
                <a:cs typeface="Cambria" pitchFamily="34" charset="-120"/>
              </a:rPr>
              <a:t>cos(θ) = (q · d) / (||q|| × ||d||)</a:t>
            </a:r>
            <a:endParaRPr lang="en-US" sz="1800" dirty="0"/>
          </a:p>
        </p:txBody>
      </p:sp>
      <p:sp>
        <p:nvSpPr>
          <p:cNvPr id="7" name="Text 5"/>
          <p:cNvSpPr/>
          <p:nvPr/>
        </p:nvSpPr>
        <p:spPr>
          <a:xfrm>
            <a:off x="822960" y="4709160"/>
            <a:ext cx="4754880" cy="1051560"/>
          </a:xfrm>
          <a:prstGeom prst="rect">
            <a:avLst/>
          </a:prstGeom>
          <a:noFill/>
          <a:ln/>
        </p:spPr>
        <p:txBody>
          <a:bodyPr wrap="square" rtlCol="0" anchor="ctr"/>
          <a:lstStyle/>
          <a:p>
            <a:pPr marL="0" indent="0">
              <a:buNone/>
            </a:pPr>
            <a:r>
              <a:rPr lang="en-US" sz="1150" dirty="0">
                <a:solidFill>
                  <a:srgbClr val="C9DCE8"/>
                </a:solidFill>
                <a:latin typeface="Calibri" pitchFamily="34" charset="0"/>
                <a:ea typeface="Calibri" pitchFamily="34" charset="-122"/>
                <a:cs typeface="Calibri" pitchFamily="34" charset="-120"/>
              </a:rPr>
              <a:t>q · d = dot product of vectors</a:t>
            </a:r>
            <a:endParaRPr lang="en-US" sz="1150" dirty="0"/>
          </a:p>
          <a:p>
            <a:pPr marL="0" indent="0">
              <a:buNone/>
            </a:pPr>
            <a:r>
              <a:rPr lang="en-US" sz="1150" dirty="0">
                <a:solidFill>
                  <a:srgbClr val="C9DCE8"/>
                </a:solidFill>
                <a:latin typeface="Calibri" pitchFamily="34" charset="0"/>
                <a:ea typeface="Calibri" pitchFamily="34" charset="-122"/>
                <a:cs typeface="Calibri" pitchFamily="34" charset="-120"/>
              </a:rPr>
              <a:t>||q||, ||d|| = magnitudes (lengths) of the vectors</a:t>
            </a:r>
            <a:endParaRPr lang="en-US" sz="1150" dirty="0"/>
          </a:p>
        </p:txBody>
      </p:sp>
      <p:sp>
        <p:nvSpPr>
          <p:cNvPr id="8" name="Shape 6"/>
          <p:cNvSpPr/>
          <p:nvPr/>
        </p:nvSpPr>
        <p:spPr>
          <a:xfrm>
            <a:off x="6126480" y="1691640"/>
            <a:ext cx="5486400" cy="4206240"/>
          </a:xfrm>
          <a:prstGeom prst="roundRect">
            <a:avLst>
              <a:gd name="adj" fmla="val 2174"/>
            </a:avLst>
          </a:prstGeom>
          <a:solidFill>
            <a:srgbClr val="10365E"/>
          </a:solidFill>
          <a:ln/>
          <a:effectLst>
            <a:outerShdw blurRad="101600" dist="25400" dir="5400000" algn="bl" rotWithShape="0">
              <a:srgbClr val="1B2B3A">
                <a:alpha val="10000"/>
              </a:srgbClr>
            </a:outerShdw>
          </a:effectLst>
        </p:spPr>
      </p:sp>
      <p:sp>
        <p:nvSpPr>
          <p:cNvPr id="9" name="Text 7"/>
          <p:cNvSpPr/>
          <p:nvPr/>
        </p:nvSpPr>
        <p:spPr>
          <a:xfrm>
            <a:off x="6400800" y="1874520"/>
            <a:ext cx="4572000" cy="320040"/>
          </a:xfrm>
          <a:prstGeom prst="rect">
            <a:avLst/>
          </a:prstGeom>
          <a:noFill/>
          <a:ln/>
        </p:spPr>
        <p:txBody>
          <a:bodyPr wrap="square" rtlCol="0" anchor="ctr"/>
          <a:lstStyle/>
          <a:p>
            <a:pPr marL="0" indent="0">
              <a:buNone/>
            </a:pPr>
            <a:r>
              <a:rPr lang="en-US" sz="1200" b="1" kern="0" spc="100" dirty="0">
                <a:solidFill>
                  <a:srgbClr val="6FDFDF"/>
                </a:solidFill>
                <a:latin typeface="Calibri" pitchFamily="34" charset="0"/>
                <a:ea typeface="Calibri" pitchFamily="34" charset="-122"/>
                <a:cs typeface="Calibri" pitchFamily="34" charset="-120"/>
              </a:rPr>
              <a:t>SIMILARITY BY ANGLE</a:t>
            </a:r>
            <a:endParaRPr lang="en-US" sz="1200" dirty="0"/>
          </a:p>
        </p:txBody>
      </p:sp>
      <p:sp>
        <p:nvSpPr>
          <p:cNvPr id="10" name="Shape 8"/>
          <p:cNvSpPr/>
          <p:nvPr/>
        </p:nvSpPr>
        <p:spPr>
          <a:xfrm>
            <a:off x="6766560" y="5577840"/>
            <a:ext cx="2926080" cy="0"/>
          </a:xfrm>
          <a:prstGeom prst="line">
            <a:avLst/>
          </a:prstGeom>
          <a:noFill/>
          <a:ln w="19050">
            <a:solidFill>
              <a:srgbClr val="7C97AA"/>
            </a:solidFill>
            <a:prstDash val="solid"/>
            <a:tailEnd type="triangle"/>
          </a:ln>
        </p:spPr>
      </p:sp>
      <p:sp>
        <p:nvSpPr>
          <p:cNvPr id="11" name="Shape 9"/>
          <p:cNvSpPr/>
          <p:nvPr/>
        </p:nvSpPr>
        <p:spPr>
          <a:xfrm>
            <a:off x="6766560" y="5577840"/>
            <a:ext cx="0" cy="0"/>
          </a:xfrm>
          <a:prstGeom prst="line">
            <a:avLst/>
          </a:prstGeom>
          <a:noFill/>
          <a:ln w="19050">
            <a:solidFill>
              <a:srgbClr val="7C97AA"/>
            </a:solidFill>
            <a:prstDash val="solid"/>
            <a:tailEnd type="triangle"/>
          </a:ln>
        </p:spPr>
      </p:sp>
      <p:sp>
        <p:nvSpPr>
          <p:cNvPr id="12" name="Shape 10"/>
          <p:cNvSpPr/>
          <p:nvPr/>
        </p:nvSpPr>
        <p:spPr>
          <a:xfrm>
            <a:off x="6766560" y="5577840"/>
            <a:ext cx="2377440" cy="0"/>
          </a:xfrm>
          <a:prstGeom prst="line">
            <a:avLst/>
          </a:prstGeom>
          <a:noFill/>
          <a:ln w="35560">
            <a:solidFill>
              <a:srgbClr val="6FDFDF"/>
            </a:solidFill>
            <a:prstDash val="solid"/>
            <a:tailEnd type="triangle"/>
          </a:ln>
        </p:spPr>
      </p:sp>
      <p:sp>
        <p:nvSpPr>
          <p:cNvPr id="13" name="Shape 11"/>
          <p:cNvSpPr/>
          <p:nvPr/>
        </p:nvSpPr>
        <p:spPr>
          <a:xfrm>
            <a:off x="6766560" y="5577840"/>
            <a:ext cx="2377440" cy="0"/>
          </a:xfrm>
          <a:prstGeom prst="line">
            <a:avLst/>
          </a:prstGeom>
          <a:noFill/>
          <a:ln w="35560">
            <a:solidFill>
              <a:srgbClr val="F2C744"/>
            </a:solidFill>
            <a:prstDash val="solid"/>
            <a:tailEnd type="triangle"/>
          </a:ln>
        </p:spPr>
      </p:sp>
      <p:sp>
        <p:nvSpPr>
          <p:cNvPr id="14" name="Shape 12"/>
          <p:cNvSpPr/>
          <p:nvPr/>
        </p:nvSpPr>
        <p:spPr>
          <a:xfrm>
            <a:off x="6766560" y="5577840"/>
            <a:ext cx="548640" cy="0"/>
          </a:xfrm>
          <a:prstGeom prst="line">
            <a:avLst/>
          </a:prstGeom>
          <a:noFill/>
          <a:ln w="35560">
            <a:solidFill>
              <a:srgbClr val="E06C6C"/>
            </a:solidFill>
            <a:prstDash val="solid"/>
            <a:tailEnd type="triangle"/>
          </a:ln>
        </p:spPr>
      </p:sp>
      <p:sp>
        <p:nvSpPr>
          <p:cNvPr id="15" name="Text 13"/>
          <p:cNvSpPr/>
          <p:nvPr/>
        </p:nvSpPr>
        <p:spPr>
          <a:xfrm>
            <a:off x="9052560" y="3063240"/>
            <a:ext cx="1280160" cy="274320"/>
          </a:xfrm>
          <a:prstGeom prst="rect">
            <a:avLst/>
          </a:prstGeom>
          <a:noFill/>
          <a:ln/>
        </p:spPr>
        <p:txBody>
          <a:bodyPr wrap="square" rtlCol="0" anchor="ctr"/>
          <a:lstStyle/>
          <a:p>
            <a:pPr marL="0" indent="0">
              <a:buNone/>
            </a:pPr>
            <a:r>
              <a:rPr lang="en-US" sz="1000" b="1" dirty="0">
                <a:solidFill>
                  <a:srgbClr val="6FDFDF"/>
                </a:solidFill>
                <a:latin typeface="Calibri" pitchFamily="34" charset="0"/>
                <a:ea typeface="Calibri" pitchFamily="34" charset="-122"/>
                <a:cs typeface="Calibri" pitchFamily="34" charset="-120"/>
              </a:rPr>
              <a:t>q (query)</a:t>
            </a:r>
            <a:endParaRPr lang="en-US" sz="1000" dirty="0"/>
          </a:p>
        </p:txBody>
      </p:sp>
      <p:sp>
        <p:nvSpPr>
          <p:cNvPr id="16" name="Shape 14"/>
          <p:cNvSpPr/>
          <p:nvPr/>
        </p:nvSpPr>
        <p:spPr>
          <a:xfrm>
            <a:off x="6400800" y="2359152"/>
            <a:ext cx="137160" cy="137160"/>
          </a:xfrm>
          <a:prstGeom prst="ellipse">
            <a:avLst/>
          </a:prstGeom>
          <a:solidFill>
            <a:srgbClr val="6FDFDF"/>
          </a:solidFill>
          <a:ln/>
        </p:spPr>
      </p:sp>
      <p:sp>
        <p:nvSpPr>
          <p:cNvPr id="17" name="Text 15"/>
          <p:cNvSpPr/>
          <p:nvPr/>
        </p:nvSpPr>
        <p:spPr>
          <a:xfrm>
            <a:off x="6629400" y="2258568"/>
            <a:ext cx="4846320" cy="320040"/>
          </a:xfrm>
          <a:prstGeom prst="rect">
            <a:avLst/>
          </a:prstGeom>
          <a:noFill/>
          <a:ln/>
        </p:spPr>
        <p:txBody>
          <a:bodyPr wrap="square" rtlCol="0" anchor="ctr"/>
          <a:lstStyle/>
          <a:p>
            <a:pPr marL="0" indent="0">
              <a:buNone/>
            </a:pPr>
            <a:r>
              <a:rPr lang="en-US" sz="1080" dirty="0">
                <a:solidFill>
                  <a:srgbClr val="E4EEF5"/>
                </a:solidFill>
                <a:latin typeface="Calibri" pitchFamily="34" charset="0"/>
                <a:ea typeface="Calibri" pitchFamily="34" charset="-122"/>
                <a:cs typeface="Calibri" pitchFamily="34" charset="-120"/>
              </a:rPr>
              <a:t>Small angle (θ ≈ 10°) — High similarity — very relevant</a:t>
            </a:r>
            <a:endParaRPr lang="en-US" sz="1080" dirty="0"/>
          </a:p>
        </p:txBody>
      </p:sp>
      <p:sp>
        <p:nvSpPr>
          <p:cNvPr id="18" name="Shape 16"/>
          <p:cNvSpPr/>
          <p:nvPr/>
        </p:nvSpPr>
        <p:spPr>
          <a:xfrm>
            <a:off x="6400800" y="2743200"/>
            <a:ext cx="137160" cy="137160"/>
          </a:xfrm>
          <a:prstGeom prst="ellipse">
            <a:avLst/>
          </a:prstGeom>
          <a:solidFill>
            <a:srgbClr val="F2C744"/>
          </a:solidFill>
          <a:ln/>
        </p:spPr>
      </p:sp>
      <p:sp>
        <p:nvSpPr>
          <p:cNvPr id="19" name="Text 17"/>
          <p:cNvSpPr/>
          <p:nvPr/>
        </p:nvSpPr>
        <p:spPr>
          <a:xfrm>
            <a:off x="6629400" y="2642616"/>
            <a:ext cx="4846320" cy="320040"/>
          </a:xfrm>
          <a:prstGeom prst="rect">
            <a:avLst/>
          </a:prstGeom>
          <a:noFill/>
          <a:ln/>
        </p:spPr>
        <p:txBody>
          <a:bodyPr wrap="square" rtlCol="0" anchor="ctr"/>
          <a:lstStyle/>
          <a:p>
            <a:pPr marL="0" indent="0">
              <a:buNone/>
            </a:pPr>
            <a:r>
              <a:rPr lang="en-US" sz="1080" dirty="0">
                <a:solidFill>
                  <a:srgbClr val="E4EEF5"/>
                </a:solidFill>
                <a:latin typeface="Calibri" pitchFamily="34" charset="0"/>
                <a:ea typeface="Calibri" pitchFamily="34" charset="-122"/>
                <a:cs typeface="Calibri" pitchFamily="34" charset="-120"/>
              </a:rPr>
              <a:t>Medium angle (θ ≈ 45°) — Moderate similarity</a:t>
            </a:r>
            <a:endParaRPr lang="en-US" sz="1080" dirty="0"/>
          </a:p>
        </p:txBody>
      </p:sp>
      <p:sp>
        <p:nvSpPr>
          <p:cNvPr id="20" name="Shape 18"/>
          <p:cNvSpPr/>
          <p:nvPr/>
        </p:nvSpPr>
        <p:spPr>
          <a:xfrm>
            <a:off x="6400800" y="3127248"/>
            <a:ext cx="137160" cy="137160"/>
          </a:xfrm>
          <a:prstGeom prst="ellipse">
            <a:avLst/>
          </a:prstGeom>
          <a:solidFill>
            <a:srgbClr val="E06C6C"/>
          </a:solidFill>
          <a:ln/>
        </p:spPr>
      </p:sp>
      <p:sp>
        <p:nvSpPr>
          <p:cNvPr id="21" name="Text 19"/>
          <p:cNvSpPr/>
          <p:nvPr/>
        </p:nvSpPr>
        <p:spPr>
          <a:xfrm>
            <a:off x="6629400" y="3026664"/>
            <a:ext cx="4846320" cy="320040"/>
          </a:xfrm>
          <a:prstGeom prst="rect">
            <a:avLst/>
          </a:prstGeom>
          <a:noFill/>
          <a:ln/>
        </p:spPr>
        <p:txBody>
          <a:bodyPr wrap="square" rtlCol="0" anchor="ctr"/>
          <a:lstStyle/>
          <a:p>
            <a:pPr marL="0" indent="0">
              <a:buNone/>
            </a:pPr>
            <a:r>
              <a:rPr lang="en-US" sz="1080" dirty="0">
                <a:solidFill>
                  <a:srgbClr val="E4EEF5"/>
                </a:solidFill>
                <a:latin typeface="Calibri" pitchFamily="34" charset="0"/>
                <a:ea typeface="Calibri" pitchFamily="34" charset="-122"/>
                <a:cs typeface="Calibri" pitchFamily="34" charset="-120"/>
              </a:rPr>
              <a:t>Large angle (θ ≈ 80°) — Low similarity — not relevant</a:t>
            </a:r>
            <a:endParaRPr lang="en-US" sz="1080" dirty="0"/>
          </a:p>
        </p:txBody>
      </p:sp>
      <p:sp>
        <p:nvSpPr>
          <p:cNvPr id="22" name="Text 2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10</a:t>
            </a:r>
            <a:endParaRPr lang="en-US" sz="1000" dirty="0"/>
          </a:p>
        </p:txBody>
      </p:sp>
      <p:sp>
        <p:nvSpPr>
          <p:cNvPr id="23" name="Text 2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TECHNICAL METHODOLOGY</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End-to-End VSM Workflow</a:t>
            </a:r>
            <a:endParaRPr lang="en-US" sz="3200" dirty="0"/>
          </a:p>
        </p:txBody>
      </p:sp>
      <p:sp>
        <p:nvSpPr>
          <p:cNvPr id="4" name="Shape 2"/>
          <p:cNvSpPr/>
          <p:nvPr/>
        </p:nvSpPr>
        <p:spPr>
          <a:xfrm>
            <a:off x="548640" y="1783080"/>
            <a:ext cx="1993392" cy="1417320"/>
          </a:xfrm>
          <a:prstGeom prst="roundRect">
            <a:avLst>
              <a:gd name="adj" fmla="val 5806"/>
            </a:avLst>
          </a:prstGeom>
          <a:solidFill>
            <a:srgbClr val="E8F1F8"/>
          </a:solidFill>
          <a:ln/>
          <a:effectLst>
            <a:outerShdw blurRad="101600" dist="25400" dir="5400000" algn="bl" rotWithShape="0">
              <a:srgbClr val="1B2B3A">
                <a:alpha val="10000"/>
              </a:srgbClr>
            </a:outerShdw>
          </a:effectLst>
        </p:spPr>
      </p:sp>
      <p:sp>
        <p:nvSpPr>
          <p:cNvPr id="5" name="Shape 3"/>
          <p:cNvSpPr/>
          <p:nvPr/>
        </p:nvSpPr>
        <p:spPr>
          <a:xfrm>
            <a:off x="1271016" y="1920240"/>
            <a:ext cx="548640" cy="548640"/>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1402690" y="2051914"/>
            <a:ext cx="285293" cy="285293"/>
          </a:xfrm>
          <a:prstGeom prst="rect">
            <a:avLst/>
          </a:prstGeom>
        </p:spPr>
      </p:pic>
      <p:sp>
        <p:nvSpPr>
          <p:cNvPr id="7" name="Text 4"/>
          <p:cNvSpPr/>
          <p:nvPr/>
        </p:nvSpPr>
        <p:spPr>
          <a:xfrm>
            <a:off x="640080" y="256032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Document Collection</a:t>
            </a:r>
            <a:endParaRPr lang="en-US" sz="1050" dirty="0"/>
          </a:p>
        </p:txBody>
      </p:sp>
      <p:sp>
        <p:nvSpPr>
          <p:cNvPr id="8" name="Text 5"/>
          <p:cNvSpPr/>
          <p:nvPr/>
        </p:nvSpPr>
        <p:spPr>
          <a:xfrm>
            <a:off x="621792" y="182880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1</a:t>
            </a:r>
            <a:endParaRPr lang="en-US" sz="1000" dirty="0"/>
          </a:p>
        </p:txBody>
      </p:sp>
      <p:sp>
        <p:nvSpPr>
          <p:cNvPr id="9" name="Shape 6"/>
          <p:cNvSpPr/>
          <p:nvPr/>
        </p:nvSpPr>
        <p:spPr>
          <a:xfrm>
            <a:off x="2679192" y="1783080"/>
            <a:ext cx="1993392" cy="1417320"/>
          </a:xfrm>
          <a:prstGeom prst="roundRect">
            <a:avLst>
              <a:gd name="adj" fmla="val 5806"/>
            </a:avLst>
          </a:prstGeom>
          <a:solidFill>
            <a:srgbClr val="E8F1F8"/>
          </a:solidFill>
          <a:ln/>
          <a:effectLst>
            <a:outerShdw blurRad="101600" dist="25400" dir="5400000" algn="bl" rotWithShape="0">
              <a:srgbClr val="1B2B3A">
                <a:alpha val="10000"/>
              </a:srgbClr>
            </a:outerShdw>
          </a:effectLst>
        </p:spPr>
      </p:sp>
      <p:sp>
        <p:nvSpPr>
          <p:cNvPr id="10" name="Shape 7"/>
          <p:cNvSpPr/>
          <p:nvPr/>
        </p:nvSpPr>
        <p:spPr>
          <a:xfrm>
            <a:off x="3401568" y="1920240"/>
            <a:ext cx="548640" cy="548640"/>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3533242" y="2051914"/>
            <a:ext cx="285293" cy="285293"/>
          </a:xfrm>
          <a:prstGeom prst="rect">
            <a:avLst/>
          </a:prstGeom>
        </p:spPr>
      </p:pic>
      <p:sp>
        <p:nvSpPr>
          <p:cNvPr id="12" name="Text 8"/>
          <p:cNvSpPr/>
          <p:nvPr/>
        </p:nvSpPr>
        <p:spPr>
          <a:xfrm>
            <a:off x="2770632" y="256032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Text Preprocessing</a:t>
            </a:r>
            <a:endParaRPr lang="en-US" sz="1050" dirty="0"/>
          </a:p>
        </p:txBody>
      </p:sp>
      <p:sp>
        <p:nvSpPr>
          <p:cNvPr id="13" name="Text 9"/>
          <p:cNvSpPr/>
          <p:nvPr/>
        </p:nvSpPr>
        <p:spPr>
          <a:xfrm>
            <a:off x="2752344" y="182880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2</a:t>
            </a:r>
            <a:endParaRPr lang="en-US" sz="1000" dirty="0"/>
          </a:p>
        </p:txBody>
      </p:sp>
      <p:sp>
        <p:nvSpPr>
          <p:cNvPr id="14" name="Shape 10"/>
          <p:cNvSpPr/>
          <p:nvPr/>
        </p:nvSpPr>
        <p:spPr>
          <a:xfrm>
            <a:off x="4809744" y="1783080"/>
            <a:ext cx="1993392" cy="1417320"/>
          </a:xfrm>
          <a:prstGeom prst="roundRect">
            <a:avLst>
              <a:gd name="adj" fmla="val 5806"/>
            </a:avLst>
          </a:prstGeom>
          <a:solidFill>
            <a:srgbClr val="E8F1F8"/>
          </a:solidFill>
          <a:ln/>
          <a:effectLst>
            <a:outerShdw blurRad="101600" dist="25400" dir="5400000" algn="bl" rotWithShape="0">
              <a:srgbClr val="1B2B3A">
                <a:alpha val="10000"/>
              </a:srgbClr>
            </a:outerShdw>
          </a:effectLst>
        </p:spPr>
      </p:sp>
      <p:sp>
        <p:nvSpPr>
          <p:cNvPr id="15" name="Shape 11"/>
          <p:cNvSpPr/>
          <p:nvPr/>
        </p:nvSpPr>
        <p:spPr>
          <a:xfrm>
            <a:off x="5532120" y="1920240"/>
            <a:ext cx="548640" cy="548640"/>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5663794" y="2051914"/>
            <a:ext cx="285293" cy="285293"/>
          </a:xfrm>
          <a:prstGeom prst="rect">
            <a:avLst/>
          </a:prstGeom>
        </p:spPr>
      </p:pic>
      <p:sp>
        <p:nvSpPr>
          <p:cNvPr id="17" name="Text 12"/>
          <p:cNvSpPr/>
          <p:nvPr/>
        </p:nvSpPr>
        <p:spPr>
          <a:xfrm>
            <a:off x="4901184" y="256032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Tokenization</a:t>
            </a:r>
            <a:endParaRPr lang="en-US" sz="1050" dirty="0"/>
          </a:p>
        </p:txBody>
      </p:sp>
      <p:sp>
        <p:nvSpPr>
          <p:cNvPr id="18" name="Text 13"/>
          <p:cNvSpPr/>
          <p:nvPr/>
        </p:nvSpPr>
        <p:spPr>
          <a:xfrm>
            <a:off x="4882896" y="182880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3</a:t>
            </a:r>
            <a:endParaRPr lang="en-US" sz="1000" dirty="0"/>
          </a:p>
        </p:txBody>
      </p:sp>
      <p:sp>
        <p:nvSpPr>
          <p:cNvPr id="19" name="Shape 14"/>
          <p:cNvSpPr/>
          <p:nvPr/>
        </p:nvSpPr>
        <p:spPr>
          <a:xfrm>
            <a:off x="6940296" y="1783080"/>
            <a:ext cx="1993392" cy="1417320"/>
          </a:xfrm>
          <a:prstGeom prst="roundRect">
            <a:avLst>
              <a:gd name="adj" fmla="val 5806"/>
            </a:avLst>
          </a:prstGeom>
          <a:solidFill>
            <a:srgbClr val="E8F1F8"/>
          </a:solidFill>
          <a:ln/>
          <a:effectLst>
            <a:outerShdw blurRad="101600" dist="25400" dir="5400000" algn="bl" rotWithShape="0">
              <a:srgbClr val="1B2B3A">
                <a:alpha val="10000"/>
              </a:srgbClr>
            </a:outerShdw>
          </a:effectLst>
        </p:spPr>
      </p:sp>
      <p:sp>
        <p:nvSpPr>
          <p:cNvPr id="20" name="Shape 15"/>
          <p:cNvSpPr/>
          <p:nvPr/>
        </p:nvSpPr>
        <p:spPr>
          <a:xfrm>
            <a:off x="7662672" y="1920240"/>
            <a:ext cx="548640" cy="548640"/>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7794346" y="2051914"/>
            <a:ext cx="285293" cy="285293"/>
          </a:xfrm>
          <a:prstGeom prst="rect">
            <a:avLst/>
          </a:prstGeom>
        </p:spPr>
      </p:pic>
      <p:sp>
        <p:nvSpPr>
          <p:cNvPr id="22" name="Text 16"/>
          <p:cNvSpPr/>
          <p:nvPr/>
        </p:nvSpPr>
        <p:spPr>
          <a:xfrm>
            <a:off x="7031736" y="256032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Stopword Removal</a:t>
            </a:r>
            <a:endParaRPr lang="en-US" sz="1050" dirty="0"/>
          </a:p>
        </p:txBody>
      </p:sp>
      <p:sp>
        <p:nvSpPr>
          <p:cNvPr id="23" name="Text 17"/>
          <p:cNvSpPr/>
          <p:nvPr/>
        </p:nvSpPr>
        <p:spPr>
          <a:xfrm>
            <a:off x="7013448" y="182880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4</a:t>
            </a:r>
            <a:endParaRPr lang="en-US" sz="1000" dirty="0"/>
          </a:p>
        </p:txBody>
      </p:sp>
      <p:sp>
        <p:nvSpPr>
          <p:cNvPr id="24" name="Shape 18"/>
          <p:cNvSpPr/>
          <p:nvPr/>
        </p:nvSpPr>
        <p:spPr>
          <a:xfrm>
            <a:off x="9070848" y="1783080"/>
            <a:ext cx="1993392" cy="1417320"/>
          </a:xfrm>
          <a:prstGeom prst="roundRect">
            <a:avLst>
              <a:gd name="adj" fmla="val 5806"/>
            </a:avLst>
          </a:prstGeom>
          <a:solidFill>
            <a:srgbClr val="E8F1F8"/>
          </a:solidFill>
          <a:ln/>
          <a:effectLst>
            <a:outerShdw blurRad="101600" dist="25400" dir="5400000" algn="bl" rotWithShape="0">
              <a:srgbClr val="1B2B3A">
                <a:alpha val="10000"/>
              </a:srgbClr>
            </a:outerShdw>
          </a:effectLst>
        </p:spPr>
      </p:sp>
      <p:sp>
        <p:nvSpPr>
          <p:cNvPr id="25" name="Shape 19"/>
          <p:cNvSpPr/>
          <p:nvPr/>
        </p:nvSpPr>
        <p:spPr>
          <a:xfrm>
            <a:off x="9793224" y="1920240"/>
            <a:ext cx="548640" cy="548640"/>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9924898" y="2051914"/>
            <a:ext cx="285293" cy="285293"/>
          </a:xfrm>
          <a:prstGeom prst="rect">
            <a:avLst/>
          </a:prstGeom>
        </p:spPr>
      </p:pic>
      <p:sp>
        <p:nvSpPr>
          <p:cNvPr id="27" name="Text 20"/>
          <p:cNvSpPr/>
          <p:nvPr/>
        </p:nvSpPr>
        <p:spPr>
          <a:xfrm>
            <a:off x="9162288" y="256032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Term Frequency (TF)</a:t>
            </a:r>
            <a:endParaRPr lang="en-US" sz="1050" dirty="0"/>
          </a:p>
        </p:txBody>
      </p:sp>
      <p:sp>
        <p:nvSpPr>
          <p:cNvPr id="28" name="Text 21"/>
          <p:cNvSpPr/>
          <p:nvPr/>
        </p:nvSpPr>
        <p:spPr>
          <a:xfrm>
            <a:off x="9144000" y="182880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5</a:t>
            </a:r>
            <a:endParaRPr lang="en-US" sz="1000" dirty="0"/>
          </a:p>
        </p:txBody>
      </p:sp>
      <p:sp>
        <p:nvSpPr>
          <p:cNvPr id="29" name="Shape 22"/>
          <p:cNvSpPr/>
          <p:nvPr/>
        </p:nvSpPr>
        <p:spPr>
          <a:xfrm>
            <a:off x="9070848" y="3794760"/>
            <a:ext cx="1993392" cy="1417320"/>
          </a:xfrm>
          <a:prstGeom prst="roundRect">
            <a:avLst>
              <a:gd name="adj" fmla="val 5806"/>
            </a:avLst>
          </a:prstGeom>
          <a:solidFill>
            <a:srgbClr val="E8F4F0"/>
          </a:solidFill>
          <a:ln/>
          <a:effectLst>
            <a:outerShdw blurRad="101600" dist="25400" dir="5400000" algn="bl" rotWithShape="0">
              <a:srgbClr val="1B2B3A">
                <a:alpha val="10000"/>
              </a:srgbClr>
            </a:outerShdw>
          </a:effectLst>
        </p:spPr>
      </p:sp>
      <p:sp>
        <p:nvSpPr>
          <p:cNvPr id="30" name="Shape 23"/>
          <p:cNvSpPr/>
          <p:nvPr/>
        </p:nvSpPr>
        <p:spPr>
          <a:xfrm>
            <a:off x="9793224" y="3931920"/>
            <a:ext cx="548640" cy="548640"/>
          </a:xfrm>
          <a:prstGeom prst="ellipse">
            <a:avLst/>
          </a:prstGeom>
          <a:solidFill>
            <a:srgbClr val="2E8B6E"/>
          </a:solidFill>
          <a:ln/>
        </p:spPr>
      </p:sp>
      <p:pic>
        <p:nvPicPr>
          <p:cNvPr id="31" name="Image 5" descr="preencoded.png"/>
          <p:cNvPicPr>
            <a:picLocks noChangeAspect="1"/>
          </p:cNvPicPr>
          <p:nvPr/>
        </p:nvPicPr>
        <p:blipFill>
          <a:blip r:embed="rId8"/>
          <a:stretch>
            <a:fillRect/>
          </a:stretch>
        </p:blipFill>
        <p:spPr>
          <a:xfrm>
            <a:off x="9924898" y="4063594"/>
            <a:ext cx="285293" cy="285293"/>
          </a:xfrm>
          <a:prstGeom prst="rect">
            <a:avLst/>
          </a:prstGeom>
        </p:spPr>
      </p:pic>
      <p:sp>
        <p:nvSpPr>
          <p:cNvPr id="32" name="Text 24"/>
          <p:cNvSpPr/>
          <p:nvPr/>
        </p:nvSpPr>
        <p:spPr>
          <a:xfrm>
            <a:off x="9162288" y="457200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IDF Calculation</a:t>
            </a:r>
            <a:endParaRPr lang="en-US" sz="1050" dirty="0"/>
          </a:p>
        </p:txBody>
      </p:sp>
      <p:sp>
        <p:nvSpPr>
          <p:cNvPr id="33" name="Text 25"/>
          <p:cNvSpPr/>
          <p:nvPr/>
        </p:nvSpPr>
        <p:spPr>
          <a:xfrm>
            <a:off x="9144000" y="384048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6</a:t>
            </a:r>
            <a:endParaRPr lang="en-US" sz="1000" dirty="0"/>
          </a:p>
        </p:txBody>
      </p:sp>
      <p:sp>
        <p:nvSpPr>
          <p:cNvPr id="34" name="Shape 26"/>
          <p:cNvSpPr/>
          <p:nvPr/>
        </p:nvSpPr>
        <p:spPr>
          <a:xfrm>
            <a:off x="6940296" y="3794760"/>
            <a:ext cx="1993392" cy="1417320"/>
          </a:xfrm>
          <a:prstGeom prst="roundRect">
            <a:avLst>
              <a:gd name="adj" fmla="val 5806"/>
            </a:avLst>
          </a:prstGeom>
          <a:solidFill>
            <a:srgbClr val="E8F4F0"/>
          </a:solidFill>
          <a:ln/>
          <a:effectLst>
            <a:outerShdw blurRad="101600" dist="25400" dir="5400000" algn="bl" rotWithShape="0">
              <a:srgbClr val="1B2B3A">
                <a:alpha val="10000"/>
              </a:srgbClr>
            </a:outerShdw>
          </a:effectLst>
        </p:spPr>
      </p:sp>
      <p:sp>
        <p:nvSpPr>
          <p:cNvPr id="35" name="Shape 27"/>
          <p:cNvSpPr/>
          <p:nvPr/>
        </p:nvSpPr>
        <p:spPr>
          <a:xfrm>
            <a:off x="7662672" y="3931920"/>
            <a:ext cx="548640" cy="548640"/>
          </a:xfrm>
          <a:prstGeom prst="ellipse">
            <a:avLst/>
          </a:prstGeom>
          <a:solidFill>
            <a:srgbClr val="2E8B6E"/>
          </a:solidFill>
          <a:ln/>
        </p:spPr>
      </p:sp>
      <p:pic>
        <p:nvPicPr>
          <p:cNvPr id="36" name="Image 6" descr="preencoded.png"/>
          <p:cNvPicPr>
            <a:picLocks noChangeAspect="1"/>
          </p:cNvPicPr>
          <p:nvPr/>
        </p:nvPicPr>
        <p:blipFill>
          <a:blip r:embed="rId9"/>
          <a:stretch>
            <a:fillRect/>
          </a:stretch>
        </p:blipFill>
        <p:spPr>
          <a:xfrm>
            <a:off x="7794346" y="4063594"/>
            <a:ext cx="285293" cy="285293"/>
          </a:xfrm>
          <a:prstGeom prst="rect">
            <a:avLst/>
          </a:prstGeom>
        </p:spPr>
      </p:pic>
      <p:sp>
        <p:nvSpPr>
          <p:cNvPr id="37" name="Text 28"/>
          <p:cNvSpPr/>
          <p:nvPr/>
        </p:nvSpPr>
        <p:spPr>
          <a:xfrm>
            <a:off x="7031736" y="457200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TF-IDF Matrix</a:t>
            </a:r>
            <a:endParaRPr lang="en-US" sz="1050" dirty="0"/>
          </a:p>
        </p:txBody>
      </p:sp>
      <p:sp>
        <p:nvSpPr>
          <p:cNvPr id="38" name="Text 29"/>
          <p:cNvSpPr/>
          <p:nvPr/>
        </p:nvSpPr>
        <p:spPr>
          <a:xfrm>
            <a:off x="7013448" y="384048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7</a:t>
            </a:r>
            <a:endParaRPr lang="en-US" sz="1000" dirty="0"/>
          </a:p>
        </p:txBody>
      </p:sp>
      <p:sp>
        <p:nvSpPr>
          <p:cNvPr id="39" name="Shape 30"/>
          <p:cNvSpPr/>
          <p:nvPr/>
        </p:nvSpPr>
        <p:spPr>
          <a:xfrm>
            <a:off x="4809744" y="3794760"/>
            <a:ext cx="1993392" cy="1417320"/>
          </a:xfrm>
          <a:prstGeom prst="roundRect">
            <a:avLst>
              <a:gd name="adj" fmla="val 5806"/>
            </a:avLst>
          </a:prstGeom>
          <a:solidFill>
            <a:srgbClr val="E8F4F0"/>
          </a:solidFill>
          <a:ln/>
          <a:effectLst>
            <a:outerShdw blurRad="101600" dist="25400" dir="5400000" algn="bl" rotWithShape="0">
              <a:srgbClr val="1B2B3A">
                <a:alpha val="10000"/>
              </a:srgbClr>
            </a:outerShdw>
          </a:effectLst>
        </p:spPr>
      </p:sp>
      <p:sp>
        <p:nvSpPr>
          <p:cNvPr id="40" name="Shape 31"/>
          <p:cNvSpPr/>
          <p:nvPr/>
        </p:nvSpPr>
        <p:spPr>
          <a:xfrm>
            <a:off x="5532120" y="3931920"/>
            <a:ext cx="548640" cy="548640"/>
          </a:xfrm>
          <a:prstGeom prst="ellipse">
            <a:avLst/>
          </a:prstGeom>
          <a:solidFill>
            <a:srgbClr val="2E8B6E"/>
          </a:solidFill>
          <a:ln/>
        </p:spPr>
      </p:sp>
      <p:pic>
        <p:nvPicPr>
          <p:cNvPr id="41" name="Image 7" descr="preencoded.png"/>
          <p:cNvPicPr>
            <a:picLocks noChangeAspect="1"/>
          </p:cNvPicPr>
          <p:nvPr/>
        </p:nvPicPr>
        <p:blipFill>
          <a:blip r:embed="rId10"/>
          <a:stretch>
            <a:fillRect/>
          </a:stretch>
        </p:blipFill>
        <p:spPr>
          <a:xfrm>
            <a:off x="5663794" y="4063594"/>
            <a:ext cx="285293" cy="285293"/>
          </a:xfrm>
          <a:prstGeom prst="rect">
            <a:avLst/>
          </a:prstGeom>
        </p:spPr>
      </p:pic>
      <p:sp>
        <p:nvSpPr>
          <p:cNvPr id="42" name="Text 32"/>
          <p:cNvSpPr/>
          <p:nvPr/>
        </p:nvSpPr>
        <p:spPr>
          <a:xfrm>
            <a:off x="4901184" y="457200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Vector Representation</a:t>
            </a:r>
            <a:endParaRPr lang="en-US" sz="1050" dirty="0"/>
          </a:p>
        </p:txBody>
      </p:sp>
      <p:sp>
        <p:nvSpPr>
          <p:cNvPr id="43" name="Text 33"/>
          <p:cNvSpPr/>
          <p:nvPr/>
        </p:nvSpPr>
        <p:spPr>
          <a:xfrm>
            <a:off x="4882896" y="384048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8</a:t>
            </a:r>
            <a:endParaRPr lang="en-US" sz="1000" dirty="0"/>
          </a:p>
        </p:txBody>
      </p:sp>
      <p:sp>
        <p:nvSpPr>
          <p:cNvPr id="44" name="Shape 34"/>
          <p:cNvSpPr/>
          <p:nvPr/>
        </p:nvSpPr>
        <p:spPr>
          <a:xfrm>
            <a:off x="2679192" y="3794760"/>
            <a:ext cx="1993392" cy="1417320"/>
          </a:xfrm>
          <a:prstGeom prst="roundRect">
            <a:avLst>
              <a:gd name="adj" fmla="val 5806"/>
            </a:avLst>
          </a:prstGeom>
          <a:solidFill>
            <a:srgbClr val="E8F4F0"/>
          </a:solidFill>
          <a:ln/>
          <a:effectLst>
            <a:outerShdw blurRad="101600" dist="25400" dir="5400000" algn="bl" rotWithShape="0">
              <a:srgbClr val="1B2B3A">
                <a:alpha val="10000"/>
              </a:srgbClr>
            </a:outerShdw>
          </a:effectLst>
        </p:spPr>
      </p:sp>
      <p:sp>
        <p:nvSpPr>
          <p:cNvPr id="45" name="Shape 35"/>
          <p:cNvSpPr/>
          <p:nvPr/>
        </p:nvSpPr>
        <p:spPr>
          <a:xfrm>
            <a:off x="3401568" y="3931920"/>
            <a:ext cx="548640" cy="548640"/>
          </a:xfrm>
          <a:prstGeom prst="ellipse">
            <a:avLst/>
          </a:prstGeom>
          <a:solidFill>
            <a:srgbClr val="2E8B6E"/>
          </a:solidFill>
          <a:ln/>
        </p:spPr>
      </p:sp>
      <p:pic>
        <p:nvPicPr>
          <p:cNvPr id="46" name="Image 8" descr="preencoded.png"/>
          <p:cNvPicPr>
            <a:picLocks noChangeAspect="1"/>
          </p:cNvPicPr>
          <p:nvPr/>
        </p:nvPicPr>
        <p:blipFill>
          <a:blip r:embed="rId11"/>
          <a:stretch>
            <a:fillRect/>
          </a:stretch>
        </p:blipFill>
        <p:spPr>
          <a:xfrm>
            <a:off x="3533242" y="4063594"/>
            <a:ext cx="285293" cy="285293"/>
          </a:xfrm>
          <a:prstGeom prst="rect">
            <a:avLst/>
          </a:prstGeom>
        </p:spPr>
      </p:pic>
      <p:sp>
        <p:nvSpPr>
          <p:cNvPr id="47" name="Text 36"/>
          <p:cNvSpPr/>
          <p:nvPr/>
        </p:nvSpPr>
        <p:spPr>
          <a:xfrm>
            <a:off x="2770632" y="457200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Cosine Similarity</a:t>
            </a:r>
            <a:endParaRPr lang="en-US" sz="1050" dirty="0"/>
          </a:p>
        </p:txBody>
      </p:sp>
      <p:sp>
        <p:nvSpPr>
          <p:cNvPr id="48" name="Text 37"/>
          <p:cNvSpPr/>
          <p:nvPr/>
        </p:nvSpPr>
        <p:spPr>
          <a:xfrm>
            <a:off x="2752344" y="384048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9</a:t>
            </a:r>
            <a:endParaRPr lang="en-US" sz="1000" dirty="0"/>
          </a:p>
        </p:txBody>
      </p:sp>
      <p:sp>
        <p:nvSpPr>
          <p:cNvPr id="49" name="Shape 38"/>
          <p:cNvSpPr/>
          <p:nvPr/>
        </p:nvSpPr>
        <p:spPr>
          <a:xfrm>
            <a:off x="548640" y="3794760"/>
            <a:ext cx="1993392" cy="1417320"/>
          </a:xfrm>
          <a:prstGeom prst="roundRect">
            <a:avLst>
              <a:gd name="adj" fmla="val 5806"/>
            </a:avLst>
          </a:prstGeom>
          <a:solidFill>
            <a:srgbClr val="E8F4F0"/>
          </a:solidFill>
          <a:ln/>
          <a:effectLst>
            <a:outerShdw blurRad="101600" dist="25400" dir="5400000" algn="bl" rotWithShape="0">
              <a:srgbClr val="1B2B3A">
                <a:alpha val="10000"/>
              </a:srgbClr>
            </a:outerShdw>
          </a:effectLst>
        </p:spPr>
      </p:sp>
      <p:sp>
        <p:nvSpPr>
          <p:cNvPr id="50" name="Shape 39"/>
          <p:cNvSpPr/>
          <p:nvPr/>
        </p:nvSpPr>
        <p:spPr>
          <a:xfrm>
            <a:off x="1271016" y="3931920"/>
            <a:ext cx="548640" cy="548640"/>
          </a:xfrm>
          <a:prstGeom prst="ellipse">
            <a:avLst/>
          </a:prstGeom>
          <a:solidFill>
            <a:srgbClr val="2E8B6E"/>
          </a:solidFill>
          <a:ln/>
        </p:spPr>
      </p:sp>
      <p:pic>
        <p:nvPicPr>
          <p:cNvPr id="51" name="Image 9" descr="preencoded.png"/>
          <p:cNvPicPr>
            <a:picLocks noChangeAspect="1"/>
          </p:cNvPicPr>
          <p:nvPr/>
        </p:nvPicPr>
        <p:blipFill>
          <a:blip r:embed="rId12"/>
          <a:stretch>
            <a:fillRect/>
          </a:stretch>
        </p:blipFill>
        <p:spPr>
          <a:xfrm>
            <a:off x="1402690" y="4063594"/>
            <a:ext cx="285293" cy="285293"/>
          </a:xfrm>
          <a:prstGeom prst="rect">
            <a:avLst/>
          </a:prstGeom>
        </p:spPr>
      </p:pic>
      <p:sp>
        <p:nvSpPr>
          <p:cNvPr id="52" name="Text 40"/>
          <p:cNvSpPr/>
          <p:nvPr/>
        </p:nvSpPr>
        <p:spPr>
          <a:xfrm>
            <a:off x="640080" y="4572000"/>
            <a:ext cx="1810512" cy="548640"/>
          </a:xfrm>
          <a:prstGeom prst="rect">
            <a:avLst/>
          </a:prstGeom>
          <a:noFill/>
          <a:ln/>
        </p:spPr>
        <p:txBody>
          <a:bodyPr wrap="square" rtlCol="0" anchor="ctr"/>
          <a:lstStyle/>
          <a:p>
            <a:pPr marL="0" indent="0" algn="ctr">
              <a:buNone/>
            </a:pPr>
            <a:r>
              <a:rPr lang="en-US" sz="1050" b="1" dirty="0">
                <a:solidFill>
                  <a:srgbClr val="1B2B3A"/>
                </a:solidFill>
                <a:latin typeface="Calibri" pitchFamily="34" charset="0"/>
                <a:ea typeface="Calibri" pitchFamily="34" charset="-122"/>
                <a:cs typeface="Calibri" pitchFamily="34" charset="-120"/>
              </a:rPr>
              <a:t>Rank Documents</a:t>
            </a:r>
            <a:endParaRPr lang="en-US" sz="1050" dirty="0"/>
          </a:p>
        </p:txBody>
      </p:sp>
      <p:sp>
        <p:nvSpPr>
          <p:cNvPr id="53" name="Text 41"/>
          <p:cNvSpPr/>
          <p:nvPr/>
        </p:nvSpPr>
        <p:spPr>
          <a:xfrm>
            <a:off x="621792" y="3840480"/>
            <a:ext cx="320040" cy="274320"/>
          </a:xfrm>
          <a:prstGeom prst="rect">
            <a:avLst/>
          </a:prstGeom>
          <a:noFill/>
          <a:ln/>
        </p:spPr>
        <p:txBody>
          <a:bodyPr wrap="square" rtlCol="0" anchor="ctr"/>
          <a:lstStyle/>
          <a:p>
            <a:pPr marL="0" indent="0">
              <a:buNone/>
            </a:pPr>
            <a:r>
              <a:rPr lang="en-US" sz="1000" b="1" dirty="0">
                <a:solidFill>
                  <a:srgbClr val="5C7385"/>
                </a:solidFill>
                <a:latin typeface="Calibri" pitchFamily="34" charset="0"/>
                <a:ea typeface="Calibri" pitchFamily="34" charset="-122"/>
                <a:cs typeface="Calibri" pitchFamily="34" charset="-120"/>
              </a:rPr>
              <a:t>10</a:t>
            </a:r>
            <a:endParaRPr lang="en-US" sz="1000" dirty="0"/>
          </a:p>
        </p:txBody>
      </p:sp>
      <p:pic>
        <p:nvPicPr>
          <p:cNvPr id="54" name="Image 10" descr="preencoded.png"/>
          <p:cNvPicPr>
            <a:picLocks noChangeAspect="1"/>
          </p:cNvPicPr>
          <p:nvPr/>
        </p:nvPicPr>
        <p:blipFill>
          <a:blip r:embed="rId13"/>
          <a:stretch>
            <a:fillRect/>
          </a:stretch>
        </p:blipFill>
        <p:spPr>
          <a:xfrm>
            <a:off x="2546604" y="2372868"/>
            <a:ext cx="128016" cy="237744"/>
          </a:xfrm>
          <a:prstGeom prst="rect">
            <a:avLst/>
          </a:prstGeom>
        </p:spPr>
      </p:pic>
      <p:pic>
        <p:nvPicPr>
          <p:cNvPr id="55" name="Image 11" descr="preencoded.png"/>
          <p:cNvPicPr>
            <a:picLocks noChangeAspect="1"/>
          </p:cNvPicPr>
          <p:nvPr/>
        </p:nvPicPr>
        <p:blipFill>
          <a:blip r:embed="rId13"/>
          <a:stretch>
            <a:fillRect/>
          </a:stretch>
        </p:blipFill>
        <p:spPr>
          <a:xfrm>
            <a:off x="4677156" y="2372868"/>
            <a:ext cx="128016" cy="237744"/>
          </a:xfrm>
          <a:prstGeom prst="rect">
            <a:avLst/>
          </a:prstGeom>
        </p:spPr>
      </p:pic>
      <p:pic>
        <p:nvPicPr>
          <p:cNvPr id="56" name="Image 12" descr="preencoded.png"/>
          <p:cNvPicPr>
            <a:picLocks noChangeAspect="1"/>
          </p:cNvPicPr>
          <p:nvPr/>
        </p:nvPicPr>
        <p:blipFill>
          <a:blip r:embed="rId13"/>
          <a:stretch>
            <a:fillRect/>
          </a:stretch>
        </p:blipFill>
        <p:spPr>
          <a:xfrm>
            <a:off x="6807708" y="2372868"/>
            <a:ext cx="128016" cy="237744"/>
          </a:xfrm>
          <a:prstGeom prst="rect">
            <a:avLst/>
          </a:prstGeom>
        </p:spPr>
      </p:pic>
      <p:pic>
        <p:nvPicPr>
          <p:cNvPr id="57" name="Image 13" descr="preencoded.png"/>
          <p:cNvPicPr>
            <a:picLocks noChangeAspect="1"/>
          </p:cNvPicPr>
          <p:nvPr/>
        </p:nvPicPr>
        <p:blipFill>
          <a:blip r:embed="rId13"/>
          <a:stretch>
            <a:fillRect/>
          </a:stretch>
        </p:blipFill>
        <p:spPr>
          <a:xfrm>
            <a:off x="8938260" y="2372868"/>
            <a:ext cx="128016" cy="237744"/>
          </a:xfrm>
          <a:prstGeom prst="rect">
            <a:avLst/>
          </a:prstGeom>
        </p:spPr>
      </p:pic>
      <p:pic>
        <p:nvPicPr>
          <p:cNvPr id="58" name="Image 14" descr="preencoded.png"/>
          <p:cNvPicPr>
            <a:picLocks noChangeAspect="1"/>
          </p:cNvPicPr>
          <p:nvPr/>
        </p:nvPicPr>
        <p:blipFill>
          <a:blip r:embed="rId13"/>
          <a:stretch>
            <a:fillRect/>
          </a:stretch>
        </p:blipFill>
        <p:spPr>
          <a:xfrm rot="5400000">
            <a:off x="10003536" y="3227832"/>
            <a:ext cx="128016" cy="237744"/>
          </a:xfrm>
          <a:prstGeom prst="rect">
            <a:avLst/>
          </a:prstGeom>
        </p:spPr>
      </p:pic>
      <p:pic>
        <p:nvPicPr>
          <p:cNvPr id="59" name="Image 15" descr="preencoded.png"/>
          <p:cNvPicPr>
            <a:picLocks noChangeAspect="1"/>
          </p:cNvPicPr>
          <p:nvPr/>
        </p:nvPicPr>
        <p:blipFill>
          <a:blip r:embed="rId13"/>
          <a:stretch>
            <a:fillRect/>
          </a:stretch>
        </p:blipFill>
        <p:spPr>
          <a:xfrm flipH="1">
            <a:off x="2546604" y="4384548"/>
            <a:ext cx="128016" cy="237744"/>
          </a:xfrm>
          <a:prstGeom prst="rect">
            <a:avLst/>
          </a:prstGeom>
        </p:spPr>
      </p:pic>
      <p:pic>
        <p:nvPicPr>
          <p:cNvPr id="60" name="Image 16" descr="preencoded.png"/>
          <p:cNvPicPr>
            <a:picLocks noChangeAspect="1"/>
          </p:cNvPicPr>
          <p:nvPr/>
        </p:nvPicPr>
        <p:blipFill>
          <a:blip r:embed="rId13"/>
          <a:stretch>
            <a:fillRect/>
          </a:stretch>
        </p:blipFill>
        <p:spPr>
          <a:xfrm flipH="1">
            <a:off x="4677156" y="4384548"/>
            <a:ext cx="128016" cy="237744"/>
          </a:xfrm>
          <a:prstGeom prst="rect">
            <a:avLst/>
          </a:prstGeom>
        </p:spPr>
      </p:pic>
      <p:pic>
        <p:nvPicPr>
          <p:cNvPr id="61" name="Image 17" descr="preencoded.png"/>
          <p:cNvPicPr>
            <a:picLocks noChangeAspect="1"/>
          </p:cNvPicPr>
          <p:nvPr/>
        </p:nvPicPr>
        <p:blipFill>
          <a:blip r:embed="rId13"/>
          <a:stretch>
            <a:fillRect/>
          </a:stretch>
        </p:blipFill>
        <p:spPr>
          <a:xfrm flipH="1">
            <a:off x="6807708" y="4384548"/>
            <a:ext cx="128016" cy="237744"/>
          </a:xfrm>
          <a:prstGeom prst="rect">
            <a:avLst/>
          </a:prstGeom>
        </p:spPr>
      </p:pic>
      <p:pic>
        <p:nvPicPr>
          <p:cNvPr id="62" name="Image 18" descr="preencoded.png"/>
          <p:cNvPicPr>
            <a:picLocks noChangeAspect="1"/>
          </p:cNvPicPr>
          <p:nvPr/>
        </p:nvPicPr>
        <p:blipFill>
          <a:blip r:embed="rId13"/>
          <a:stretch>
            <a:fillRect/>
          </a:stretch>
        </p:blipFill>
        <p:spPr>
          <a:xfrm flipH="1">
            <a:off x="8938260" y="4384548"/>
            <a:ext cx="128016" cy="237744"/>
          </a:xfrm>
          <a:prstGeom prst="rect">
            <a:avLst/>
          </a:prstGeom>
        </p:spPr>
      </p:pic>
      <p:sp>
        <p:nvSpPr>
          <p:cNvPr id="63" name="Text 42"/>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11</a:t>
            </a:r>
            <a:endParaRPr lang="en-US" sz="1000" dirty="0"/>
          </a:p>
        </p:txBody>
      </p:sp>
      <p:sp>
        <p:nvSpPr>
          <p:cNvPr id="64" name="Text 43"/>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EXPERIMENTAL SETUP</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A Small Worked Experiment</a:t>
            </a:r>
            <a:endParaRPr lang="en-US" sz="3200" dirty="0"/>
          </a:p>
        </p:txBody>
      </p:sp>
      <p:sp>
        <p:nvSpPr>
          <p:cNvPr id="4" name="Text 2"/>
          <p:cNvSpPr/>
          <p:nvPr/>
        </p:nvSpPr>
        <p:spPr>
          <a:xfrm>
            <a:off x="548640" y="1554480"/>
            <a:ext cx="10972800" cy="320040"/>
          </a:xfrm>
          <a:prstGeom prst="rect">
            <a:avLst/>
          </a:prstGeom>
          <a:noFill/>
          <a:ln/>
        </p:spPr>
        <p:txBody>
          <a:bodyPr wrap="square"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DATASET — 4 short documents  ·  QUERY: "data mining techniques"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394960" cy="1737360"/>
        </p:xfrm>
        <a:graphic>
          <a:graphicData uri="http://schemas.openxmlformats.org/drawingml/2006/table">
            <a:tbl>
              <a:tblPr/>
              <a:tblGrid>
                <a:gridCol w="9144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Doc</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B2545"/>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Content Summary</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47472">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D1</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Introduction to data mining techniques and applications</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1"/>
                  </a:ext>
                </a:extLst>
              </a:tr>
              <a:tr h="347472">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D2</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Machine learning algorithms for classification</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347472">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D3</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Data mining and statistical analysis methods</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3"/>
                  </a:ext>
                </a:extLst>
              </a:tr>
              <a:tr h="347472">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D4</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tc>
                  <a:txBody>
                    <a:bodyPr/>
                    <a:lstStyle/>
                    <a:p>
                      <a:pPr marL="0" indent="0">
                        <a:buNone/>
                      </a:pPr>
                      <a:r>
                        <a:rPr lang="en-US" sz="1150" dirty="0">
                          <a:solidFill>
                            <a:srgbClr val="1B2B3A"/>
                          </a:solidFill>
                          <a:latin typeface="Calibri" pitchFamily="34" charset="0"/>
                          <a:ea typeface="Calibri" pitchFamily="34" charset="-122"/>
                          <a:cs typeface="Calibri" pitchFamily="34" charset="-120"/>
                        </a:rPr>
                        <a:t>Web development using modern frameworks</a:t>
                      </a:r>
                      <a:endParaRPr lang="en-US" sz="1150" dirty="0">
                        <a:latin typeface="Calibri" charset="0"/>
                        <a:ea typeface="Calibri" charset="0"/>
                        <a:cs typeface="Calibri" charset="0"/>
                      </a:endParaRPr>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3886200"/>
            <a:ext cx="5486400" cy="27432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PIPELINE APPLIED TO EACH DOCUMENT</a:t>
            </a:r>
            <a:endParaRPr lang="en-US" sz="1150" dirty="0"/>
          </a:p>
        </p:txBody>
      </p:sp>
      <p:sp>
        <p:nvSpPr>
          <p:cNvPr id="7" name="Text 4"/>
          <p:cNvSpPr/>
          <p:nvPr/>
        </p:nvSpPr>
        <p:spPr>
          <a:xfrm>
            <a:off x="548640" y="4206240"/>
            <a:ext cx="5394960" cy="2103120"/>
          </a:xfrm>
          <a:prstGeom prst="rect">
            <a:avLst/>
          </a:prstGeom>
          <a:noFill/>
          <a:ln/>
        </p:spPr>
        <p:txBody>
          <a:bodyPr wrap="square" rtlCol="0" anchor="ctr"/>
          <a:lstStyle/>
          <a:p>
            <a:pPr marL="342900" indent="-342900">
              <a:lnSpc>
                <a:spcPct val="115000"/>
              </a:lnSpc>
              <a:spcAft>
                <a:spcPts val="500"/>
              </a:spcAft>
              <a:buSzPct val="100000"/>
              <a:buChar char="•"/>
            </a:pPr>
            <a:r>
              <a:rPr lang="en-US" sz="1200" dirty="0">
                <a:solidFill>
                  <a:srgbClr val="1B2B3A"/>
                </a:solidFill>
                <a:latin typeface="Calibri" pitchFamily="34" charset="0"/>
                <a:ea typeface="Calibri" pitchFamily="34" charset="-122"/>
                <a:cs typeface="Calibri" pitchFamily="34" charset="-120"/>
              </a:rPr>
              <a:t>Preprocessing: lowercase, remove punctuation</a:t>
            </a:r>
            <a:endParaRPr lang="en-US" sz="1200" dirty="0"/>
          </a:p>
          <a:p>
            <a:pPr marL="342900" indent="-342900">
              <a:lnSpc>
                <a:spcPct val="115000"/>
              </a:lnSpc>
              <a:spcAft>
                <a:spcPts val="500"/>
              </a:spcAft>
              <a:buSzPct val="100000"/>
              <a:buChar char="•"/>
            </a:pPr>
            <a:r>
              <a:rPr lang="en-US" sz="1200" dirty="0">
                <a:solidFill>
                  <a:srgbClr val="1B2B3A"/>
                </a:solidFill>
                <a:latin typeface="Calibri" pitchFamily="34" charset="0"/>
                <a:ea typeface="Calibri" pitchFamily="34" charset="-122"/>
                <a:cs typeface="Calibri" pitchFamily="34" charset="-120"/>
              </a:rPr>
              <a:t>Compute TF for each term per document</a:t>
            </a:r>
            <a:endParaRPr lang="en-US" sz="1200" dirty="0"/>
          </a:p>
          <a:p>
            <a:pPr marL="342900" indent="-342900">
              <a:lnSpc>
                <a:spcPct val="115000"/>
              </a:lnSpc>
              <a:spcAft>
                <a:spcPts val="500"/>
              </a:spcAft>
              <a:buSzPct val="100000"/>
              <a:buChar char="•"/>
            </a:pPr>
            <a:r>
              <a:rPr lang="en-US" sz="1200" dirty="0">
                <a:solidFill>
                  <a:srgbClr val="1B2B3A"/>
                </a:solidFill>
                <a:latin typeface="Calibri" pitchFamily="34" charset="0"/>
                <a:ea typeface="Calibri" pitchFamily="34" charset="-122"/>
                <a:cs typeface="Calibri" pitchFamily="34" charset="-120"/>
              </a:rPr>
              <a:t>Compute IDF for each term across all 4 documents</a:t>
            </a:r>
            <a:endParaRPr lang="en-US" sz="1200" dirty="0"/>
          </a:p>
          <a:p>
            <a:pPr marL="342900" indent="-342900">
              <a:lnSpc>
                <a:spcPct val="115000"/>
              </a:lnSpc>
              <a:buSzPct val="100000"/>
              <a:buChar char="•"/>
            </a:pPr>
            <a:r>
              <a:rPr lang="en-US" sz="1200" dirty="0">
                <a:solidFill>
                  <a:srgbClr val="1B2B3A"/>
                </a:solidFill>
                <a:latin typeface="Calibri" pitchFamily="34" charset="0"/>
                <a:ea typeface="Calibri" pitchFamily="34" charset="-122"/>
                <a:cs typeface="Calibri" pitchFamily="34" charset="-120"/>
              </a:rPr>
              <a:t>Build TF-IDF vectors, then compute cosine similarity with the query vector</a:t>
            </a:r>
            <a:endParaRPr lang="en-US" sz="1200" dirty="0"/>
          </a:p>
        </p:txBody>
      </p:sp>
      <p:sp>
        <p:nvSpPr>
          <p:cNvPr id="8" name="Shape 5"/>
          <p:cNvSpPr/>
          <p:nvPr/>
        </p:nvSpPr>
        <p:spPr>
          <a:xfrm>
            <a:off x="6217920" y="1965960"/>
            <a:ext cx="5394960" cy="4343400"/>
          </a:xfrm>
          <a:prstGeom prst="roundRect">
            <a:avLst>
              <a:gd name="adj" fmla="val 2105"/>
            </a:avLst>
          </a:prstGeom>
          <a:solidFill>
            <a:srgbClr val="E8F1F8"/>
          </a:solidFill>
          <a:ln/>
          <a:effectLst>
            <a:outerShdw blurRad="101600" dist="25400" dir="5400000" algn="bl" rotWithShape="0">
              <a:srgbClr val="1B2B3A">
                <a:alpha val="10000"/>
              </a:srgbClr>
            </a:outerShdw>
          </a:effectLst>
        </p:spPr>
      </p:sp>
      <p:sp>
        <p:nvSpPr>
          <p:cNvPr id="9" name="Text 6"/>
          <p:cNvSpPr/>
          <p:nvPr/>
        </p:nvSpPr>
        <p:spPr>
          <a:xfrm>
            <a:off x="6492240" y="2148840"/>
            <a:ext cx="493776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QUERY–DOCUMENT SIMILARITY SCORES</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492240" y="2560320"/>
          <a:ext cx="4937760" cy="1737360"/>
        </p:xfrm>
        <a:graphic>
          <a:graphicData uri="http://schemas.openxmlformats.org/drawingml/2006/table">
            <a:tbl>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Doc</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Cosine Similarity</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Rank</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47472">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D1</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0.78</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D3</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0.65</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D2</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0.21</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D4</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0.02</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50" dirty="0">
                          <a:solidFill>
                            <a:srgbClr val="1B2B3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Text 7"/>
          <p:cNvSpPr/>
          <p:nvPr/>
        </p:nvSpPr>
        <p:spPr>
          <a:xfrm>
            <a:off x="6492240" y="4526280"/>
            <a:ext cx="4937760" cy="73152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D1 ranks highest since it closely matches all three query terms; D4 ranks lowest as it shares no relevant vocabulary.</a:t>
            </a:r>
            <a:endParaRPr lang="en-US" sz="1150" dirty="0"/>
          </a:p>
        </p:txBody>
      </p:sp>
      <p:sp>
        <p:nvSpPr>
          <p:cNvPr id="12" name="Shape 8"/>
          <p:cNvSpPr/>
          <p:nvPr/>
        </p:nvSpPr>
        <p:spPr>
          <a:xfrm>
            <a:off x="6492240" y="5394960"/>
            <a:ext cx="457200" cy="457200"/>
          </a:xfrm>
          <a:prstGeom prst="ellipse">
            <a:avLst/>
          </a:prstGeom>
          <a:solidFill>
            <a:srgbClr val="FFFFFF"/>
          </a:solidFill>
          <a:ln/>
        </p:spPr>
      </p:sp>
      <p:pic>
        <p:nvPicPr>
          <p:cNvPr id="5" name="Image 0" descr="preencoded.png"/>
          <p:cNvPicPr>
            <a:picLocks noChangeAspect="1"/>
          </p:cNvPicPr>
          <p:nvPr/>
        </p:nvPicPr>
        <p:blipFill>
          <a:blip r:embed="rId3"/>
          <a:stretch>
            <a:fillRect/>
          </a:stretch>
        </p:blipFill>
        <p:spPr>
          <a:xfrm>
            <a:off x="6601968" y="5504688"/>
            <a:ext cx="237744" cy="237744"/>
          </a:xfrm>
          <a:prstGeom prst="rect">
            <a:avLst/>
          </a:prstGeom>
        </p:spPr>
      </p:pic>
      <p:sp>
        <p:nvSpPr>
          <p:cNvPr id="14" name="Text 9"/>
          <p:cNvSpPr/>
          <p:nvPr/>
        </p:nvSpPr>
        <p:spPr>
          <a:xfrm>
            <a:off x="7086600" y="5486400"/>
            <a:ext cx="4114800" cy="36576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Final retrieved (top) document: D1</a:t>
            </a:r>
            <a:endParaRPr lang="en-US" sz="1200" dirty="0"/>
          </a:p>
        </p:txBody>
      </p:sp>
      <p:sp>
        <p:nvSpPr>
          <p:cNvPr id="15" name="Text 1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12</a:t>
            </a:r>
            <a:endParaRPr lang="en-US" sz="1000" dirty="0"/>
          </a:p>
        </p:txBody>
      </p:sp>
      <p:sp>
        <p:nvSpPr>
          <p:cNvPr id="16" name="Text 1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 &amp; ANALYSIS</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Ranked Results and Ablation</a:t>
            </a:r>
            <a:endParaRPr lang="en-US" sz="3200" dirty="0"/>
          </a:p>
        </p:txBody>
      </p:sp>
      <p:graphicFrame>
        <p:nvGraphicFramePr>
          <p:cNvPr id="4" name="Chart 0"/>
          <p:cNvGraphicFramePr/>
          <p:nvPr/>
        </p:nvGraphicFramePr>
        <p:xfrm>
          <a:off x="548640" y="1645920"/>
          <a:ext cx="53949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4572000"/>
            <a:ext cx="5394960" cy="27432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QUALITATIVE ANALYSIS</a:t>
            </a:r>
            <a:endParaRPr lang="en-US" sz="1200" dirty="0"/>
          </a:p>
        </p:txBody>
      </p:sp>
      <p:sp>
        <p:nvSpPr>
          <p:cNvPr id="6" name="Text 3"/>
          <p:cNvSpPr/>
          <p:nvPr/>
        </p:nvSpPr>
        <p:spPr>
          <a:xfrm>
            <a:off x="548640" y="4892040"/>
            <a:ext cx="5394960" cy="1005840"/>
          </a:xfrm>
          <a:prstGeom prst="rect">
            <a:avLst/>
          </a:prstGeom>
          <a:noFill/>
          <a:ln/>
        </p:spPr>
        <p:txBody>
          <a:bodyPr wrap="square" rtlCol="0" anchor="ctr"/>
          <a:lstStyle/>
          <a:p>
            <a:pPr marL="0" indent="0">
              <a:buNone/>
            </a:pPr>
            <a:r>
              <a:rPr lang="en-US" sz="1150" dirty="0">
                <a:solidFill>
                  <a:srgbClr val="1B2B3A"/>
                </a:solidFill>
                <a:latin typeface="Calibri" pitchFamily="34" charset="0"/>
                <a:ea typeface="Calibri" pitchFamily="34" charset="-122"/>
                <a:cs typeface="Calibri" pitchFamily="34" charset="-120"/>
              </a:rPr>
              <a:t>D1 and D3 both discuss data mining directly, so both score highly; D2 shares only a loose ML connection; D4 is topically unrelated and scores near zero.</a:t>
            </a:r>
            <a:endParaRPr lang="en-US" sz="1150" dirty="0"/>
          </a:p>
        </p:txBody>
      </p:sp>
      <p:sp>
        <p:nvSpPr>
          <p:cNvPr id="7" name="Shape 4"/>
          <p:cNvSpPr/>
          <p:nvPr/>
        </p:nvSpPr>
        <p:spPr>
          <a:xfrm>
            <a:off x="6217920" y="1645920"/>
            <a:ext cx="5394960" cy="4343400"/>
          </a:xfrm>
          <a:prstGeom prst="roundRect">
            <a:avLst>
              <a:gd name="adj" fmla="val 2105"/>
            </a:avLst>
          </a:prstGeom>
          <a:solidFill>
            <a:srgbClr val="E8F1F8"/>
          </a:solidFill>
          <a:ln/>
          <a:effectLst>
            <a:outerShdw blurRad="101600" dist="25400" dir="5400000" algn="bl" rotWithShape="0">
              <a:srgbClr val="1B2B3A">
                <a:alpha val="10000"/>
              </a:srgbClr>
            </a:outerShdw>
          </a:effectLst>
        </p:spPr>
      </p:sp>
      <p:sp>
        <p:nvSpPr>
          <p:cNvPr id="8" name="Text 5"/>
          <p:cNvSpPr/>
          <p:nvPr/>
        </p:nvSpPr>
        <p:spPr>
          <a:xfrm>
            <a:off x="6492240" y="1828800"/>
            <a:ext cx="4937760" cy="320040"/>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ABLATION — WITH vs. WITHOUT IDF WEIGHTING</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2240280"/>
          <a:ext cx="4937760" cy="1737360"/>
        </p:xfrm>
        <a:graphic>
          <a:graphicData uri="http://schemas.openxmlformats.org/drawingml/2006/table">
            <a:tbl>
              <a:tblPr/>
              <a:tblGrid>
                <a:gridCol w="13716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Doc</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TF only</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TF-IDF</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0.49</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0.65</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D4</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B3A"/>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anchor="ctr">
                    <a:lnL w="9525" cap="flat" cmpd="sng" algn="ctr">
                      <a:solidFill>
                        <a:srgbClr val="CFE1EC"/>
                      </a:solidFill>
                      <a:prstDash val="solid"/>
                      <a:round/>
                      <a:headEnd type="none" w="med" len="med"/>
                      <a:tailEnd type="none" w="med" len="med"/>
                    </a:lnL>
                    <a:lnR w="9525" cap="flat" cmpd="sng" algn="ctr">
                      <a:solidFill>
                        <a:srgbClr val="CFE1EC"/>
                      </a:solidFill>
                      <a:prstDash val="solid"/>
                      <a:round/>
                      <a:headEnd type="none" w="med" len="med"/>
                      <a:tailEnd type="none" w="med" len="med"/>
                    </a:lnR>
                    <a:lnT w="9525" cap="flat" cmpd="sng" algn="ctr">
                      <a:solidFill>
                        <a:srgbClr val="CFE1EC"/>
                      </a:solidFill>
                      <a:prstDash val="solid"/>
                      <a:round/>
                      <a:headEnd type="none" w="med" len="med"/>
                      <a:tailEnd type="none" w="med" len="med"/>
                    </a:lnT>
                    <a:lnB w="9525" cap="flat" cmpd="sng" algn="ctr">
                      <a:solidFill>
                        <a:srgbClr val="CF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6"/>
          <p:cNvSpPr/>
          <p:nvPr/>
        </p:nvSpPr>
        <p:spPr>
          <a:xfrm>
            <a:off x="6492240" y="4160520"/>
            <a:ext cx="4937760" cy="914400"/>
          </a:xfrm>
          <a:prstGeom prst="rect">
            <a:avLst/>
          </a:prstGeom>
          <a:noFill/>
          <a:ln/>
        </p:spPr>
        <p:txBody>
          <a:bodyPr wrap="square" rtlCol="0" anchor="ctr"/>
          <a:lstStyle/>
          <a:p>
            <a:pPr marL="0" indent="0">
              <a:buNone/>
            </a:pPr>
            <a:r>
              <a:rPr lang="en-US" sz="1150" i="1" dirty="0">
                <a:solidFill>
                  <a:srgbClr val="5C7385"/>
                </a:solidFill>
                <a:latin typeface="Calibri" pitchFamily="34" charset="0"/>
                <a:ea typeface="Calibri" pitchFamily="34" charset="-122"/>
                <a:cs typeface="Calibri" pitchFamily="34" charset="-120"/>
              </a:rPr>
              <a:t>Without IDF, scores are closer together and less discriminative — common terms inflate less-relevant documents like D2. IDF sharpens the gap between truly relevant and less relevant results.</a:t>
            </a:r>
            <a:endParaRPr lang="en-US" sz="1150" dirty="0"/>
          </a:p>
        </p:txBody>
      </p:sp>
      <p:sp>
        <p:nvSpPr>
          <p:cNvPr id="11" name="Shape 7"/>
          <p:cNvSpPr/>
          <p:nvPr/>
        </p:nvSpPr>
        <p:spPr>
          <a:xfrm>
            <a:off x="6492240" y="5257800"/>
            <a:ext cx="457200" cy="457200"/>
          </a:xfrm>
          <a:prstGeom prst="ellipse">
            <a:avLst/>
          </a:prstGeom>
          <a:solidFill>
            <a:srgbClr val="C0662A"/>
          </a:solidFill>
          <a:ln/>
        </p:spPr>
      </p:sp>
      <p:pic>
        <p:nvPicPr>
          <p:cNvPr id="12" name="Image 0" descr="preencoded.png"/>
          <p:cNvPicPr>
            <a:picLocks noChangeAspect="1"/>
          </p:cNvPicPr>
          <p:nvPr/>
        </p:nvPicPr>
        <p:blipFill>
          <a:blip r:embed="rId4"/>
          <a:stretch>
            <a:fillRect/>
          </a:stretch>
        </p:blipFill>
        <p:spPr>
          <a:xfrm>
            <a:off x="6601968" y="5367528"/>
            <a:ext cx="237744" cy="237744"/>
          </a:xfrm>
          <a:prstGeom prst="rect">
            <a:avLst/>
          </a:prstGeom>
        </p:spPr>
      </p:pic>
      <p:sp>
        <p:nvSpPr>
          <p:cNvPr id="13" name="Text 8"/>
          <p:cNvSpPr/>
          <p:nvPr/>
        </p:nvSpPr>
        <p:spPr>
          <a:xfrm>
            <a:off x="7086600" y="5257800"/>
            <a:ext cx="4069080" cy="685800"/>
          </a:xfrm>
          <a:prstGeom prst="rect">
            <a:avLst/>
          </a:prstGeom>
          <a:noFill/>
          <a:ln/>
        </p:spPr>
        <p:txBody>
          <a:bodyPr wrap="square" rtlCol="0" anchor="ctr"/>
          <a:lstStyle/>
          <a:p>
            <a:pPr marL="0" indent="0">
              <a:buNone/>
            </a:pPr>
            <a:r>
              <a:rPr lang="en-US" sz="1050" dirty="0">
                <a:solidFill>
                  <a:srgbClr val="8A5A24"/>
                </a:solidFill>
                <a:latin typeface="Calibri" pitchFamily="34" charset="0"/>
                <a:ea typeface="Calibri" pitchFamily="34" charset="-122"/>
                <a:cs typeface="Calibri" pitchFamily="34" charset="-120"/>
              </a:rPr>
              <a:t>Error analysis: purely lexical overlap can still miss synonyms (e.g. "data mining" vs. "knowledge discovery").</a:t>
            </a:r>
            <a:endParaRPr lang="en-US" sz="1050" dirty="0"/>
          </a:p>
        </p:txBody>
      </p:sp>
      <p:sp>
        <p:nvSpPr>
          <p:cNvPr id="9" name="Text 9"/>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13</a:t>
            </a:r>
            <a:endParaRPr lang="en-US" sz="1000" dirty="0"/>
          </a:p>
        </p:txBody>
      </p:sp>
      <p:sp>
        <p:nvSpPr>
          <p:cNvPr id="15" name="Text 10"/>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Advantages &amp; Limitations</a:t>
            </a:r>
            <a:endParaRPr lang="en-US" sz="3200" dirty="0"/>
          </a:p>
        </p:txBody>
      </p:sp>
      <p:sp>
        <p:nvSpPr>
          <p:cNvPr id="4" name="Shape 2"/>
          <p:cNvSpPr/>
          <p:nvPr/>
        </p:nvSpPr>
        <p:spPr>
          <a:xfrm>
            <a:off x="548640" y="1691640"/>
            <a:ext cx="5394960" cy="4206240"/>
          </a:xfrm>
          <a:prstGeom prst="roundRect">
            <a:avLst>
              <a:gd name="adj" fmla="val 2174"/>
            </a:avLst>
          </a:prstGeom>
          <a:solidFill>
            <a:srgbClr val="EAF6F0"/>
          </a:solidFill>
          <a:ln/>
          <a:effectLst>
            <a:outerShdw blurRad="101600" dist="25400" dir="5400000" algn="bl" rotWithShape="0">
              <a:srgbClr val="1B2B3A">
                <a:alpha val="10000"/>
              </a:srgbClr>
            </a:outerShdw>
          </a:effectLst>
        </p:spPr>
      </p:sp>
      <p:sp>
        <p:nvSpPr>
          <p:cNvPr id="5" name="Shape 3"/>
          <p:cNvSpPr/>
          <p:nvPr/>
        </p:nvSpPr>
        <p:spPr>
          <a:xfrm>
            <a:off x="822960" y="1920240"/>
            <a:ext cx="548640" cy="548640"/>
          </a:xfrm>
          <a:prstGeom prst="ellipse">
            <a:avLst/>
          </a:prstGeom>
          <a:solidFill>
            <a:srgbClr val="2E8B6E"/>
          </a:solidFill>
          <a:ln/>
        </p:spPr>
      </p:sp>
      <p:pic>
        <p:nvPicPr>
          <p:cNvPr id="6" name="Image 0" descr="preencoded.png"/>
          <p:cNvPicPr>
            <a:picLocks noChangeAspect="1"/>
          </p:cNvPicPr>
          <p:nvPr/>
        </p:nvPicPr>
        <p:blipFill>
          <a:blip r:embed="rId3"/>
          <a:stretch>
            <a:fillRect/>
          </a:stretch>
        </p:blipFill>
        <p:spPr>
          <a:xfrm>
            <a:off x="954634" y="2051914"/>
            <a:ext cx="285293" cy="285293"/>
          </a:xfrm>
          <a:prstGeom prst="rect">
            <a:avLst/>
          </a:prstGeom>
        </p:spPr>
      </p:pic>
      <p:sp>
        <p:nvSpPr>
          <p:cNvPr id="7" name="Text 4"/>
          <p:cNvSpPr/>
          <p:nvPr/>
        </p:nvSpPr>
        <p:spPr>
          <a:xfrm>
            <a:off x="1508760" y="1965960"/>
            <a:ext cx="4206240" cy="457200"/>
          </a:xfrm>
          <a:prstGeom prst="rect">
            <a:avLst/>
          </a:prstGeom>
          <a:noFill/>
          <a:ln/>
        </p:spPr>
        <p:txBody>
          <a:bodyPr wrap="square" rtlCol="0" anchor="ctr"/>
          <a:lstStyle/>
          <a:p>
            <a:pPr marL="0" indent="0">
              <a:buNone/>
            </a:pPr>
            <a:r>
              <a:rPr lang="en-US" sz="1800" b="1" dirty="0">
                <a:solidFill>
                  <a:srgbClr val="1E5E48"/>
                </a:solidFill>
                <a:latin typeface="Cambria" pitchFamily="34" charset="0"/>
                <a:ea typeface="Cambria" pitchFamily="34" charset="-122"/>
                <a:cs typeface="Cambria" pitchFamily="34" charset="-120"/>
              </a:rPr>
              <a:t>Advantages</a:t>
            </a:r>
            <a:endParaRPr lang="en-US" sz="1800" dirty="0"/>
          </a:p>
        </p:txBody>
      </p:sp>
      <p:sp>
        <p:nvSpPr>
          <p:cNvPr id="8" name="Text 5"/>
          <p:cNvSpPr/>
          <p:nvPr/>
        </p:nvSpPr>
        <p:spPr>
          <a:xfrm>
            <a:off x="822960" y="2606040"/>
            <a:ext cx="4846320" cy="2194560"/>
          </a:xfrm>
          <a:prstGeom prst="rect">
            <a:avLst/>
          </a:prstGeom>
          <a:noFill/>
          <a:ln/>
        </p:spPr>
        <p:txBody>
          <a:bodyPr wrap="square" rtlCol="0" anchor="ctr"/>
          <a:lstStyle/>
          <a:p>
            <a:pPr marL="342900" indent="-342900">
              <a:spcAft>
                <a:spcPts val="800"/>
              </a:spcAft>
              <a:buSzPct val="100000"/>
              <a:buChar char="•"/>
            </a:pPr>
            <a:r>
              <a:rPr lang="en-US" sz="1300" dirty="0">
                <a:solidFill>
                  <a:srgbClr val="1E5E48"/>
                </a:solidFill>
                <a:latin typeface="Calibri" pitchFamily="34" charset="0"/>
                <a:ea typeface="Calibri" pitchFamily="34" charset="-122"/>
                <a:cs typeface="Calibri" pitchFamily="34" charset="-120"/>
              </a:rPr>
              <a:t>Easy to implement and understand</a:t>
            </a:r>
            <a:endParaRPr lang="en-US" sz="1300" dirty="0"/>
          </a:p>
          <a:p>
            <a:pPr marL="342900" indent="-342900">
              <a:spcAft>
                <a:spcPts val="800"/>
              </a:spcAft>
              <a:buSzPct val="100000"/>
              <a:buChar char="•"/>
            </a:pPr>
            <a:r>
              <a:rPr lang="en-US" sz="1300" dirty="0">
                <a:solidFill>
                  <a:srgbClr val="1E5E48"/>
                </a:solidFill>
                <a:latin typeface="Calibri" pitchFamily="34" charset="0"/>
                <a:ea typeface="Calibri" pitchFamily="34" charset="-122"/>
                <a:cs typeface="Calibri" pitchFamily="34" charset="-120"/>
              </a:rPr>
              <a:t>Fast retrieval on indexed collections</a:t>
            </a:r>
            <a:endParaRPr lang="en-US" sz="1300" dirty="0"/>
          </a:p>
          <a:p>
            <a:pPr marL="342900" indent="-342900">
              <a:spcAft>
                <a:spcPts val="800"/>
              </a:spcAft>
              <a:buSzPct val="100000"/>
              <a:buChar char="•"/>
            </a:pPr>
            <a:r>
              <a:rPr lang="en-US" sz="1300" dirty="0">
                <a:solidFill>
                  <a:srgbClr val="1E5E48"/>
                </a:solidFill>
                <a:latin typeface="Calibri" pitchFamily="34" charset="0"/>
                <a:ea typeface="Calibri" pitchFamily="34" charset="-122"/>
                <a:cs typeface="Calibri" pitchFamily="34" charset="-120"/>
              </a:rPr>
              <a:t>Effective, graded ranking of results</a:t>
            </a:r>
            <a:endParaRPr lang="en-US" sz="1300" dirty="0"/>
          </a:p>
          <a:p>
            <a:pPr marL="342900" indent="-342900">
              <a:buSzPct val="100000"/>
              <a:buChar char="•"/>
            </a:pPr>
            <a:r>
              <a:rPr lang="en-US" sz="1300" dirty="0">
                <a:solidFill>
                  <a:srgbClr val="1E5E48"/>
                </a:solidFill>
                <a:latin typeface="Calibri" pitchFamily="34" charset="0"/>
                <a:ea typeface="Calibri" pitchFamily="34" charset="-122"/>
                <a:cs typeface="Calibri" pitchFamily="34" charset="-120"/>
              </a:rPr>
              <a:t>Widely used — foundation of many search systems</a:t>
            </a:r>
            <a:endParaRPr lang="en-US" sz="1300" dirty="0"/>
          </a:p>
        </p:txBody>
      </p:sp>
      <p:sp>
        <p:nvSpPr>
          <p:cNvPr id="9" name="Shape 6"/>
          <p:cNvSpPr/>
          <p:nvPr/>
        </p:nvSpPr>
        <p:spPr>
          <a:xfrm>
            <a:off x="6217920" y="1691640"/>
            <a:ext cx="5394960" cy="4206240"/>
          </a:xfrm>
          <a:prstGeom prst="roundRect">
            <a:avLst>
              <a:gd name="adj" fmla="val 2174"/>
            </a:avLst>
          </a:prstGeom>
          <a:solidFill>
            <a:srgbClr val="FCEEEE"/>
          </a:solidFill>
          <a:ln/>
          <a:effectLst>
            <a:outerShdw blurRad="101600" dist="25400" dir="5400000" algn="bl" rotWithShape="0">
              <a:srgbClr val="1B2B3A">
                <a:alpha val="10000"/>
              </a:srgbClr>
            </a:outerShdw>
          </a:effectLst>
        </p:spPr>
      </p:sp>
      <p:sp>
        <p:nvSpPr>
          <p:cNvPr id="10" name="Shape 7"/>
          <p:cNvSpPr/>
          <p:nvPr/>
        </p:nvSpPr>
        <p:spPr>
          <a:xfrm>
            <a:off x="6492240" y="1920240"/>
            <a:ext cx="548640" cy="548640"/>
          </a:xfrm>
          <a:prstGeom prst="ellipse">
            <a:avLst/>
          </a:prstGeom>
          <a:solidFill>
            <a:srgbClr val="B23A3A"/>
          </a:solidFill>
          <a:ln/>
        </p:spPr>
      </p:sp>
      <p:pic>
        <p:nvPicPr>
          <p:cNvPr id="11" name="Image 1" descr="preencoded.png"/>
          <p:cNvPicPr>
            <a:picLocks noChangeAspect="1"/>
          </p:cNvPicPr>
          <p:nvPr/>
        </p:nvPicPr>
        <p:blipFill>
          <a:blip r:embed="rId4"/>
          <a:stretch>
            <a:fillRect/>
          </a:stretch>
        </p:blipFill>
        <p:spPr>
          <a:xfrm>
            <a:off x="6623914" y="2051914"/>
            <a:ext cx="285293" cy="285293"/>
          </a:xfrm>
          <a:prstGeom prst="rect">
            <a:avLst/>
          </a:prstGeom>
        </p:spPr>
      </p:pic>
      <p:sp>
        <p:nvSpPr>
          <p:cNvPr id="12" name="Text 8"/>
          <p:cNvSpPr/>
          <p:nvPr/>
        </p:nvSpPr>
        <p:spPr>
          <a:xfrm>
            <a:off x="7178040" y="1965960"/>
            <a:ext cx="4206240" cy="457200"/>
          </a:xfrm>
          <a:prstGeom prst="rect">
            <a:avLst/>
          </a:prstGeom>
          <a:noFill/>
          <a:ln/>
        </p:spPr>
        <p:txBody>
          <a:bodyPr wrap="square" rtlCol="0" anchor="ctr"/>
          <a:lstStyle/>
          <a:p>
            <a:pPr marL="0" indent="0">
              <a:buNone/>
            </a:pPr>
            <a:r>
              <a:rPr lang="en-US" sz="1800" b="1" dirty="0">
                <a:solidFill>
                  <a:srgbClr val="8A2C2C"/>
                </a:solidFill>
                <a:latin typeface="Cambria" pitchFamily="34" charset="0"/>
                <a:ea typeface="Cambria" pitchFamily="34" charset="-122"/>
                <a:cs typeface="Cambria" pitchFamily="34" charset="-120"/>
              </a:rPr>
              <a:t>Limitations</a:t>
            </a:r>
            <a:endParaRPr lang="en-US" sz="1800" dirty="0"/>
          </a:p>
        </p:txBody>
      </p:sp>
      <p:sp>
        <p:nvSpPr>
          <p:cNvPr id="13" name="Text 9"/>
          <p:cNvSpPr/>
          <p:nvPr/>
        </p:nvSpPr>
        <p:spPr>
          <a:xfrm>
            <a:off x="6492240" y="2606040"/>
            <a:ext cx="4846320"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8A2C2C"/>
                </a:solidFill>
                <a:latin typeface="Calibri" pitchFamily="34" charset="0"/>
                <a:ea typeface="Calibri" pitchFamily="34" charset="-122"/>
                <a:cs typeface="Calibri" pitchFamily="34" charset="-120"/>
              </a:rPr>
              <a:t>Ignores word order in text</a:t>
            </a:r>
            <a:endParaRPr lang="en-US" sz="1300" dirty="0"/>
          </a:p>
          <a:p>
            <a:pPr marL="342900" indent="-342900">
              <a:spcAft>
                <a:spcPts val="800"/>
              </a:spcAft>
              <a:buSzPct val="100000"/>
              <a:buChar char="•"/>
            </a:pPr>
            <a:r>
              <a:rPr lang="en-US" sz="1300" dirty="0">
                <a:solidFill>
                  <a:srgbClr val="8A2C2C"/>
                </a:solidFill>
                <a:latin typeface="Calibri" pitchFamily="34" charset="0"/>
                <a:ea typeface="Calibri" pitchFamily="34" charset="-122"/>
                <a:cs typeface="Calibri" pitchFamily="34" charset="-120"/>
              </a:rPr>
              <a:t>Ignores semantics — cannot detect synonyms</a:t>
            </a:r>
            <a:endParaRPr lang="en-US" sz="1300" dirty="0"/>
          </a:p>
          <a:p>
            <a:pPr marL="342900" indent="-342900">
              <a:buSzPct val="100000"/>
              <a:buChar char="•"/>
            </a:pPr>
            <a:r>
              <a:rPr lang="en-US" sz="1300" dirty="0">
                <a:solidFill>
                  <a:srgbClr val="8A2C2C"/>
                </a:solidFill>
                <a:latin typeface="Calibri" pitchFamily="34" charset="0"/>
                <a:ea typeface="Calibri" pitchFamily="34" charset="-122"/>
                <a:cs typeface="Calibri" pitchFamily="34" charset="-120"/>
              </a:rPr>
              <a:t>Produces very high-dimensional, sparse vectors</a:t>
            </a:r>
            <a:endParaRPr lang="en-US" sz="1300" dirty="0"/>
          </a:p>
        </p:txBody>
      </p:sp>
      <p:sp>
        <p:nvSpPr>
          <p:cNvPr id="14" name="Text 1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14</a:t>
            </a:r>
            <a:endParaRPr lang="en-US" sz="1000" dirty="0"/>
          </a:p>
        </p:txBody>
      </p:sp>
      <p:sp>
        <p:nvSpPr>
          <p:cNvPr id="15" name="Text 1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6FDFDF"/>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Ethical Considerations &amp; Future Work</a:t>
            </a:r>
            <a:endParaRPr lang="en-US" sz="3200" dirty="0"/>
          </a:p>
        </p:txBody>
      </p:sp>
      <p:sp>
        <p:nvSpPr>
          <p:cNvPr id="4" name="Shape 2"/>
          <p:cNvSpPr/>
          <p:nvPr/>
        </p:nvSpPr>
        <p:spPr>
          <a:xfrm>
            <a:off x="548640" y="1691640"/>
            <a:ext cx="5394960" cy="4206240"/>
          </a:xfrm>
          <a:prstGeom prst="roundRect">
            <a:avLst>
              <a:gd name="adj" fmla="val 2174"/>
            </a:avLst>
          </a:prstGeom>
          <a:solidFill>
            <a:srgbClr val="13315C"/>
          </a:solidFill>
          <a:ln/>
          <a:effectLst>
            <a:outerShdw blurRad="101600" dist="25400" dir="5400000" algn="bl" rotWithShape="0">
              <a:srgbClr val="1B2B3A">
                <a:alpha val="10000"/>
              </a:srgbClr>
            </a:outerShdw>
          </a:effectLst>
        </p:spPr>
      </p:sp>
      <p:sp>
        <p:nvSpPr>
          <p:cNvPr id="5" name="Shape 3"/>
          <p:cNvSpPr/>
          <p:nvPr/>
        </p:nvSpPr>
        <p:spPr>
          <a:xfrm>
            <a:off x="822960" y="1920240"/>
            <a:ext cx="548640" cy="548640"/>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954634" y="2051914"/>
            <a:ext cx="285293" cy="285293"/>
          </a:xfrm>
          <a:prstGeom prst="rect">
            <a:avLst/>
          </a:prstGeom>
        </p:spPr>
      </p:pic>
      <p:sp>
        <p:nvSpPr>
          <p:cNvPr id="7" name="Text 4"/>
          <p:cNvSpPr/>
          <p:nvPr/>
        </p:nvSpPr>
        <p:spPr>
          <a:xfrm>
            <a:off x="1508760" y="1965960"/>
            <a:ext cx="42062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Ethical Considerations</a:t>
            </a:r>
            <a:endParaRPr lang="en-US" sz="1700" dirty="0"/>
          </a:p>
        </p:txBody>
      </p:sp>
      <p:sp>
        <p:nvSpPr>
          <p:cNvPr id="8" name="Text 5"/>
          <p:cNvSpPr/>
          <p:nvPr/>
        </p:nvSpPr>
        <p:spPr>
          <a:xfrm>
            <a:off x="822960" y="2606040"/>
            <a:ext cx="484632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C9DCE8"/>
                </a:solidFill>
                <a:latin typeface="Calibri" pitchFamily="34" charset="0"/>
                <a:ea typeface="Calibri" pitchFamily="34" charset="-122"/>
                <a:cs typeface="Calibri" pitchFamily="34" charset="-120"/>
              </a:rPr>
              <a:t>Search bias — ranking can unintentionally favor certain sources</a:t>
            </a:r>
            <a:endParaRPr lang="en-US" sz="1250" dirty="0"/>
          </a:p>
          <a:p>
            <a:pPr marL="342900" indent="-342900">
              <a:spcAft>
                <a:spcPts val="800"/>
              </a:spcAft>
              <a:buSzPct val="100000"/>
              <a:buChar char="•"/>
            </a:pPr>
            <a:r>
              <a:rPr lang="en-US" sz="1250" dirty="0">
                <a:solidFill>
                  <a:srgbClr val="C9DCE8"/>
                </a:solidFill>
                <a:latin typeface="Calibri" pitchFamily="34" charset="0"/>
                <a:ea typeface="Calibri" pitchFamily="34" charset="-122"/>
                <a:cs typeface="Calibri" pitchFamily="34" charset="-120"/>
              </a:rPr>
              <a:t>Ranking fairness across content creators and viewpoints</a:t>
            </a:r>
            <a:endParaRPr lang="en-US" sz="1250" dirty="0"/>
          </a:p>
          <a:p>
            <a:pPr marL="342900" indent="-342900">
              <a:buSzPct val="100000"/>
              <a:buChar char="•"/>
            </a:pPr>
            <a:r>
              <a:rPr lang="en-US" sz="1250" dirty="0">
                <a:solidFill>
                  <a:srgbClr val="C9DCE8"/>
                </a:solidFill>
                <a:latin typeface="Calibri" pitchFamily="34" charset="0"/>
                <a:ea typeface="Calibri" pitchFamily="34" charset="-122"/>
                <a:cs typeface="Calibri" pitchFamily="34" charset="-120"/>
              </a:rPr>
              <a:t>Privacy of indexed documents and user queries</a:t>
            </a:r>
            <a:endParaRPr lang="en-US" sz="1250" dirty="0"/>
          </a:p>
        </p:txBody>
      </p:sp>
      <p:sp>
        <p:nvSpPr>
          <p:cNvPr id="9" name="Shape 6"/>
          <p:cNvSpPr/>
          <p:nvPr/>
        </p:nvSpPr>
        <p:spPr>
          <a:xfrm>
            <a:off x="6217920" y="1691640"/>
            <a:ext cx="5394960" cy="4206240"/>
          </a:xfrm>
          <a:prstGeom prst="roundRect">
            <a:avLst>
              <a:gd name="adj" fmla="val 2174"/>
            </a:avLst>
          </a:prstGeom>
          <a:solidFill>
            <a:srgbClr val="10365E"/>
          </a:solidFill>
          <a:ln/>
          <a:effectLst>
            <a:outerShdw blurRad="101600" dist="25400" dir="5400000" algn="bl" rotWithShape="0">
              <a:srgbClr val="1B2B3A">
                <a:alpha val="10000"/>
              </a:srgbClr>
            </a:outerShdw>
          </a:effectLst>
        </p:spPr>
      </p:sp>
      <p:sp>
        <p:nvSpPr>
          <p:cNvPr id="10" name="Shape 7"/>
          <p:cNvSpPr/>
          <p:nvPr/>
        </p:nvSpPr>
        <p:spPr>
          <a:xfrm>
            <a:off x="6492240" y="1920240"/>
            <a:ext cx="548640" cy="548640"/>
          </a:xfrm>
          <a:prstGeom prst="ellipse">
            <a:avLst/>
          </a:prstGeom>
          <a:solidFill>
            <a:srgbClr val="6FDFDF"/>
          </a:solidFill>
          <a:ln/>
        </p:spPr>
      </p:sp>
      <p:pic>
        <p:nvPicPr>
          <p:cNvPr id="11" name="Image 1" descr="preencoded.png"/>
          <p:cNvPicPr>
            <a:picLocks noChangeAspect="1"/>
          </p:cNvPicPr>
          <p:nvPr/>
        </p:nvPicPr>
        <p:blipFill>
          <a:blip r:embed="rId4"/>
          <a:stretch>
            <a:fillRect/>
          </a:stretch>
        </p:blipFill>
        <p:spPr>
          <a:xfrm>
            <a:off x="6623914" y="2051914"/>
            <a:ext cx="285293" cy="285293"/>
          </a:xfrm>
          <a:prstGeom prst="rect">
            <a:avLst/>
          </a:prstGeom>
        </p:spPr>
      </p:pic>
      <p:sp>
        <p:nvSpPr>
          <p:cNvPr id="12" name="Text 8"/>
          <p:cNvSpPr/>
          <p:nvPr/>
        </p:nvSpPr>
        <p:spPr>
          <a:xfrm>
            <a:off x="7178040" y="1965960"/>
            <a:ext cx="42062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Future Work</a:t>
            </a:r>
            <a:endParaRPr lang="en-US" sz="1700" dirty="0"/>
          </a:p>
        </p:txBody>
      </p:sp>
      <p:sp>
        <p:nvSpPr>
          <p:cNvPr id="13" name="Text 9"/>
          <p:cNvSpPr/>
          <p:nvPr/>
        </p:nvSpPr>
        <p:spPr>
          <a:xfrm>
            <a:off x="6492240" y="2606040"/>
            <a:ext cx="484632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C9DCE8"/>
                </a:solidFill>
                <a:latin typeface="Calibri" pitchFamily="34" charset="0"/>
                <a:ea typeface="Calibri" pitchFamily="34" charset="-122"/>
                <a:cs typeface="Calibri" pitchFamily="34" charset="-120"/>
              </a:rPr>
              <a:t>Semantic search using meaning, not just exact words</a:t>
            </a:r>
            <a:endParaRPr lang="en-US" sz="1250" dirty="0"/>
          </a:p>
          <a:p>
            <a:pPr marL="342900" indent="-342900">
              <a:spcAft>
                <a:spcPts val="800"/>
              </a:spcAft>
              <a:buSzPct val="100000"/>
              <a:buChar char="•"/>
            </a:pPr>
            <a:r>
              <a:rPr lang="en-US" sz="1250" dirty="0">
                <a:solidFill>
                  <a:srgbClr val="C9DCE8"/>
                </a:solidFill>
                <a:latin typeface="Calibri" pitchFamily="34" charset="0"/>
                <a:ea typeface="Calibri" pitchFamily="34" charset="-122"/>
                <a:cs typeface="Calibri" pitchFamily="34" charset="-120"/>
              </a:rPr>
              <a:t>Word embeddings (e.g. Word2Vec, GloVe) for similarity</a:t>
            </a:r>
            <a:endParaRPr lang="en-US" sz="1250" dirty="0"/>
          </a:p>
          <a:p>
            <a:pPr marL="342900" indent="-342900">
              <a:spcAft>
                <a:spcPts val="800"/>
              </a:spcAft>
              <a:buSzPct val="100000"/>
              <a:buChar char="•"/>
            </a:pPr>
            <a:r>
              <a:rPr lang="en-US" sz="1250" dirty="0">
                <a:solidFill>
                  <a:srgbClr val="C9DCE8"/>
                </a:solidFill>
                <a:latin typeface="Calibri" pitchFamily="34" charset="0"/>
                <a:ea typeface="Calibri" pitchFamily="34" charset="-122"/>
                <a:cs typeface="Calibri" pitchFamily="34" charset="-120"/>
              </a:rPr>
              <a:t>Transformer-based retrieval (e.g. BERT-based rankers)</a:t>
            </a:r>
            <a:endParaRPr lang="en-US" sz="1250" dirty="0"/>
          </a:p>
          <a:p>
            <a:pPr marL="342900" indent="-342900">
              <a:buSzPct val="100000"/>
              <a:buChar char="•"/>
            </a:pPr>
            <a:r>
              <a:rPr lang="en-US" sz="1250" dirty="0">
                <a:solidFill>
                  <a:srgbClr val="C9DCE8"/>
                </a:solidFill>
                <a:latin typeface="Calibri" pitchFamily="34" charset="0"/>
                <a:ea typeface="Calibri" pitchFamily="34" charset="-122"/>
                <a:cs typeface="Calibri" pitchFamily="34" charset="-120"/>
              </a:rPr>
              <a:t>Retrieval-Augmented Generation (RAG) for AI assistants</a:t>
            </a:r>
            <a:endParaRPr lang="en-US" sz="1250" dirty="0"/>
          </a:p>
        </p:txBody>
      </p:sp>
      <p:sp>
        <p:nvSpPr>
          <p:cNvPr id="14" name="Text 10"/>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15</a:t>
            </a:r>
            <a:endParaRPr lang="en-US" sz="1000" dirty="0"/>
          </a:p>
        </p:txBody>
      </p:sp>
      <p:sp>
        <p:nvSpPr>
          <p:cNvPr id="15" name="Text 11"/>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0683" y="137160"/>
            <a:ext cx="4572000" cy="4572000"/>
          </a:xfrm>
          <a:prstGeom prst="ellipse">
            <a:avLst/>
          </a:prstGeom>
          <a:solidFill>
            <a:srgbClr val="13315C">
              <a:alpha val="55000"/>
            </a:srgbClr>
          </a:solidFill>
          <a:ln/>
        </p:spPr>
      </p:sp>
      <p:sp>
        <p:nvSpPr>
          <p:cNvPr id="3" name="Shape 1"/>
          <p:cNvSpPr/>
          <p:nvPr/>
        </p:nvSpPr>
        <p:spPr>
          <a:xfrm>
            <a:off x="640080" y="640080"/>
            <a:ext cx="777240" cy="777240"/>
          </a:xfrm>
          <a:prstGeom prst="ellipse">
            <a:avLst/>
          </a:prstGeom>
          <a:solidFill>
            <a:srgbClr val="1C7293"/>
          </a:solidFill>
          <a:ln/>
        </p:spPr>
      </p:sp>
      <p:pic>
        <p:nvPicPr>
          <p:cNvPr id="4" name="Image 0" descr="preencoded.png"/>
          <p:cNvPicPr>
            <a:picLocks noChangeAspect="1"/>
          </p:cNvPicPr>
          <p:nvPr/>
        </p:nvPicPr>
        <p:blipFill>
          <a:blip r:embed="rId3"/>
          <a:stretch>
            <a:fillRect/>
          </a:stretch>
        </p:blipFill>
        <p:spPr>
          <a:xfrm>
            <a:off x="826618" y="826618"/>
            <a:ext cx="404165" cy="404165"/>
          </a:xfrm>
          <a:prstGeom prst="rect">
            <a:avLst/>
          </a:prstGeom>
        </p:spPr>
      </p:pic>
      <p:sp>
        <p:nvSpPr>
          <p:cNvPr id="5" name="Text 2"/>
          <p:cNvSpPr/>
          <p:nvPr/>
        </p:nvSpPr>
        <p:spPr>
          <a:xfrm>
            <a:off x="640080" y="1600200"/>
            <a:ext cx="5486400" cy="365760"/>
          </a:xfrm>
          <a:prstGeom prst="rect">
            <a:avLst/>
          </a:prstGeom>
          <a:noFill/>
          <a:ln/>
        </p:spPr>
        <p:txBody>
          <a:bodyPr wrap="square" rtlCol="0" anchor="ctr"/>
          <a:lstStyle/>
          <a:p>
            <a:pPr marL="0" indent="0">
              <a:buNone/>
            </a:pPr>
            <a:r>
              <a:rPr lang="en-US" sz="1400" b="1" kern="0" spc="200" dirty="0">
                <a:solidFill>
                  <a:srgbClr val="6FDFDF"/>
                </a:solidFill>
                <a:latin typeface="Calibri" pitchFamily="34" charset="0"/>
                <a:ea typeface="Calibri" pitchFamily="34" charset="-122"/>
                <a:cs typeface="Calibri" pitchFamily="34" charset="-120"/>
              </a:rPr>
              <a:t>CONCLUSION</a:t>
            </a:r>
            <a:endParaRPr lang="en-US" sz="1400" dirty="0"/>
          </a:p>
        </p:txBody>
      </p:sp>
      <p:sp>
        <p:nvSpPr>
          <p:cNvPr id="6" name="Text 3"/>
          <p:cNvSpPr/>
          <p:nvPr/>
        </p:nvSpPr>
        <p:spPr>
          <a:xfrm>
            <a:off x="640080" y="1965960"/>
            <a:ext cx="105156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Turning Search Into a Measurable Problem</a:t>
            </a:r>
            <a:endParaRPr lang="en-US" sz="3000" dirty="0"/>
          </a:p>
        </p:txBody>
      </p:sp>
      <p:sp>
        <p:nvSpPr>
          <p:cNvPr id="7" name="Text 4"/>
          <p:cNvSpPr/>
          <p:nvPr/>
        </p:nvSpPr>
        <p:spPr>
          <a:xfrm>
            <a:off x="640080" y="2880360"/>
            <a:ext cx="7680960" cy="2651760"/>
          </a:xfrm>
          <a:prstGeom prst="rect">
            <a:avLst/>
          </a:prstGeom>
          <a:noFill/>
          <a:ln/>
        </p:spPr>
        <p:txBody>
          <a:bodyPr wrap="square" rtlCol="0" anchor="ctr"/>
          <a:lstStyle/>
          <a:p>
            <a:pPr marL="342900" indent="-342900">
              <a:lnSpc>
                <a:spcPct val="125000"/>
              </a:lnSpc>
              <a:spcAft>
                <a:spcPts val="800"/>
              </a:spcAft>
              <a:buSzPct val="100000"/>
              <a:buChar char="•"/>
            </a:pPr>
            <a:r>
              <a:rPr lang="en-US" sz="1400" dirty="0">
                <a:solidFill>
                  <a:srgbClr val="E4EEF5"/>
                </a:solidFill>
                <a:latin typeface="Calibri" pitchFamily="34" charset="0"/>
                <a:ea typeface="Calibri" pitchFamily="34" charset="-122"/>
                <a:cs typeface="Calibri" pitchFamily="34" charset="-120"/>
              </a:rPr>
              <a:t>Information Retrieval finds and ranks relevant documents from large collections.</a:t>
            </a:r>
            <a:endParaRPr lang="en-US" sz="1400" dirty="0"/>
          </a:p>
          <a:p>
            <a:pPr marL="342900" indent="-342900">
              <a:lnSpc>
                <a:spcPct val="125000"/>
              </a:lnSpc>
              <a:spcAft>
                <a:spcPts val="800"/>
              </a:spcAft>
              <a:buSzPct val="100000"/>
              <a:buChar char="•"/>
            </a:pPr>
            <a:r>
              <a:rPr lang="en-US" sz="1400" dirty="0">
                <a:solidFill>
                  <a:srgbClr val="E4EEF5"/>
                </a:solidFill>
                <a:latin typeface="Calibri" pitchFamily="34" charset="0"/>
                <a:ea typeface="Calibri" pitchFamily="34" charset="-122"/>
                <a:cs typeface="Calibri" pitchFamily="34" charset="-120"/>
              </a:rPr>
              <a:t>The Vector Space Model represents documents and queries as TF-IDF weighted vectors.</a:t>
            </a:r>
            <a:endParaRPr lang="en-US" sz="1400" dirty="0"/>
          </a:p>
          <a:p>
            <a:pPr marL="342900" indent="-342900">
              <a:lnSpc>
                <a:spcPct val="125000"/>
              </a:lnSpc>
              <a:spcAft>
                <a:spcPts val="800"/>
              </a:spcAft>
              <a:buSzPct val="100000"/>
              <a:buChar char="•"/>
            </a:pPr>
            <a:r>
              <a:rPr lang="en-US" sz="1400" dirty="0">
                <a:solidFill>
                  <a:srgbClr val="E4EEF5"/>
                </a:solidFill>
                <a:latin typeface="Calibri" pitchFamily="34" charset="0"/>
                <a:ea typeface="Calibri" pitchFamily="34" charset="-122"/>
                <a:cs typeface="Calibri" pitchFamily="34" charset="-120"/>
              </a:rPr>
              <a:t>Cosine similarity ranks documents by the angle between vectors — smaller angle, higher relevance.</a:t>
            </a:r>
            <a:endParaRPr lang="en-US" sz="1400" dirty="0"/>
          </a:p>
          <a:p>
            <a:pPr marL="342900" indent="-342900">
              <a:lnSpc>
                <a:spcPct val="125000"/>
              </a:lnSpc>
              <a:buSzPct val="100000"/>
              <a:buChar char="•"/>
            </a:pPr>
            <a:r>
              <a:rPr lang="en-US" sz="1400" dirty="0">
                <a:solidFill>
                  <a:srgbClr val="E4EEF5"/>
                </a:solidFill>
                <a:latin typeface="Calibri" pitchFamily="34" charset="0"/>
                <a:ea typeface="Calibri" pitchFamily="34" charset="-122"/>
                <a:cs typeface="Calibri" pitchFamily="34" charset="-120"/>
              </a:rPr>
              <a:t>Simple, fast, and effective — yet the starting point for today's semantic and transformer-based search.</a:t>
            </a:r>
            <a:endParaRPr lang="en-US" sz="1400" dirty="0"/>
          </a:p>
        </p:txBody>
      </p:sp>
      <p:sp>
        <p:nvSpPr>
          <p:cNvPr id="8" name="Shape 5"/>
          <p:cNvSpPr/>
          <p:nvPr/>
        </p:nvSpPr>
        <p:spPr>
          <a:xfrm>
            <a:off x="640080" y="5623560"/>
            <a:ext cx="10881360" cy="777240"/>
          </a:xfrm>
          <a:prstGeom prst="roundRect">
            <a:avLst>
              <a:gd name="adj" fmla="val 11765"/>
            </a:avLst>
          </a:prstGeom>
          <a:solidFill>
            <a:srgbClr val="1C7293"/>
          </a:solidFill>
          <a:ln/>
          <a:effectLst>
            <a:outerShdw blurRad="101600" dist="25400" dir="5400000" algn="bl" rotWithShape="0">
              <a:srgbClr val="1B2B3A">
                <a:alpha val="10000"/>
              </a:srgbClr>
            </a:outerShdw>
          </a:effectLst>
        </p:spPr>
      </p:sp>
      <p:pic>
        <p:nvPicPr>
          <p:cNvPr id="9" name="Image 1" descr="preencoded.png"/>
          <p:cNvPicPr>
            <a:picLocks noChangeAspect="1"/>
          </p:cNvPicPr>
          <p:nvPr/>
        </p:nvPicPr>
        <p:blipFill>
          <a:blip r:embed="rId4"/>
          <a:stretch>
            <a:fillRect/>
          </a:stretch>
        </p:blipFill>
        <p:spPr>
          <a:xfrm>
            <a:off x="868680" y="5760720"/>
            <a:ext cx="457200" cy="457200"/>
          </a:xfrm>
          <a:prstGeom prst="rect">
            <a:avLst/>
          </a:prstGeom>
        </p:spPr>
      </p:pic>
      <p:sp>
        <p:nvSpPr>
          <p:cNvPr id="10" name="Text 6"/>
          <p:cNvSpPr/>
          <p:nvPr/>
        </p:nvSpPr>
        <p:spPr>
          <a:xfrm>
            <a:off x="1508760" y="5669280"/>
            <a:ext cx="9784080" cy="548640"/>
          </a:xfrm>
          <a:prstGeom prst="rect">
            <a:avLst/>
          </a:prstGeom>
          <a:noFill/>
          <a:ln/>
        </p:spPr>
        <p:txBody>
          <a:bodyPr wrap="square"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VSM turned "finding documents" into "measuring relevance" — a shift that still underlies search today.</a:t>
            </a:r>
            <a:endParaRPr lang="en-US" sz="1300" dirty="0"/>
          </a:p>
        </p:txBody>
      </p:sp>
      <p:sp>
        <p:nvSpPr>
          <p:cNvPr id="11" name="Text 7"/>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16</a:t>
            </a:r>
            <a:endParaRPr lang="en-US" sz="1000" dirty="0"/>
          </a:p>
        </p:txBody>
      </p:sp>
      <p:sp>
        <p:nvSpPr>
          <p:cNvPr id="12" name="Text 8"/>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548640" y="658368"/>
            <a:ext cx="11064240" cy="777240"/>
          </a:xfrm>
          <a:prstGeom prst="rect">
            <a:avLst/>
          </a:prstGeom>
          <a:noFill/>
          <a:ln/>
        </p:spPr>
        <p:txBody>
          <a:bodyPr wrap="square" rtlCol="0" anchor="ctr"/>
          <a:lstStyle/>
          <a:p>
            <a:pPr marL="0" indent="0">
              <a:buNone/>
            </a:pPr>
            <a:r>
              <a:rPr lang="en-US" sz="3200" b="1" dirty="0">
                <a:solidFill>
                  <a:srgbClr val="1B2B3A"/>
                </a:solidFill>
                <a:latin typeface="Cambria" pitchFamily="34" charset="0"/>
                <a:ea typeface="Cambria" pitchFamily="34" charset="-122"/>
                <a:cs typeface="Cambria" pitchFamily="34" charset="-120"/>
              </a:rPr>
              <a:t>References (APA Format)</a:t>
            </a:r>
            <a:endParaRPr lang="en-US" sz="3200" dirty="0"/>
          </a:p>
        </p:txBody>
      </p:sp>
      <p:sp>
        <p:nvSpPr>
          <p:cNvPr id="4" name="Shape 2"/>
          <p:cNvSpPr/>
          <p:nvPr/>
        </p:nvSpPr>
        <p:spPr>
          <a:xfrm>
            <a:off x="548640" y="1856232"/>
            <a:ext cx="109728" cy="109728"/>
          </a:xfrm>
          <a:prstGeom prst="ellipse">
            <a:avLst/>
          </a:prstGeom>
          <a:solidFill>
            <a:srgbClr val="1C7293"/>
          </a:solidFill>
          <a:ln/>
        </p:spPr>
      </p:sp>
      <p:sp>
        <p:nvSpPr>
          <p:cNvPr id="5" name="Text 3"/>
          <p:cNvSpPr/>
          <p:nvPr/>
        </p:nvSpPr>
        <p:spPr>
          <a:xfrm>
            <a:off x="822960" y="1709928"/>
            <a:ext cx="10607040" cy="685800"/>
          </a:xfrm>
          <a:prstGeom prst="rect">
            <a:avLst/>
          </a:prstGeom>
          <a:noFill/>
          <a:ln/>
        </p:spPr>
        <p:txBody>
          <a:bodyPr wrap="square" rtlCol="0" anchor="ctr"/>
          <a:lstStyle/>
          <a:p>
            <a:pPr marL="0" indent="0">
              <a:lnSpc>
                <a:spcPct val="110000"/>
              </a:lnSpc>
              <a:buNone/>
            </a:pPr>
            <a:r>
              <a:rPr lang="en-US" sz="1300" dirty="0">
                <a:solidFill>
                  <a:srgbClr val="1B2B3A"/>
                </a:solidFill>
                <a:latin typeface="Calibri" pitchFamily="34" charset="0"/>
                <a:ea typeface="Calibri" pitchFamily="34" charset="-122"/>
                <a:cs typeface="Calibri" pitchFamily="34" charset="-120"/>
              </a:rPr>
              <a:t>Manning, C. D., Raghavan, P., &amp; Schütze, H. (2008). Introduction to information retrieval. Cambridge University Press.</a:t>
            </a:r>
            <a:endParaRPr lang="en-US" sz="1300" dirty="0"/>
          </a:p>
        </p:txBody>
      </p:sp>
      <p:sp>
        <p:nvSpPr>
          <p:cNvPr id="6" name="Shape 4"/>
          <p:cNvSpPr/>
          <p:nvPr/>
        </p:nvSpPr>
        <p:spPr>
          <a:xfrm>
            <a:off x="548640" y="2697480"/>
            <a:ext cx="109728" cy="109728"/>
          </a:xfrm>
          <a:prstGeom prst="ellipse">
            <a:avLst/>
          </a:prstGeom>
          <a:solidFill>
            <a:srgbClr val="1C7293"/>
          </a:solidFill>
          <a:ln/>
        </p:spPr>
      </p:sp>
      <p:sp>
        <p:nvSpPr>
          <p:cNvPr id="7" name="Text 5"/>
          <p:cNvSpPr/>
          <p:nvPr/>
        </p:nvSpPr>
        <p:spPr>
          <a:xfrm>
            <a:off x="822960" y="2551176"/>
            <a:ext cx="10607040" cy="685800"/>
          </a:xfrm>
          <a:prstGeom prst="rect">
            <a:avLst/>
          </a:prstGeom>
          <a:noFill/>
          <a:ln/>
        </p:spPr>
        <p:txBody>
          <a:bodyPr wrap="square" rtlCol="0" anchor="ctr"/>
          <a:lstStyle/>
          <a:p>
            <a:pPr marL="0" indent="0">
              <a:lnSpc>
                <a:spcPct val="110000"/>
              </a:lnSpc>
              <a:buNone/>
            </a:pPr>
            <a:r>
              <a:rPr lang="en-US" sz="1300" dirty="0">
                <a:solidFill>
                  <a:srgbClr val="1B2B3A"/>
                </a:solidFill>
                <a:latin typeface="Calibri" pitchFamily="34" charset="0"/>
                <a:ea typeface="Calibri" pitchFamily="34" charset="-122"/>
                <a:cs typeface="Calibri" pitchFamily="34" charset="-120"/>
              </a:rPr>
              <a:t>Jurafsky, D., &amp; Martin, J. H. (2023). Speech and language processing (3rd ed. draft). Pearson.</a:t>
            </a:r>
            <a:endParaRPr lang="en-US" sz="1300" dirty="0"/>
          </a:p>
        </p:txBody>
      </p:sp>
      <p:sp>
        <p:nvSpPr>
          <p:cNvPr id="8" name="Shape 6"/>
          <p:cNvSpPr/>
          <p:nvPr/>
        </p:nvSpPr>
        <p:spPr>
          <a:xfrm>
            <a:off x="548640" y="3538728"/>
            <a:ext cx="109728" cy="109728"/>
          </a:xfrm>
          <a:prstGeom prst="ellipse">
            <a:avLst/>
          </a:prstGeom>
          <a:solidFill>
            <a:srgbClr val="1C7293"/>
          </a:solidFill>
          <a:ln/>
        </p:spPr>
      </p:sp>
      <p:sp>
        <p:nvSpPr>
          <p:cNvPr id="9" name="Text 7"/>
          <p:cNvSpPr/>
          <p:nvPr/>
        </p:nvSpPr>
        <p:spPr>
          <a:xfrm>
            <a:off x="822960" y="3392424"/>
            <a:ext cx="10607040" cy="685800"/>
          </a:xfrm>
          <a:prstGeom prst="rect">
            <a:avLst/>
          </a:prstGeom>
          <a:noFill/>
          <a:ln/>
        </p:spPr>
        <p:txBody>
          <a:bodyPr wrap="square" rtlCol="0" anchor="ctr"/>
          <a:lstStyle/>
          <a:p>
            <a:pPr marL="0" indent="0">
              <a:lnSpc>
                <a:spcPct val="110000"/>
              </a:lnSpc>
              <a:buNone/>
            </a:pPr>
            <a:r>
              <a:rPr lang="en-US" sz="1300" dirty="0">
                <a:solidFill>
                  <a:srgbClr val="1B2B3A"/>
                </a:solidFill>
                <a:latin typeface="Calibri" pitchFamily="34" charset="0"/>
                <a:ea typeface="Calibri" pitchFamily="34" charset="-122"/>
                <a:cs typeface="Calibri" pitchFamily="34" charset="-120"/>
              </a:rPr>
              <a:t>Salton, G., Wong, A., &amp; Yang, C. S. (1975). A vector space model for automatic indexing. Communications of the ACM, 18(11), 613–620.</a:t>
            </a:r>
            <a:endParaRPr lang="en-US" sz="1300" dirty="0"/>
          </a:p>
        </p:txBody>
      </p:sp>
      <p:sp>
        <p:nvSpPr>
          <p:cNvPr id="10" name="Shape 8"/>
          <p:cNvSpPr/>
          <p:nvPr/>
        </p:nvSpPr>
        <p:spPr>
          <a:xfrm>
            <a:off x="548640" y="4379976"/>
            <a:ext cx="109728" cy="109728"/>
          </a:xfrm>
          <a:prstGeom prst="ellipse">
            <a:avLst/>
          </a:prstGeom>
          <a:solidFill>
            <a:srgbClr val="1C7293"/>
          </a:solidFill>
          <a:ln/>
        </p:spPr>
      </p:sp>
      <p:sp>
        <p:nvSpPr>
          <p:cNvPr id="11" name="Text 9"/>
          <p:cNvSpPr/>
          <p:nvPr/>
        </p:nvSpPr>
        <p:spPr>
          <a:xfrm>
            <a:off x="822960" y="4233672"/>
            <a:ext cx="10607040" cy="685800"/>
          </a:xfrm>
          <a:prstGeom prst="rect">
            <a:avLst/>
          </a:prstGeom>
          <a:noFill/>
          <a:ln/>
        </p:spPr>
        <p:txBody>
          <a:bodyPr wrap="square" rtlCol="0" anchor="ctr"/>
          <a:lstStyle/>
          <a:p>
            <a:pPr marL="0" indent="0">
              <a:lnSpc>
                <a:spcPct val="110000"/>
              </a:lnSpc>
              <a:buNone/>
            </a:pPr>
            <a:r>
              <a:rPr lang="en-US" sz="1300" dirty="0">
                <a:solidFill>
                  <a:srgbClr val="1B2B3A"/>
                </a:solidFill>
                <a:latin typeface="Calibri" pitchFamily="34" charset="0"/>
                <a:ea typeface="Calibri" pitchFamily="34" charset="-122"/>
                <a:cs typeface="Calibri" pitchFamily="34" charset="-120"/>
              </a:rPr>
              <a:t>Robertson, S. (2004). Understanding inverse document frequency: On theoretical arguments for IDF. Journal of Documentation, 60(5), 503–520.</a:t>
            </a:r>
            <a:endParaRPr lang="en-US" sz="1300" dirty="0"/>
          </a:p>
        </p:txBody>
      </p:sp>
      <p:sp>
        <p:nvSpPr>
          <p:cNvPr id="12" name="Shape 10"/>
          <p:cNvSpPr/>
          <p:nvPr/>
        </p:nvSpPr>
        <p:spPr>
          <a:xfrm>
            <a:off x="548640" y="5221224"/>
            <a:ext cx="109728" cy="109728"/>
          </a:xfrm>
          <a:prstGeom prst="ellipse">
            <a:avLst/>
          </a:prstGeom>
          <a:solidFill>
            <a:srgbClr val="1C7293"/>
          </a:solidFill>
          <a:ln/>
        </p:spPr>
      </p:sp>
      <p:sp>
        <p:nvSpPr>
          <p:cNvPr id="13" name="Text 11"/>
          <p:cNvSpPr/>
          <p:nvPr/>
        </p:nvSpPr>
        <p:spPr>
          <a:xfrm>
            <a:off x="822960" y="5074920"/>
            <a:ext cx="10607040" cy="685800"/>
          </a:xfrm>
          <a:prstGeom prst="rect">
            <a:avLst/>
          </a:prstGeom>
          <a:noFill/>
          <a:ln/>
        </p:spPr>
        <p:txBody>
          <a:bodyPr wrap="square" rtlCol="0" anchor="ctr"/>
          <a:lstStyle/>
          <a:p>
            <a:pPr marL="0" indent="0">
              <a:lnSpc>
                <a:spcPct val="110000"/>
              </a:lnSpc>
              <a:buNone/>
            </a:pPr>
            <a:r>
              <a:rPr lang="en-US" sz="1300" dirty="0">
                <a:solidFill>
                  <a:srgbClr val="1B2B3A"/>
                </a:solidFill>
                <a:latin typeface="Calibri" pitchFamily="34" charset="0"/>
                <a:ea typeface="Calibri" pitchFamily="34" charset="-122"/>
                <a:cs typeface="Calibri" pitchFamily="34" charset="-120"/>
              </a:rPr>
              <a:t>Additional sources: IEEE Xplore Digital Library, ACM Digital Library, Google Scholar.</a:t>
            </a:r>
            <a:endParaRPr lang="en-US" sz="1300" dirty="0"/>
          </a:p>
        </p:txBody>
      </p:sp>
      <p:sp>
        <p:nvSpPr>
          <p:cNvPr id="14" name="Text 12"/>
          <p:cNvSpPr/>
          <p:nvPr/>
        </p:nvSpPr>
        <p:spPr>
          <a:xfrm>
            <a:off x="11521440" y="6446520"/>
            <a:ext cx="365760" cy="274320"/>
          </a:xfrm>
          <a:prstGeom prst="rect">
            <a:avLst/>
          </a:prstGeom>
          <a:noFill/>
          <a:ln/>
        </p:spPr>
        <p:txBody>
          <a:bodyPr wrap="square" rtlCol="0" anchor="ctr"/>
          <a:lstStyle/>
          <a:p>
            <a:pPr marL="0" indent="0" algn="r">
              <a:buNone/>
            </a:pPr>
            <a:r>
              <a:rPr lang="en-US" sz="1000" dirty="0">
                <a:solidFill>
                  <a:srgbClr val="5C7385"/>
                </a:solidFill>
                <a:latin typeface="Calibri" pitchFamily="34" charset="0"/>
                <a:ea typeface="Calibri" pitchFamily="34" charset="-122"/>
                <a:cs typeface="Calibri" pitchFamily="34" charset="-120"/>
              </a:rPr>
              <a:t>17</a:t>
            </a:r>
            <a:endParaRPr lang="en-US" sz="1000" dirty="0"/>
          </a:p>
        </p:txBody>
      </p:sp>
      <p:sp>
        <p:nvSpPr>
          <p:cNvPr id="15" name="Text 13"/>
          <p:cNvSpPr/>
          <p:nvPr/>
        </p:nvSpPr>
        <p:spPr>
          <a:xfrm>
            <a:off x="457200" y="6446520"/>
            <a:ext cx="5486400" cy="274320"/>
          </a:xfrm>
          <a:prstGeom prst="rect">
            <a:avLst/>
          </a:prstGeom>
          <a:noFill/>
          <a:ln/>
        </p:spPr>
        <p:txBody>
          <a:bodyPr wrap="square" rtlCol="0" anchor="ctr"/>
          <a:lstStyle/>
          <a:p>
            <a:pPr marL="0" indent="0" algn="l">
              <a:buNone/>
            </a:pPr>
            <a:r>
              <a:rPr lang="en-US" sz="1000" dirty="0">
                <a:solidFill>
                  <a:srgbClr val="5C7385"/>
                </a:solidFill>
                <a:latin typeface="Calibri" pitchFamily="34" charset="0"/>
                <a:ea typeface="Calibri" pitchFamily="34" charset="-122"/>
                <a:cs typeface="Calibri" pitchFamily="34" charset="-120"/>
              </a:rPr>
              <a:t>Vector Space Model for Information Retrieval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2721</Words>
  <Application>Microsoft Office PowerPoint</Application>
  <PresentationFormat>Widescreen</PresentationFormat>
  <Paragraphs>346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 Space Model (VSM) for Information Retrieval</dc:title>
  <dc:subject>PptxGenJS Presentation</dc:subject>
  <dc:creator>Umer</dc:creator>
  <cp:lastModifiedBy>Dell</cp:lastModifiedBy>
  <cp:revision>6</cp:revision>
  <dcterms:created xsi:type="dcterms:W3CDTF">2026-07-05T15:20:27Z</dcterms:created>
  <dcterms:modified xsi:type="dcterms:W3CDTF">2026-07-06T13:37:48Z</dcterms:modified>
</cp:coreProperties>
</file>