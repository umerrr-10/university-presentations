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7.xml" ContentType="application/vnd.openxmlformats-officedocument.presentationml.notesSlide+xml"/>
  <Override PartName="/ppt/charts/chart4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3B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1B1F3B"/>
                </a:solidFill>
                <a:latin typeface="Arial"/>
              </a:rPr>
              <a:t>Accuracy / Precision / Recall / F1 across all four configurations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RNN
Temporal</c:v>
                </c:pt>
                <c:pt idx="1">
                  <c:v>RNN
Averaging</c:v>
                </c:pt>
                <c:pt idx="2">
                  <c:v>LSTM
Temporal</c:v>
                </c:pt>
                <c:pt idx="3">
                  <c:v>LSTM
Averaging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0.67500000000000004</c:v>
                </c:pt>
                <c:pt idx="1">
                  <c:v>0.69199999999999995</c:v>
                </c:pt>
                <c:pt idx="2">
                  <c:v>0.75800000000000001</c:v>
                </c:pt>
                <c:pt idx="3">
                  <c:v>0.76700000000000002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78-4652-82CD-D8A46C38CC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3D5AFE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RNN
Temporal</c:v>
                </c:pt>
                <c:pt idx="1">
                  <c:v>RNN
Averaging</c:v>
                </c:pt>
                <c:pt idx="2">
                  <c:v>LSTM
Temporal</c:v>
                </c:pt>
                <c:pt idx="3">
                  <c:v>LSTM
Averaging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0.59699999999999998</c:v>
                </c:pt>
                <c:pt idx="1">
                  <c:v>0.61499999999999999</c:v>
                </c:pt>
                <c:pt idx="2">
                  <c:v>0.75900000000000001</c:v>
                </c:pt>
                <c:pt idx="3">
                  <c:v>0.76500000000000001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678-4652-82CD-D8A46C38CC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6C8EBF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RNN
Temporal</c:v>
                </c:pt>
                <c:pt idx="1">
                  <c:v>RNN
Averaging</c:v>
                </c:pt>
                <c:pt idx="2">
                  <c:v>LSTM
Temporal</c:v>
                </c:pt>
                <c:pt idx="3">
                  <c:v>LSTM
Averaging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0.67500000000000004</c:v>
                </c:pt>
                <c:pt idx="1">
                  <c:v>0.69199999999999995</c:v>
                </c:pt>
                <c:pt idx="2">
                  <c:v>0.75800000000000001</c:v>
                </c:pt>
                <c:pt idx="3">
                  <c:v>0.76700000000000002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678-4652-82CD-D8A46C38CCC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97BC62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RNN
Temporal</c:v>
                </c:pt>
                <c:pt idx="1">
                  <c:v>RNN
Averaging</c:v>
                </c:pt>
                <c:pt idx="2">
                  <c:v>LSTM
Temporal</c:v>
                </c:pt>
                <c:pt idx="3">
                  <c:v>LSTM
Averaging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0.622</c:v>
                </c:pt>
                <c:pt idx="1">
                  <c:v>0.63900000000000001</c:v>
                </c:pt>
                <c:pt idx="2">
                  <c:v>0.754</c:v>
                </c:pt>
                <c:pt idx="3">
                  <c:v>0.76100000000000001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678-4652-82CD-D8A46C38CC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4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3B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B1F3B"/>
                </a:solidFill>
                <a:latin typeface="Arial"/>
              </a:rPr>
              <a:t>Training Time (seconds)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time (s)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RNN</c:v>
                </c:pt>
                <c:pt idx="1">
                  <c:v>LSTM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</c:v>
                </c:pt>
                <c:pt idx="1">
                  <c:v>46.8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2A-406F-96D1-D18DE2A5BBD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3B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B1F3B"/>
                </a:solidFill>
                <a:latin typeface="Arial"/>
              </a:rPr>
              <a:t>Trainable Parameters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Parameters</c:v>
                </c:pt>
              </c:strCache>
            </c:strRef>
          </c:tx>
          <c:spPr>
            <a:solidFill>
              <a:srgbClr val="3D5AF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RNN</c:v>
                </c:pt>
                <c:pt idx="1">
                  <c:v>LSTM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197254</c:v>
                </c:pt>
                <c:pt idx="1">
                  <c:v>775366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F4-40BB-B798-D0DF43E7CB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Original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RNN
Temporal</c:v>
                </c:pt>
                <c:pt idx="1">
                  <c:v>RNN
Averaging</c:v>
                </c:pt>
                <c:pt idx="2">
                  <c:v>LSTM
Temporal</c:v>
                </c:pt>
                <c:pt idx="3">
                  <c:v>LSTM
Averaging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0.67500000000000004</c:v>
                </c:pt>
                <c:pt idx="1">
                  <c:v>0.69199999999999995</c:v>
                </c:pt>
                <c:pt idx="2">
                  <c:v>0.75800000000000001</c:v>
                </c:pt>
                <c:pt idx="3">
                  <c:v>0.76700000000000002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B1-4F2D-B4E5-AFD0E0BEB78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Shuffled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RNN
Temporal</c:v>
                </c:pt>
                <c:pt idx="1">
                  <c:v>RNN
Averaging</c:v>
                </c:pt>
                <c:pt idx="2">
                  <c:v>LSTM
Temporal</c:v>
                </c:pt>
                <c:pt idx="3">
                  <c:v>LSTM
Averaging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0.625</c:v>
                </c:pt>
                <c:pt idx="1">
                  <c:v>0.68300000000000005</c:v>
                </c:pt>
                <c:pt idx="2">
                  <c:v>0.75800000000000001</c:v>
                </c:pt>
                <c:pt idx="3">
                  <c:v>0.75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DB1-4F2D-B4E5-AFD0E0BEB7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4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3745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029200" cy="50292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389120"/>
            <a:ext cx="4114800" cy="41148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PROJECT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RNN vs. LSTM for Human Action Recognition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Temporal and Averaging Evaluation Strategies on the KTH Action Dataset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5669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</a:t>
            </a:r>
            <a:r>
              <a:rPr lang="en-US" sz="1400" b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Umer</a:t>
            </a: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Muhmmad </a:t>
            </a:r>
            <a:r>
              <a:rPr lang="en-US" sz="1400" b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Irtisam</a:t>
            </a:r>
            <a:endParaRPr lang="en-US" sz="1400" b="1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005 &amp; 006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Artificial Intelligence — Semester 6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Sialkot — Department of Artificial Intelligence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4592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45920" y="171907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RNN vs LSTM, and why two evaluation strategies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21284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45920" y="22128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25603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KTH Action Recognition — 6 classes, 599 clips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054096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645920" y="305409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45920" y="340156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features → RNN / LSTM → dual evaluation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895344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645920" y="389534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45920" y="4242816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confusion matrices, class-wise breakdown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73659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645920" y="47365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Test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5084064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Frame-shuffle experiment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55778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645920" y="5577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85"/>
                </a:solidFill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RNN vs. LSTM?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4663440"/>
          </a:xfrm>
          <a:prstGeom prst="roundRect">
            <a:avLst>
              <a:gd name="adj" fmla="val 2353"/>
            </a:avLst>
          </a:prstGeom>
          <a:solidFill>
            <a:srgbClr val="F4F6F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002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like walking, jogging, and running look almost identical in a single frame.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differ mainly in motion pattern over time — stride speed, frequency.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requires a model that can retain information across a sequence of frames.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1371600"/>
            <a:ext cx="5212080" cy="4663440"/>
          </a:xfrm>
          <a:prstGeom prst="roundRect">
            <a:avLst>
              <a:gd name="adj" fmla="val 2353"/>
            </a:avLst>
          </a:prstGeom>
          <a:solidFill>
            <a:srgbClr val="F4F6FC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6002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RNN vs. LSTM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0" y="205740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RNN: updates a hidden state each step, but suffers from vanishing gradients over longer sequences.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LSTM: uses input/forget/output gates to preserve information over longer time spans.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LSTM should better separate visually similar, motion-differentiated actions.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85"/>
                </a:solidFill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508760"/>
            <a:ext cx="384048" cy="384048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08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25880" y="14630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complete action-recognition pipeline from raw video to trained classifiers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221992"/>
            <a:ext cx="384048" cy="384048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21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217627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RNN and LSTM under identical conditions for a fair comparison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935224"/>
            <a:ext cx="384048" cy="384048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9352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2889504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both using two strategies: Temporal (last frame) vs. Averaging (mean-pooled)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3648456"/>
            <a:ext cx="384048" cy="384048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6484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3602736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per-class performance via confusion matrices and classification reports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4361688"/>
            <a:ext cx="384048" cy="384048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361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431596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genuine temporal reliance with a frame-order shuffle experiment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5074920"/>
            <a:ext cx="384048" cy="384048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074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50292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computational cost (training time) between architectures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85"/>
                </a:solidFill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KTH Action Recognition</a:t>
            </a:r>
            <a:endParaRPr lang="en-US" sz="3000" dirty="0"/>
          </a:p>
        </p:txBody>
      </p:sp>
      <p:pic>
        <p:nvPicPr>
          <p:cNvPr id="3" name="Image 0" descr="report_assets/fig_sample_frames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7863840" cy="319837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686800" y="1234440"/>
            <a:ext cx="2880360" cy="4709160"/>
          </a:xfrm>
          <a:prstGeom prst="roundRect">
            <a:avLst>
              <a:gd name="adj" fmla="val 3175"/>
            </a:avLst>
          </a:prstGeom>
          <a:solidFill>
            <a:srgbClr val="1E2761"/>
          </a:solidFill>
          <a:ln/>
        </p:spPr>
      </p:sp>
      <p:sp>
        <p:nvSpPr>
          <p:cNvPr id="5" name="Text 2"/>
          <p:cNvSpPr/>
          <p:nvPr/>
        </p:nvSpPr>
        <p:spPr>
          <a:xfrm>
            <a:off x="8823960" y="14630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823960" y="193852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classes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823960" y="235915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599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823960" y="28346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clips used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823960" y="325526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823960" y="373075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sampled / clip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823960" y="415137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96×96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8823960" y="4626864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resolution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823960" y="504748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camera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8823960" y="5522976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homogeneous background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 boxing · handclapping · handwaving · jogging · running · walking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85"/>
                </a:solidFill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Pipeline: From Video to Prediction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237744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514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Extraction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frames / video, 96×96, RGB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54680" y="310896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B6485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474720" y="237744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3D5AF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2514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0" y="30632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Features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0" y="361188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CNN → 1280-D vector / frame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89320" y="310896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B6485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309360" y="237744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514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92240" y="30632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/ LSTM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0" y="361188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classifier, per-frame softmax output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23960" y="310896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B6485"/>
                </a:solidFill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144000" y="237744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3D5AFE"/>
          </a:solidFill>
          <a:ln/>
        </p:spPr>
      </p:sp>
      <p:sp>
        <p:nvSpPr>
          <p:cNvPr id="19" name="Text 17"/>
          <p:cNvSpPr/>
          <p:nvPr/>
        </p:nvSpPr>
        <p:spPr>
          <a:xfrm>
            <a:off x="9326880" y="2514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326880" y="30632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Evaluation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326880" y="361188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(last step) vs. Averaging (mean pooled)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846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share identical preprocessing, features, optimiser, and training schedule — isolating the effect of architecture choice.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85"/>
                </a:solidFill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Theoretical Background: Recurrent Neural Networks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6400800" cy="4754880"/>
          </a:xfrm>
          <a:prstGeom prst="roundRect">
            <a:avLst>
              <a:gd name="adj" fmla="val 2308"/>
            </a:avLst>
          </a:prstGeom>
          <a:solidFill>
            <a:srgbClr val="F4F6F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36192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RNN Processes a Sequence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time step t, the network combines the current input xₜ with the previous hidden state hₜ₋₁ to produce a new hidden state: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788920"/>
            <a:ext cx="58521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78892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hₜ = tanh( Wₓₕ xₜ + Wₕₕ hₜ₋₁ + bₕ 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42900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4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yₜ = softmax( Wₕᵧ hₜ + bᵧ 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977640"/>
            <a:ext cx="5852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state hₜ acts as the network's memory, carrying information forward through the sequence.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uses Backpropagation Through Time (BPTT): gradients are propagated backward across all 16 time steps to update Wₓₕ and Wₕₕ.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269480" y="1325880"/>
            <a:ext cx="4251960" cy="4754880"/>
          </a:xfrm>
          <a:prstGeom prst="roundRect">
            <a:avLst>
              <a:gd name="adj" fmla="val 2581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153619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Unrolled Through Time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35240" y="2651760"/>
            <a:ext cx="777240" cy="640080"/>
          </a:xfrm>
          <a:prstGeom prst="roundRect">
            <a:avLst>
              <a:gd name="adj" fmla="val 11429"/>
            </a:avLst>
          </a:prstGeom>
          <a:solidFill>
            <a:srgbClr val="3D5AFE"/>
          </a:solidFill>
          <a:ln/>
        </p:spPr>
      </p:sp>
      <p:sp>
        <p:nvSpPr>
          <p:cNvPr id="13" name="Text 11"/>
          <p:cNvSpPr/>
          <p:nvPr/>
        </p:nvSpPr>
        <p:spPr>
          <a:xfrm>
            <a:off x="7635240" y="265176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x₁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12480" y="27889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732520" y="2651760"/>
            <a:ext cx="777240" cy="640080"/>
          </a:xfrm>
          <a:prstGeom prst="roundRect">
            <a:avLst>
              <a:gd name="adj" fmla="val 11429"/>
            </a:avLst>
          </a:prstGeom>
          <a:solidFill>
            <a:srgbClr val="3D5AFE"/>
          </a:solidFill>
          <a:ln/>
        </p:spPr>
      </p:sp>
      <p:sp>
        <p:nvSpPr>
          <p:cNvPr id="16" name="Text 14"/>
          <p:cNvSpPr/>
          <p:nvPr/>
        </p:nvSpPr>
        <p:spPr>
          <a:xfrm>
            <a:off x="8732520" y="265176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509760" y="27889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829800" y="2651760"/>
            <a:ext cx="777240" cy="640080"/>
          </a:xfrm>
          <a:prstGeom prst="roundRect">
            <a:avLst>
              <a:gd name="adj" fmla="val 11429"/>
            </a:avLst>
          </a:prstGeom>
          <a:solidFill>
            <a:srgbClr val="3D5AFE"/>
          </a:solidFill>
          <a:ln/>
        </p:spPr>
      </p:sp>
      <p:sp>
        <p:nvSpPr>
          <p:cNvPr id="19" name="Text 17"/>
          <p:cNvSpPr/>
          <p:nvPr/>
        </p:nvSpPr>
        <p:spPr>
          <a:xfrm>
            <a:off x="9829800" y="265176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xₜ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607040" y="27889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</a:rPr>
              <a:t>⋯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543800" y="3566160"/>
            <a:ext cx="3703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reuses the SAME weights (Wₓₕ, Wₕₕ) at every step — this weight-sharing is what causes repeated multiplication during backpropagation.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85"/>
                </a:solidFill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Theoretical Background: LSTM Gating Mechanism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LSTM cell maintains a separate cell state Cₜ (its “long-term memory”) and regulates it using three gates, each a sigmoid layer producing values between 0 and 1: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2402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Gate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fₜ = σ(W_f·[hₜ₋₁, xₜ] + b_f)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fraction of the old cell state Cₜ₋₁ to keep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34840" y="205740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2402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Gate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63440" y="26517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iₜ = σ(W_i·[hₜ₋₁, xₜ] + b_i)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63440" y="32004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how much new candidate information to add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0" y="205740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4F6FC"/>
          </a:solidFill>
          <a:ln/>
        </p:spPr>
      </p:sp>
      <p:sp>
        <p:nvSpPr>
          <p:cNvPr id="13" name="Text 11"/>
          <p:cNvSpPr/>
          <p:nvPr/>
        </p:nvSpPr>
        <p:spPr>
          <a:xfrm>
            <a:off x="8458200" y="22402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58200" y="26517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oₜ = σ(W_o·[hₜ₋₁, xₜ] + b_o)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58200" y="32004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how much of Cₜ to expose as the hidden state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160520"/>
            <a:ext cx="10881360" cy="1691640"/>
          </a:xfrm>
          <a:prstGeom prst="roundRect">
            <a:avLst>
              <a:gd name="adj" fmla="val 5405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31596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State Update (the key to long-range memory)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6634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Cₜ = fₜ ⊙ Cₜ₋₁  +  iₜ ⊙ C̃ₜ          hₜ = oₜ ⊙ tanh(Cₜ)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4400" y="516636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update is largely additive (⊙ = element-wise product) rather than repeatedly passed through a single nonlinearity — giving gradients a more direct path across time steps.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85"/>
                </a:solidFill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Vanishing Gradient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4663440"/>
          </a:xfrm>
          <a:prstGeom prst="roundRect">
            <a:avLst>
              <a:gd name="adj" fmla="val 2353"/>
            </a:avLst>
          </a:prstGeom>
          <a:solidFill>
            <a:srgbClr val="FCEBE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7276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32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RNN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32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∂hₜ / ∂h₀ = ∏ₜ ∂hₖ / ∂hₖ₋₁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46634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gradient of the loss with respect to an early hidden state is a product of many Jacobians, one per time step.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factor is bounded by the tanh derivative (≤ 1) and the recurrent weight matrix.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Multiplying ~16 such factors together tends to shrink the gradient toward zero — early time steps stop receiving useful learning signal.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371600"/>
            <a:ext cx="5212080" cy="4663440"/>
          </a:xfrm>
          <a:prstGeom prst="roundRect">
            <a:avLst>
              <a:gd name="adj" fmla="val 2353"/>
            </a:avLst>
          </a:prstGeom>
          <a:solidFill>
            <a:srgbClr val="E7F3EC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57276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205740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∂Cₜ / ∂Cₜ₋₁ = fₜ  (element-wise)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0" y="2697480"/>
            <a:ext cx="46634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cell state's gradient path is additive and gated by fₜ, rather than passed through a shared weight matrix and squashing nonlinearity at every step.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forget gate is close to 1, gradients flow through the cell state largely unchanged across many time steps.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the LSTM can learn dependencies (e.g., stride frequency across all 16 frames) that the Simple RNN struggles to retain.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85"/>
                </a:solidFill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Theoretical Background: Transfer Learning with MobileNetV2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4663440"/>
          </a:xfrm>
          <a:prstGeom prst="roundRect">
            <a:avLst>
              <a:gd name="adj" fmla="val 2353"/>
            </a:avLst>
          </a:prstGeom>
          <a:solidFill>
            <a:srgbClr val="F4F6F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7276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 Separable Convolutions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46634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convolution filters and combines channels in one step — computationally expensive.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splits this into a depthwise convolution (filters each channel separately) followed by a pointwise 1×1 convolution (combines channels).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factorisation cuts computation substantially while retaining representational power — ideal for CPU-only feature extraction.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09360" y="1371600"/>
            <a:ext cx="5212080" cy="4663440"/>
          </a:xfrm>
          <a:prstGeom prst="roundRect">
            <a:avLst>
              <a:gd name="adj" fmla="val 2353"/>
            </a:avLst>
          </a:prstGeom>
          <a:solidFill>
            <a:srgbClr val="F4F6FC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57276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Freeze the Feature Extractor?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0" y="2103120"/>
            <a:ext cx="46634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reuses filters learned on large-scale ImageNet data — general edge, texture, and shape detectors.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599 videos, training a full CNN from scratch would risk severe overfitting.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Freezing MobileNetV2 and training only the RNN/LSTM layers keeps the learning capacity matched to the amount of available data.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85"/>
                </a:solidFill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Architectures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4663440"/>
          </a:xfrm>
          <a:prstGeom prst="roundRect">
            <a:avLst>
              <a:gd name="adj" fmla="val 2353"/>
            </a:avLst>
          </a:prstGeom>
          <a:solidFill>
            <a:srgbClr val="F4F6F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7276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RNN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103120"/>
          <a:ext cx="4663440" cy="16002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Output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Params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SimpleRNN (128)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(16,128)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180,352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SimpleRNN (64)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(16,64)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12,352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TimeDist. Dense(64)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(16,64)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4,160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TimeDist. Dense(6)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(16,6)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390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914400" y="4297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</a:t>
            </a: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197,254 parameters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47548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Prone to vanishing gradients over longer sequences — limited long-range memory.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309360" y="1371600"/>
            <a:ext cx="5212080" cy="4663440"/>
          </a:xfrm>
          <a:prstGeom prst="roundRect">
            <a:avLst>
              <a:gd name="adj" fmla="val 2353"/>
            </a:avLst>
          </a:prstGeom>
          <a:solidFill>
            <a:srgbClr val="F4F6FC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0" y="157276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</a:t>
            </a:r>
            <a:endParaRPr lang="en-US" sz="20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2103120"/>
          <a:ext cx="4663440" cy="16002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Output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Params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LSTM (128)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(16,128)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721,408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LSTM (64)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(16,64)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49,408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TimeDist. Dense(64)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(16,64)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4,160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TimeDist. Dense(6)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(16,6)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390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6583680" y="4297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</a:t>
            </a: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775,366 parameters (≈ 4× RNN)</a:t>
            </a:r>
            <a:endParaRPr lang="en-US" sz="1400" dirty="0"/>
          </a:p>
        </p:txBody>
      </p:sp>
      <p:sp>
        <p:nvSpPr>
          <p:cNvPr id="5" name="Text 8"/>
          <p:cNvSpPr/>
          <p:nvPr/>
        </p:nvSpPr>
        <p:spPr>
          <a:xfrm>
            <a:off x="6583680" y="47548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memory cell mitigates vanishing gradients — better long-range retention.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85"/>
                </a:solidFill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Behaviour</a:t>
            </a:r>
            <a:endParaRPr lang="en-US" sz="3000" dirty="0"/>
          </a:p>
        </p:txBody>
      </p:sp>
      <p:pic>
        <p:nvPicPr>
          <p:cNvPr id="3" name="Image 0" descr="report_assets/fig_training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280160"/>
            <a:ext cx="10515600" cy="37069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5321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RNN: </a:t>
            </a: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 plateaus (~0.58–0.66) with rising validation loss — early overfitting.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LSTM: </a:t>
            </a: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smoother climb to a validation accuracy peak of 0.83, before early stopping restores the best epoch.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85"/>
                </a:solidFill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Comparison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640080" y="1280160"/>
          <a:ext cx="1088136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85"/>
                </a:solidFill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Analysis</a:t>
            </a:r>
            <a:endParaRPr lang="en-US" sz="3000" dirty="0"/>
          </a:p>
        </p:txBody>
      </p:sp>
      <p:pic>
        <p:nvPicPr>
          <p:cNvPr id="3" name="Image 0" descr="report_assets/fig_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2612" y="1143000"/>
            <a:ext cx="6206471" cy="5394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85"/>
                </a:solidFill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Finding: The Jogging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4663440"/>
          </a:xfrm>
          <a:prstGeom prst="roundRect">
            <a:avLst>
              <a:gd name="adj" fmla="val 2353"/>
            </a:avLst>
          </a:prstGeom>
          <a:solidFill>
            <a:srgbClr val="FCEBE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7276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32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A32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&amp; recall on ‘jogging’ — never predicted correctly, absorbed entirely into running/walking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1371600"/>
            <a:ext cx="5212080" cy="4663440"/>
          </a:xfrm>
          <a:prstGeom prst="roundRect">
            <a:avLst>
              <a:gd name="adj" fmla="val 2353"/>
            </a:avLst>
          </a:prstGeom>
          <a:solidFill>
            <a:srgbClr val="E7F3EC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57276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83680" y="20116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~40%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6583680" y="310896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on ‘jogging’ — correctly separates all three locomotion classes, none fully collapsed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6172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classify boxing, hand clapping, and hand waving with high accuracy — the gap is concentrated entirely in the locomotion classes, where distinguishing information is spread across the full sequence.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85"/>
                </a:solidFill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Time &amp; Model Size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731520" y="1371600"/>
          <a:ext cx="51206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6309360" y="1371600"/>
          <a:ext cx="51206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 1"/>
          <p:cNvSpPr/>
          <p:nvPr/>
        </p:nvSpPr>
        <p:spPr>
          <a:xfrm>
            <a:off x="731520" y="58978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trains ~2.2× slower and has ~4× more parameters — but both remain under a minute thanks to precomputed CNN features.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85"/>
                </a:solidFill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Robustness Test: Frame-Order Shuffle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models actually rely on frame order? We shuffled test-set frames and re-evaluated — no retraining.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822960" y="1737360"/>
          <a:ext cx="105156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85"/>
                </a:solidFill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Shuffle Test Reveals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4F6F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9164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– Temporal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931920" y="169164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0.758 → 0.758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92240" y="169164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 — decision at the final step is stable regardless of order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01752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– Temporal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931920" y="301752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0.675 → 0.625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301752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5 pts — but from an already weak, unstable baseline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20624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4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34340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– Averaging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931920" y="434340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drops (0.8–1.7 pts)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434340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averaging is inherently less order-sensitive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LSTM's advantage comes from better overall feature retention across the sequence — not strict dependence on frame ordering.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85"/>
                </a:solidFill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4572000" cy="45720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19072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64592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consistently outperforms RNN — F1-score 0.75–0.76 vs. 0.62–0.64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2560320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48716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concentrated in locomotion classes (jogging / running / walking), where motion unfolds over the full sequence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3401568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328416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evaluation gives a small, consistent edge over temporal evaluation, for both architectures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4242816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4169664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choice (RNN vs. LSTM) matters far more than aggregation-strategy choice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5084064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5010912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 test shows LSTM's edge comes from better feature retention, not strict frame-order dependence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85"/>
                </a:solidFill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120640" cy="2011680"/>
          </a:xfrm>
          <a:prstGeom prst="roundRect">
            <a:avLst>
              <a:gd name="adj" fmla="val 4545"/>
            </a:avLst>
          </a:prstGeom>
          <a:solidFill>
            <a:srgbClr val="F4F6F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91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Features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frame-differencing or optical flow to more directly test motion reliance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26480" y="1463040"/>
            <a:ext cx="5120640" cy="2011680"/>
          </a:xfrm>
          <a:prstGeom prst="roundRect">
            <a:avLst>
              <a:gd name="adj" fmla="val 4545"/>
            </a:avLst>
          </a:prstGeom>
          <a:solidFill>
            <a:srgbClr val="F4F6F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1691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Architectures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0" y="22402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GRUs and Transformer-based temporal encoders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840480"/>
            <a:ext cx="5120640" cy="2011680"/>
          </a:xfrm>
          <a:prstGeom prst="roundRect">
            <a:avLst>
              <a:gd name="adj" fmla="val 4545"/>
            </a:avLst>
          </a:prstGeom>
          <a:solidFill>
            <a:srgbClr val="F4F6F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069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46177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 upper MobileNetV2 layers for task-specific visual features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3840480"/>
            <a:ext cx="5120640" cy="2011680"/>
          </a:xfrm>
          <a:prstGeom prst="roundRect">
            <a:avLst>
              <a:gd name="adj" fmla="val 4545"/>
            </a:avLst>
          </a:prstGeom>
          <a:solidFill>
            <a:srgbClr val="F4F6F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4069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Datasets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00800" y="46177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dual-evaluation methodology on UCF50 / UCF101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85"/>
                </a:solidFill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029200" cy="50292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389120"/>
            <a:ext cx="4114800" cy="41148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7432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1613</Words>
  <Application>Microsoft Office PowerPoint</Application>
  <PresentationFormat>Widescreen</PresentationFormat>
  <Paragraphs>250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Dell</cp:lastModifiedBy>
  <cp:revision>2</cp:revision>
  <dcterms:created xsi:type="dcterms:W3CDTF">2026-07-11T17:09:01Z</dcterms:created>
  <dcterms:modified xsi:type="dcterms:W3CDTF">2026-07-12T06:40:24Z</dcterms:modified>
</cp:coreProperties>
</file>