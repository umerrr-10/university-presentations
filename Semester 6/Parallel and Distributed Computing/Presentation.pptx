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994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7B61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411480"/>
            <a:ext cx="914400" cy="228600"/>
          </a:xfrm>
          <a:prstGeom prst="line">
            <a:avLst/>
          </a:prstGeom>
          <a:noFill/>
          <a:ln w="15875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411480"/>
            <a:ext cx="548640" cy="640080"/>
          </a:xfrm>
          <a:prstGeom prst="line">
            <a:avLst/>
          </a:prstGeom>
          <a:noFill/>
          <a:ln w="15875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640080"/>
            <a:ext cx="548640" cy="731520"/>
          </a:xfrm>
          <a:prstGeom prst="line">
            <a:avLst/>
          </a:prstGeom>
          <a:noFill/>
          <a:ln w="15875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502920"/>
            <a:ext cx="457200" cy="548640"/>
          </a:xfrm>
          <a:prstGeom prst="line">
            <a:avLst/>
          </a:prstGeom>
          <a:noFill/>
          <a:ln w="15875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411480"/>
            <a:ext cx="182880" cy="1325880"/>
          </a:xfrm>
          <a:prstGeom prst="line">
            <a:avLst/>
          </a:prstGeom>
          <a:noFill/>
          <a:ln w="15875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371600"/>
            <a:ext cx="548640" cy="365760"/>
          </a:xfrm>
          <a:prstGeom prst="line">
            <a:avLst/>
          </a:prstGeom>
          <a:noFill/>
          <a:ln w="15875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051560"/>
            <a:ext cx="365760" cy="685800"/>
          </a:xfrm>
          <a:prstGeom prst="line">
            <a:avLst/>
          </a:prstGeom>
          <a:noFill/>
          <a:ln w="15875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0256" y="585216"/>
            <a:ext cx="109728" cy="109728"/>
          </a:xfrm>
          <a:prstGeom prst="ellipse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34656" y="356616"/>
            <a:ext cx="109728" cy="109728"/>
          </a:xfrm>
          <a:prstGeom prst="ellipse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83296" y="996696"/>
            <a:ext cx="109728" cy="109728"/>
          </a:xfrm>
          <a:prstGeom prst="ellipse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168896" y="1316736"/>
            <a:ext cx="109728" cy="109728"/>
          </a:xfrm>
          <a:prstGeom prst="ellipse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17536" y="1682496"/>
            <a:ext cx="109728" cy="109728"/>
          </a:xfrm>
          <a:prstGeom prst="ellipse">
            <a:avLst/>
          </a:prstGeom>
          <a:solidFill>
            <a:srgbClr val="00D4FF">
              <a:alpha val="90000"/>
            </a:srgbClr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&amp; DISTRIBUTED COMPUTING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1965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as Parallel Computing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45720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decentralized networks apply parallel and distributed computing principles to achieve secure, scalable consensus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4160520"/>
            <a:ext cx="8229600" cy="10973"/>
          </a:xfrm>
          <a:prstGeom prst="rect">
            <a:avLst/>
          </a:prstGeom>
          <a:solidFill>
            <a:srgbClr val="232B42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553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Sialkot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51460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14600" y="4553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0" y="4553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62940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629400" y="4553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Numra Mukhtar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704088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· University of Sialkot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1938528" cy="2331720"/>
          </a:xfrm>
          <a:prstGeom prst="roundRect">
            <a:avLst>
              <a:gd name="adj" fmla="val 3774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6404" y="2377440"/>
            <a:ext cx="777240" cy="77724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7403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Umer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77824" y="38679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3867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005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23744" y="2057400"/>
            <a:ext cx="1938528" cy="2331720"/>
          </a:xfrm>
          <a:prstGeom prst="roundRect">
            <a:avLst>
              <a:gd name="adj" fmla="val 3774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04388" y="2377440"/>
            <a:ext cx="777240" cy="77724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25740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96896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Irtisam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035808" y="38679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/>
        </p:spPr>
      </p:sp>
      <p:sp>
        <p:nvSpPr>
          <p:cNvPr id="18" name="Text 14"/>
          <p:cNvSpPr/>
          <p:nvPr/>
        </p:nvSpPr>
        <p:spPr>
          <a:xfrm>
            <a:off x="3035808" y="3867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006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81728" y="2057400"/>
            <a:ext cx="1938528" cy="2331720"/>
          </a:xfrm>
          <a:prstGeom prst="roundRect">
            <a:avLst>
              <a:gd name="adj" fmla="val 3774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262372" y="2377440"/>
            <a:ext cx="777240" cy="77724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5740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54880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Bilal Tariq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193792" y="38679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/>
        </p:spPr>
      </p:sp>
      <p:sp>
        <p:nvSpPr>
          <p:cNvPr id="24" name="Text 19"/>
          <p:cNvSpPr/>
          <p:nvPr/>
        </p:nvSpPr>
        <p:spPr>
          <a:xfrm>
            <a:off x="5193792" y="3867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007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839712" y="2057400"/>
            <a:ext cx="1938528" cy="2331720"/>
          </a:xfrm>
          <a:prstGeom prst="roundRect">
            <a:avLst>
              <a:gd name="adj" fmla="val 3774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20356" y="2377440"/>
            <a:ext cx="777240" cy="777240"/>
          </a:xfrm>
          <a:prstGeom prst="ellipse">
            <a:avLst/>
          </a:prstGeom>
          <a:solidFill>
            <a:srgbClr val="182238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257403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12864" y="33375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Ihtesham Ali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351776" y="38679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/>
        </p:spPr>
      </p:sp>
      <p:sp>
        <p:nvSpPr>
          <p:cNvPr id="30" name="Text 24"/>
          <p:cNvSpPr/>
          <p:nvPr/>
        </p:nvSpPr>
        <p:spPr>
          <a:xfrm>
            <a:off x="7351776" y="3867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Blockchain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618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Ledger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18928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 is a chain of blocks, where every block stores a batch of transaction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32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8072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authority owns it — copies of the ledger are shared across many computers, called nodes.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47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37216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linked to the previous one using cryptographic hashes, so past records can't be altered.</a:t>
            </a: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6D356E-7533-422B-A850-7E804A01564E}"/>
              </a:ext>
            </a:extLst>
          </p:cNvPr>
          <p:cNvGrpSpPr/>
          <p:nvPr/>
        </p:nvGrpSpPr>
        <p:grpSpPr>
          <a:xfrm>
            <a:off x="5600700" y="2313432"/>
            <a:ext cx="3246120" cy="868680"/>
            <a:chOff x="5989320" y="2377440"/>
            <a:chExt cx="3246120" cy="868680"/>
          </a:xfrm>
        </p:grpSpPr>
        <p:sp>
          <p:nvSpPr>
            <p:cNvPr id="16" name="Shape 14"/>
            <p:cNvSpPr/>
            <p:nvPr/>
          </p:nvSpPr>
          <p:spPr>
            <a:xfrm>
              <a:off x="5989320" y="2377440"/>
              <a:ext cx="868680" cy="868680"/>
            </a:xfrm>
            <a:prstGeom prst="roundRect">
              <a:avLst>
                <a:gd name="adj" fmla="val 10526"/>
              </a:avLst>
            </a:prstGeom>
            <a:solidFill>
              <a:srgbClr val="141B2E"/>
            </a:solidFill>
            <a:ln w="19050">
              <a:solidFill>
                <a:srgbClr val="232B42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20000"/>
                </a:srgbClr>
              </a:outerShdw>
            </a:effectLst>
          </p:spPr>
        </p:sp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0780" y="2505456"/>
              <a:ext cx="365760" cy="365760"/>
            </a:xfrm>
            <a:prstGeom prst="rect">
              <a:avLst/>
            </a:prstGeom>
          </p:spPr>
        </p:pic>
        <p:sp>
          <p:nvSpPr>
            <p:cNvPr id="18" name="Text 15"/>
            <p:cNvSpPr/>
            <p:nvPr/>
          </p:nvSpPr>
          <p:spPr>
            <a:xfrm>
              <a:off x="5989320" y="290779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B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Block 1</a:t>
              </a:r>
              <a:endParaRPr lang="en-US" sz="95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858000" y="2811780"/>
              <a:ext cx="320040" cy="914"/>
            </a:xfrm>
            <a:prstGeom prst="line">
              <a:avLst/>
            </a:prstGeom>
            <a:noFill/>
            <a:ln w="25400">
              <a:solidFill>
                <a:srgbClr val="00D4FF"/>
              </a:solidFill>
              <a:prstDash val="solid"/>
            </a:ln>
          </p:spPr>
        </p:sp>
        <p:sp>
          <p:nvSpPr>
            <p:cNvPr id="20" name="Shape 17"/>
            <p:cNvSpPr/>
            <p:nvPr/>
          </p:nvSpPr>
          <p:spPr>
            <a:xfrm>
              <a:off x="7178040" y="2377440"/>
              <a:ext cx="868680" cy="868680"/>
            </a:xfrm>
            <a:prstGeom prst="roundRect">
              <a:avLst>
                <a:gd name="adj" fmla="val 10526"/>
              </a:avLst>
            </a:prstGeom>
            <a:solidFill>
              <a:srgbClr val="141B2E"/>
            </a:solidFill>
            <a:ln w="19050">
              <a:solidFill>
                <a:srgbClr val="232B42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20000"/>
                </a:srgbClr>
              </a:outerShdw>
            </a:effectLst>
          </p:spPr>
        </p:sp>
        <p:pic>
          <p:nvPicPr>
            <p:cNvPr id="21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9500" y="2505456"/>
              <a:ext cx="365760" cy="365760"/>
            </a:xfrm>
            <a:prstGeom prst="rect">
              <a:avLst/>
            </a:prstGeom>
          </p:spPr>
        </p:pic>
        <p:sp>
          <p:nvSpPr>
            <p:cNvPr id="22" name="Text 18"/>
            <p:cNvSpPr/>
            <p:nvPr/>
          </p:nvSpPr>
          <p:spPr>
            <a:xfrm>
              <a:off x="7178040" y="290779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B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Block 2</a:t>
              </a:r>
              <a:endParaRPr lang="en-US" sz="950" dirty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8046720" y="2811780"/>
              <a:ext cx="320040" cy="914"/>
            </a:xfrm>
            <a:prstGeom prst="line">
              <a:avLst/>
            </a:prstGeom>
            <a:noFill/>
            <a:ln w="25400">
              <a:solidFill>
                <a:srgbClr val="00D4FF"/>
              </a:solidFill>
              <a:prstDash val="solid"/>
            </a:ln>
          </p:spPr>
        </p:sp>
        <p:sp>
          <p:nvSpPr>
            <p:cNvPr id="24" name="Shape 20"/>
            <p:cNvSpPr/>
            <p:nvPr/>
          </p:nvSpPr>
          <p:spPr>
            <a:xfrm>
              <a:off x="8366760" y="2377440"/>
              <a:ext cx="868680" cy="868680"/>
            </a:xfrm>
            <a:prstGeom prst="roundRect">
              <a:avLst>
                <a:gd name="adj" fmla="val 10526"/>
              </a:avLst>
            </a:prstGeom>
            <a:solidFill>
              <a:srgbClr val="141B2E"/>
            </a:solidFill>
            <a:ln w="19050">
              <a:solidFill>
                <a:srgbClr val="00D4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20000"/>
                </a:srgbClr>
              </a:outerShdw>
            </a:effectLst>
          </p:spPr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8220" y="2505456"/>
              <a:ext cx="365760" cy="365760"/>
            </a:xfrm>
            <a:prstGeom prst="rect">
              <a:avLst/>
            </a:prstGeom>
          </p:spPr>
        </p:pic>
        <p:sp>
          <p:nvSpPr>
            <p:cNvPr id="26" name="Text 21"/>
            <p:cNvSpPr/>
            <p:nvPr/>
          </p:nvSpPr>
          <p:spPr>
            <a:xfrm>
              <a:off x="8366760" y="290779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B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Block 3</a:t>
              </a:r>
              <a:endParaRPr lang="en-US" sz="950" dirty="0"/>
            </a:p>
          </p:txBody>
        </p:sp>
      </p:grpSp>
      <p:sp>
        <p:nvSpPr>
          <p:cNvPr id="27" name="Text 22"/>
          <p:cNvSpPr/>
          <p:nvPr/>
        </p:nvSpPr>
        <p:spPr>
          <a:xfrm>
            <a:off x="57607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block references the hash of the one before it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FOUNDATIONS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&amp; Distributed Computing Basics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293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728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Computing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34440" y="2039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processors execute multiple tasks at the same time, splitting one big job into smaller ones to finish faster.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715768"/>
            <a:ext cx="566928" cy="566928"/>
          </a:xfrm>
          <a:prstGeom prst="ellipse">
            <a:avLst/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8620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660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Computing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234440" y="29718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computers, called nodes, connect over a network and work together as if they were a single system.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648456"/>
            <a:ext cx="566928" cy="566928"/>
          </a:xfrm>
          <a:prstGeom prst="ellipse">
            <a:avLst/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794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593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Blockchain Fits In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234440" y="39044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combines both ideas: many distributed nodes process and validate transactions in parallel.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403604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403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CORE CONCEPT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as a Distributed Parallel System</a:t>
            </a:r>
            <a:endParaRPr lang="en-US" sz="3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13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7282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keeps a full copy of the ledger and works on it independently.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7860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5054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nodes validate transactions and mine new blocks at the same time  that's the parallel part.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5584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2826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then reaches agreement through consensus, similar to synchronization between processors.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132320" y="1992206"/>
            <a:ext cx="914" cy="1417320"/>
          </a:xfrm>
          <a:prstGeom prst="line">
            <a:avLst/>
          </a:prstGeom>
          <a:noFill/>
          <a:ln w="15875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950354" y="1837944"/>
            <a:ext cx="365760" cy="365760"/>
          </a:xfrm>
          <a:prstGeom prst="ellipse">
            <a:avLst/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794" y="1938528"/>
            <a:ext cx="182880" cy="18288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849190C-DBBC-43A7-8BE0-18DAA4D4CB71}"/>
              </a:ext>
            </a:extLst>
          </p:cNvPr>
          <p:cNvGrpSpPr/>
          <p:nvPr/>
        </p:nvGrpSpPr>
        <p:grpSpPr>
          <a:xfrm>
            <a:off x="5258714" y="2656501"/>
            <a:ext cx="3749040" cy="1645920"/>
            <a:chOff x="5257800" y="1828800"/>
            <a:chExt cx="3749040" cy="1645920"/>
          </a:xfrm>
        </p:grpSpPr>
        <p:sp>
          <p:nvSpPr>
            <p:cNvPr id="13" name="Shape 8"/>
            <p:cNvSpPr/>
            <p:nvPr/>
          </p:nvSpPr>
          <p:spPr>
            <a:xfrm>
              <a:off x="5715000" y="2011680"/>
              <a:ext cx="1417320" cy="822960"/>
            </a:xfrm>
            <a:prstGeom prst="line">
              <a:avLst/>
            </a:prstGeom>
            <a:noFill/>
            <a:ln w="15875">
              <a:solidFill>
                <a:srgbClr val="00D4FF">
                  <a:alpha val="75000"/>
                </a:srgbClr>
              </a:solidFill>
              <a:prstDash val="solid"/>
            </a:ln>
          </p:spPr>
        </p:sp>
        <p:sp>
          <p:nvSpPr>
            <p:cNvPr id="14" name="Shape 9"/>
            <p:cNvSpPr/>
            <p:nvPr/>
          </p:nvSpPr>
          <p:spPr>
            <a:xfrm>
              <a:off x="7132320" y="2011680"/>
              <a:ext cx="1417320" cy="822960"/>
            </a:xfrm>
            <a:prstGeom prst="line">
              <a:avLst/>
            </a:prstGeom>
            <a:noFill/>
            <a:ln w="15875">
              <a:solidFill>
                <a:srgbClr val="00D4FF">
                  <a:alpha val="75000"/>
                </a:srgbClr>
              </a:solidFill>
              <a:prstDash val="solid"/>
            </a:ln>
          </p:spPr>
        </p:sp>
        <p:sp>
          <p:nvSpPr>
            <p:cNvPr id="15" name="Shape 10"/>
            <p:cNvSpPr/>
            <p:nvPr/>
          </p:nvSpPr>
          <p:spPr>
            <a:xfrm>
              <a:off x="5440680" y="2834640"/>
              <a:ext cx="1691640" cy="457200"/>
            </a:xfrm>
            <a:prstGeom prst="line">
              <a:avLst/>
            </a:prstGeom>
            <a:noFill/>
            <a:ln w="15875">
              <a:solidFill>
                <a:srgbClr val="00D4FF">
                  <a:alpha val="75000"/>
                </a:srgbClr>
              </a:solidFill>
              <a:prstDash val="solid"/>
            </a:ln>
          </p:spPr>
        </p:sp>
        <p:sp>
          <p:nvSpPr>
            <p:cNvPr id="16" name="Shape 11"/>
            <p:cNvSpPr/>
            <p:nvPr/>
          </p:nvSpPr>
          <p:spPr>
            <a:xfrm>
              <a:off x="7132320" y="2834640"/>
              <a:ext cx="1691640" cy="457200"/>
            </a:xfrm>
            <a:prstGeom prst="line">
              <a:avLst/>
            </a:prstGeom>
            <a:noFill/>
            <a:ln w="15875">
              <a:solidFill>
                <a:srgbClr val="00D4FF">
                  <a:alpha val="75000"/>
                </a:srgbClr>
              </a:solidFill>
              <a:prstDash val="solid"/>
            </a:ln>
          </p:spPr>
        </p:sp>
        <p:sp>
          <p:nvSpPr>
            <p:cNvPr id="18" name="Shape 13"/>
            <p:cNvSpPr/>
            <p:nvPr/>
          </p:nvSpPr>
          <p:spPr>
            <a:xfrm>
              <a:off x="5532120" y="1828800"/>
              <a:ext cx="365760" cy="365760"/>
            </a:xfrm>
            <a:prstGeom prst="ellipse">
              <a:avLst/>
            </a:prstGeom>
            <a:solidFill>
              <a:srgbClr val="141B2E"/>
            </a:solidFill>
            <a:ln w="15875">
              <a:solidFill>
                <a:srgbClr val="00D4FF"/>
              </a:solidFill>
              <a:prstDash val="solid"/>
            </a:ln>
          </p:spPr>
        </p:sp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3560" y="1920240"/>
              <a:ext cx="182880" cy="182880"/>
            </a:xfrm>
            <a:prstGeom prst="rect">
              <a:avLst/>
            </a:prstGeom>
          </p:spPr>
        </p:pic>
        <p:sp>
          <p:nvSpPr>
            <p:cNvPr id="20" name="Shape 14"/>
            <p:cNvSpPr/>
            <p:nvPr/>
          </p:nvSpPr>
          <p:spPr>
            <a:xfrm>
              <a:off x="8366760" y="1828800"/>
              <a:ext cx="365760" cy="365760"/>
            </a:xfrm>
            <a:prstGeom prst="ellipse">
              <a:avLst/>
            </a:prstGeom>
            <a:solidFill>
              <a:srgbClr val="141B2E"/>
            </a:solidFill>
            <a:ln w="15875">
              <a:solidFill>
                <a:srgbClr val="00D4FF"/>
              </a:solidFill>
              <a:prstDash val="solid"/>
            </a:ln>
          </p:spPr>
        </p:sp>
        <p:pic>
          <p:nvPicPr>
            <p:cNvPr id="21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8200" y="1920240"/>
              <a:ext cx="182880" cy="182880"/>
            </a:xfrm>
            <a:prstGeom prst="rect">
              <a:avLst/>
            </a:prstGeom>
          </p:spPr>
        </p:pic>
        <p:sp>
          <p:nvSpPr>
            <p:cNvPr id="22" name="Shape 15"/>
            <p:cNvSpPr/>
            <p:nvPr/>
          </p:nvSpPr>
          <p:spPr>
            <a:xfrm>
              <a:off x="5257800" y="3108960"/>
              <a:ext cx="365760" cy="365760"/>
            </a:xfrm>
            <a:prstGeom prst="ellipse">
              <a:avLst/>
            </a:prstGeom>
            <a:solidFill>
              <a:srgbClr val="141B2E"/>
            </a:solidFill>
            <a:ln w="15875">
              <a:solidFill>
                <a:srgbClr val="00D4FF"/>
              </a:solidFill>
              <a:prstDash val="solid"/>
            </a:ln>
          </p:spPr>
        </p:sp>
        <p:pic>
          <p:nvPicPr>
            <p:cNvPr id="23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9240" y="3200400"/>
              <a:ext cx="182880" cy="182880"/>
            </a:xfrm>
            <a:prstGeom prst="rect">
              <a:avLst/>
            </a:prstGeom>
          </p:spPr>
        </p:pic>
        <p:sp>
          <p:nvSpPr>
            <p:cNvPr id="24" name="Shape 16"/>
            <p:cNvSpPr/>
            <p:nvPr/>
          </p:nvSpPr>
          <p:spPr>
            <a:xfrm>
              <a:off x="8641080" y="3108960"/>
              <a:ext cx="365760" cy="365760"/>
            </a:xfrm>
            <a:prstGeom prst="ellipse">
              <a:avLst/>
            </a:prstGeom>
            <a:solidFill>
              <a:srgbClr val="141B2E"/>
            </a:solidFill>
            <a:ln w="15875">
              <a:solidFill>
                <a:srgbClr val="00D4FF"/>
              </a:solidFill>
              <a:prstDash val="solid"/>
            </a:ln>
          </p:spPr>
        </p:sp>
        <p:pic>
          <p:nvPicPr>
            <p:cNvPr id="25" name="Image 6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2520" y="3200400"/>
              <a:ext cx="182880" cy="182880"/>
            </a:xfrm>
            <a:prstGeom prst="rect">
              <a:avLst/>
            </a:prstGeom>
          </p:spPr>
        </p:pic>
        <p:sp>
          <p:nvSpPr>
            <p:cNvPr id="28" name="Shape 18"/>
            <p:cNvSpPr/>
            <p:nvPr/>
          </p:nvSpPr>
          <p:spPr>
            <a:xfrm>
              <a:off x="6876288" y="2578608"/>
              <a:ext cx="512064" cy="512064"/>
            </a:xfrm>
            <a:prstGeom prst="ellipse">
              <a:avLst/>
            </a:prstGeom>
            <a:solidFill>
              <a:srgbClr val="7B61FF"/>
            </a:solidFill>
            <a:ln/>
            <a:effectLst>
              <a:outerShdw blurRad="152400" dist="50800" dir="16200000" algn="bl" rotWithShape="0">
                <a:srgbClr val="7B61FF">
                  <a:alpha val="50000"/>
                </a:srgbClr>
              </a:outerShdw>
            </a:effectLst>
          </p:spPr>
        </p:sp>
        <p:pic>
          <p:nvPicPr>
            <p:cNvPr id="29" name="Image 8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4304" y="2706624"/>
              <a:ext cx="256032" cy="256032"/>
            </a:xfrm>
            <a:prstGeom prst="rect">
              <a:avLst/>
            </a:prstGeom>
          </p:spPr>
        </p:pic>
      </p:grpSp>
      <p:sp>
        <p:nvSpPr>
          <p:cNvPr id="30" name="Text 19"/>
          <p:cNvSpPr/>
          <p:nvPr/>
        </p:nvSpPr>
        <p:spPr>
          <a:xfrm>
            <a:off x="55778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nodes, each holding a full ledger copy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403604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403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Architecture &amp; Node Types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type plays a different role, but all operate independently and in parallel across the network.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6712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281428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Nodes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8016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entire blockchain history and independently verify every transaction and block.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9659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0328" y="216712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228142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 / Validator Nodes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53212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or get selected in parallel to create new blocks and earn rewards.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5661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376732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388162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Nodes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280160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only block headers and rely on full nodes for detailed transaction data.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5661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10328" y="376732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628" y="3881628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Network Layer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532120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all nodes directly, letting them broadcast blocks and transactions without a central server.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CONSENSUS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Mechanisms: PoW vs PoS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is how distributed nodes agree on the valid state of the ledger, without a central referee.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631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1762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Work (PoW)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Miners across many nodes compete in parallel to solve a cryptographic puzzle.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parallel hashing power secures the network.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solve it broadcasts the new block.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Bitcoin.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92024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141B2E"/>
          </a:solidFill>
          <a:ln w="15875">
            <a:solidFill>
              <a:srgbClr val="7B61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83480" y="2148840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22631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21762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Stake (PoS)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29200" y="278892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are chosen based on the amount of cryptocurrency they stake.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heavy parallel computation while keeping distributed validation.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energy-efficient than PoW.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Ethereum (post-Merge).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869948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869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PARALLEL EXECUTION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as Parallel Computation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099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Miners run parallel hash computations across thousands of machines, all trying to find a valid block hash.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328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farms use large numbers of ASIC or GPU processing units working simultaneously.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355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node solves the puzzle first broadcasts its block to the rest of the network.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82238"/>
          </a:solidFill>
          <a:ln w="15875">
            <a:solidFill>
              <a:srgbClr val="00D4FF"/>
            </a:solidFill>
            <a:prstDash val="solid"/>
          </a:ln>
          <a:effectLst>
            <a:outerShdw blurRad="177800" dist="50800" dir="16200000" algn="bl" rotWithShape="0">
              <a:srgbClr val="00D4FF">
                <a:alpha val="18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08483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3504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Exahash-Scale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035040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Hashing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1792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Bitcoin's network performs quintillions of parallel hash attempts every second, worldwide.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869948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869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PARALLEL EXECUTION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Transaction Processing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293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728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 Verification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34440" y="2039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 are checked at the same time by different nodes before being grouped into a block.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715768"/>
            <a:ext cx="566928" cy="566928"/>
          </a:xfrm>
          <a:prstGeom prst="ellipse">
            <a:avLst/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8620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660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Multi-Core Validation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234440" y="29718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and balance checks run in parallel across CPU cores, speeding up block preparation.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648456"/>
            <a:ext cx="566928" cy="566928"/>
          </a:xfrm>
          <a:prstGeom prst="ellipse">
            <a:avLst/>
          </a:prstGeom>
          <a:solidFill>
            <a:srgbClr val="141B2E"/>
          </a:solidFill>
          <a:ln w="15875">
            <a:solidFill>
              <a:srgbClr val="00D4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794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593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Multi-Threaded Execution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234440" y="39044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blockchains like Solana execute non-conflicting transactions in parallel using multi-threading.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SCALABILITY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Sharding for Scalability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37854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splits the network into smaller partitions, each processing its own transactions in parallel.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3436" y="3575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</a:t>
            </a:r>
            <a:endParaRPr lang="en-US" sz="10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095DC9-4547-4786-B60D-0C4E7FAD55AC}"/>
              </a:ext>
            </a:extLst>
          </p:cNvPr>
          <p:cNvGrpSpPr/>
          <p:nvPr/>
        </p:nvGrpSpPr>
        <p:grpSpPr>
          <a:xfrm>
            <a:off x="611293" y="2139696"/>
            <a:ext cx="4937760" cy="2286000"/>
            <a:chOff x="822960" y="1691640"/>
            <a:chExt cx="4937760" cy="2286000"/>
          </a:xfrm>
        </p:grpSpPr>
        <p:sp>
          <p:nvSpPr>
            <p:cNvPr id="8" name="Shape 6"/>
            <p:cNvSpPr/>
            <p:nvPr/>
          </p:nvSpPr>
          <p:spPr>
            <a:xfrm>
              <a:off x="822960" y="2103120"/>
              <a:ext cx="822960" cy="822960"/>
            </a:xfrm>
            <a:prstGeom prst="ellipse">
              <a:avLst/>
            </a:prstGeom>
            <a:solidFill>
              <a:srgbClr val="182238"/>
            </a:solidFill>
            <a:ln w="19050">
              <a:solidFill>
                <a:srgbClr val="00D4FF"/>
              </a:solidFill>
              <a:prstDash val="solid"/>
            </a:ln>
          </p:spPr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4128" y="2304288"/>
              <a:ext cx="420624" cy="420624"/>
            </a:xfrm>
            <a:prstGeom prst="rect">
              <a:avLst/>
            </a:prstGeom>
          </p:spPr>
        </p:pic>
        <p:sp>
          <p:nvSpPr>
            <p:cNvPr id="11" name="Shape 8"/>
            <p:cNvSpPr/>
            <p:nvPr/>
          </p:nvSpPr>
          <p:spPr>
            <a:xfrm>
              <a:off x="1645920" y="2514600"/>
              <a:ext cx="2286000" cy="320040"/>
            </a:xfrm>
            <a:prstGeom prst="line">
              <a:avLst/>
            </a:prstGeom>
            <a:noFill/>
            <a:ln w="12700">
              <a:solidFill>
                <a:srgbClr val="00D4FF">
                  <a:alpha val="65000"/>
                </a:srgbClr>
              </a:solidFill>
              <a:prstDash val="solid"/>
            </a:ln>
          </p:spPr>
        </p:sp>
        <p:sp>
          <p:nvSpPr>
            <p:cNvPr id="12" name="Shape 9"/>
            <p:cNvSpPr/>
            <p:nvPr/>
          </p:nvSpPr>
          <p:spPr>
            <a:xfrm>
              <a:off x="3931920" y="1691640"/>
              <a:ext cx="1828800" cy="640080"/>
            </a:xfrm>
            <a:prstGeom prst="roundRect">
              <a:avLst>
                <a:gd name="adj" fmla="val 11429"/>
              </a:avLst>
            </a:prstGeom>
            <a:solidFill>
              <a:srgbClr val="141B2E"/>
            </a:solidFill>
            <a:ln w="12700">
              <a:solidFill>
                <a:srgbClr val="232B42"/>
              </a:solidFill>
              <a:prstDash val="solid"/>
            </a:ln>
          </p:spPr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6512" y="1883664"/>
              <a:ext cx="256032" cy="256032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4462272" y="1691640"/>
              <a:ext cx="12344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Shard A</a:t>
              </a:r>
              <a:endParaRPr lang="en-US" sz="1200" dirty="0"/>
            </a:p>
          </p:txBody>
        </p:sp>
        <p:sp>
          <p:nvSpPr>
            <p:cNvPr id="15" name="Shape 11"/>
            <p:cNvSpPr/>
            <p:nvPr/>
          </p:nvSpPr>
          <p:spPr>
            <a:xfrm flipV="1">
              <a:off x="1645920" y="2029968"/>
              <a:ext cx="2286000" cy="484632"/>
            </a:xfrm>
            <a:prstGeom prst="line">
              <a:avLst/>
            </a:prstGeom>
            <a:noFill/>
            <a:ln w="12700">
              <a:solidFill>
                <a:srgbClr val="00D4FF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2"/>
            <p:cNvSpPr/>
            <p:nvPr/>
          </p:nvSpPr>
          <p:spPr>
            <a:xfrm>
              <a:off x="3931920" y="2514600"/>
              <a:ext cx="1828800" cy="640080"/>
            </a:xfrm>
            <a:prstGeom prst="roundRect">
              <a:avLst>
                <a:gd name="adj" fmla="val 11429"/>
              </a:avLst>
            </a:prstGeom>
            <a:solidFill>
              <a:srgbClr val="141B2E"/>
            </a:solidFill>
            <a:ln w="12700">
              <a:solidFill>
                <a:srgbClr val="232B42"/>
              </a:solidFill>
              <a:prstDash val="solid"/>
            </a:ln>
          </p:spPr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6512" y="2706624"/>
              <a:ext cx="256032" cy="256032"/>
            </a:xfrm>
            <a:prstGeom prst="rect">
              <a:avLst/>
            </a:prstGeom>
          </p:spPr>
        </p:pic>
        <p:sp>
          <p:nvSpPr>
            <p:cNvPr id="18" name="Text 13"/>
            <p:cNvSpPr/>
            <p:nvPr/>
          </p:nvSpPr>
          <p:spPr>
            <a:xfrm>
              <a:off x="4462272" y="2514600"/>
              <a:ext cx="12344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Shard B</a:t>
              </a:r>
              <a:endParaRPr lang="en-US" sz="1200" dirty="0"/>
            </a:p>
          </p:txBody>
        </p:sp>
        <p:sp>
          <p:nvSpPr>
            <p:cNvPr id="19" name="Shape 14"/>
            <p:cNvSpPr/>
            <p:nvPr/>
          </p:nvSpPr>
          <p:spPr>
            <a:xfrm>
              <a:off x="1645920" y="2514600"/>
              <a:ext cx="2286000" cy="1143000"/>
            </a:xfrm>
            <a:prstGeom prst="line">
              <a:avLst/>
            </a:prstGeom>
            <a:noFill/>
            <a:ln w="12700">
              <a:solidFill>
                <a:srgbClr val="00D4FF">
                  <a:alpha val="65000"/>
                </a:srgbClr>
              </a:solidFill>
              <a:prstDash val="solid"/>
            </a:ln>
          </p:spPr>
        </p:sp>
        <p:sp>
          <p:nvSpPr>
            <p:cNvPr id="20" name="Shape 15"/>
            <p:cNvSpPr/>
            <p:nvPr/>
          </p:nvSpPr>
          <p:spPr>
            <a:xfrm>
              <a:off x="3931920" y="3337560"/>
              <a:ext cx="1828800" cy="640080"/>
            </a:xfrm>
            <a:prstGeom prst="roundRect">
              <a:avLst>
                <a:gd name="adj" fmla="val 11429"/>
              </a:avLst>
            </a:prstGeom>
            <a:solidFill>
              <a:srgbClr val="141B2E"/>
            </a:solidFill>
            <a:ln w="12700">
              <a:solidFill>
                <a:srgbClr val="232B42"/>
              </a:solidFill>
              <a:prstDash val="solid"/>
            </a:ln>
          </p:spPr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6512" y="3529584"/>
              <a:ext cx="256032" cy="256032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4462272" y="3337560"/>
              <a:ext cx="12344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Shard C</a:t>
              </a:r>
              <a:endParaRPr lang="en-US" sz="1200" dirty="0"/>
            </a:p>
          </p:txBody>
        </p:sp>
      </p:grpSp>
      <p:sp>
        <p:nvSpPr>
          <p:cNvPr id="23" name="Text 17"/>
          <p:cNvSpPr/>
          <p:nvPr/>
        </p:nvSpPr>
        <p:spPr>
          <a:xfrm>
            <a:off x="6263640" y="196596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shard handles its own subset of transactions and smart contracts independently.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periodically combined to keep the overall ledger consistent.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central to Ethereum's scaling roadmap.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869948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869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PARALLEL EXECUTION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Parallel Execution</a:t>
            </a:r>
            <a:endParaRPr lang="en-US" sz="3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13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7282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are self-executing code stored directly on the blockchain.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7004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59689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blockchains run contracts sequentially, one at a time, which limits speed.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3872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46557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platforms like Solana, Aptos, and Sui use parallel execution engines to run independent contracts at the same time.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08076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9659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47688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Lanes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81928" y="2468880"/>
            <a:ext cx="2203704" cy="502920"/>
          </a:xfrm>
          <a:prstGeom prst="roundRect">
            <a:avLst>
              <a:gd name="adj" fmla="val 10909"/>
            </a:avLst>
          </a:prstGeom>
          <a:solidFill>
            <a:srgbClr val="182238"/>
          </a:solidFill>
          <a:ln w="9525">
            <a:solidFill>
              <a:srgbClr val="7B61F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46520" y="2468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596896"/>
            <a:ext cx="246888" cy="24688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281928" y="3154680"/>
            <a:ext cx="2203704" cy="502920"/>
          </a:xfrm>
          <a:prstGeom prst="roundRect">
            <a:avLst>
              <a:gd name="adj" fmla="val 10909"/>
            </a:avLst>
          </a:prstGeom>
          <a:solidFill>
            <a:srgbClr val="182238"/>
          </a:solidFill>
          <a:ln w="9525">
            <a:solidFill>
              <a:srgbClr val="7B61FF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446520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3282696"/>
            <a:ext cx="246888" cy="24688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281928" y="3840480"/>
            <a:ext cx="2203704" cy="502920"/>
          </a:xfrm>
          <a:prstGeom prst="roundRect">
            <a:avLst>
              <a:gd name="adj" fmla="val 10909"/>
            </a:avLst>
          </a:prstGeom>
          <a:solidFill>
            <a:srgbClr val="182238"/>
          </a:solidFill>
          <a:ln w="9525">
            <a:solidFill>
              <a:srgbClr val="7B61F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6446520" y="3840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3968496"/>
            <a:ext cx="246888" cy="2468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80760" y="4297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simultaneously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937260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93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IMPACT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Parallelism in Blockchain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1D6B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8424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09854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947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Throughput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80160" y="2240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transactions processed per second across the network.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783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1D6B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0328" y="198424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209854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947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Scalability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532120" y="2240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can grow without every node becoming a bottleneck.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3832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1D6B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358444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369874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547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Confirmation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28016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and block confirmation happen more quickly.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09160" y="33832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1D6B5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10328" y="3584448"/>
            <a:ext cx="457200" cy="457200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628" y="3698748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3547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Resources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53212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power across distributed nodes is used effectively.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4828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1248156" cy="292608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1248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CHALLENGES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computation in parallel across a decentralized network also introduces real trade-offs.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41B2E"/>
          </a:solidFill>
          <a:ln w="12700">
            <a:solidFill>
              <a:srgbClr val="3A22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039112"/>
            <a:ext cx="384048" cy="384048"/>
          </a:xfrm>
          <a:prstGeom prst="ellipse">
            <a:avLst/>
          </a:prstGeom>
          <a:solidFill>
            <a:srgbClr val="182238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39696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97510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Synchronization Overhead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57600" y="197510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agreement between many parallel nodes takes time and network bandwidth.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57200" y="263347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41B2E"/>
          </a:solidFill>
          <a:ln w="12700">
            <a:solidFill>
              <a:srgbClr val="3A22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2752344"/>
            <a:ext cx="384048" cy="384048"/>
          </a:xfrm>
          <a:prstGeom prst="ellipse">
            <a:avLst/>
          </a:prstGeom>
          <a:solidFill>
            <a:srgbClr val="182238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852928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68833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657600" y="268833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can temporarily disagree on the latest block, creating competing chains until consensus resolves it.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457200" y="334670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41B2E"/>
          </a:solidFill>
          <a:ln w="12700">
            <a:solidFill>
              <a:srgbClr val="3A223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" y="3465576"/>
            <a:ext cx="384048" cy="384048"/>
          </a:xfrm>
          <a:prstGeom prst="ellipse">
            <a:avLst/>
          </a:prstGeom>
          <a:solidFill>
            <a:srgbClr val="182238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56616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4015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Energy Use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3657600" y="340156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 style parallel mining consumes large amounts of electricity.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457200" y="405993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41B2E"/>
          </a:solidFill>
          <a:ln w="12700">
            <a:solidFill>
              <a:srgbClr val="3A223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" y="4178808"/>
            <a:ext cx="384048" cy="384048"/>
          </a:xfrm>
          <a:prstGeom prst="ellipse">
            <a:avLst/>
          </a:prstGeom>
          <a:solidFill>
            <a:srgbClr val="182238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279392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41148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Cross-Shard Risks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3657600" y="411480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shards can introduce security and consistency challenges.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926080"/>
            <a:ext cx="5486400" cy="5486400"/>
          </a:xfrm>
          <a:prstGeom prst="ellipse">
            <a:avLst/>
          </a:prstGeom>
          <a:solidFill>
            <a:srgbClr val="7B61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2286000"/>
            <a:ext cx="5029200" cy="5029200"/>
          </a:xfrm>
          <a:prstGeom prst="ellipse">
            <a:avLst/>
          </a:prstGeom>
          <a:solidFill>
            <a:srgbClr val="00D4FF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 &amp; 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41B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65960"/>
            <a:ext cx="438912" cy="438912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7568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96596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3232" y="2496312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parallel execution engine (Sealevel) to process many non-conflicting transactions at once, reaching very high throughput.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41B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56048" y="1965960"/>
            <a:ext cx="438912" cy="438912"/>
          </a:xfrm>
          <a:prstGeom prst="ellipse">
            <a:avLst/>
          </a:prstGeom>
          <a:solidFill>
            <a:srgbClr val="182238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07568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96596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2.0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010912" y="2496312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sharding to split network load across parallel partitions as part of its scaling roadmap.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82238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94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56616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puts core parallel and distributed computing principles — decentralization, concurrency, and synchronization — to work, building systems that are secure, fault-tolerant, and increasingly scalable.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1004</Words>
  <Application>Microsoft Office PowerPoint</Application>
  <PresentationFormat>On-screen Show (16:9)</PresentationFormat>
  <Paragraphs>173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as Parallel Computing</dc:title>
  <dc:subject>PptxGenJS Presentation</dc:subject>
  <dc:creator>Muhammad Umer</dc:creator>
  <cp:lastModifiedBy>Dell</cp:lastModifiedBy>
  <cp:revision>6</cp:revision>
  <dcterms:created xsi:type="dcterms:W3CDTF">2026-07-03T05:45:22Z</dcterms:created>
  <dcterms:modified xsi:type="dcterms:W3CDTF">2026-07-16T01:37:53Z</dcterms:modified>
</cp:coreProperties>
</file>