
<file path=[Content_Types].xml><?xml version="1.0" encoding="utf-8"?>
<Types xmlns="http://schemas.openxmlformats.org/package/2006/content-types">
  <Default Extension="png" ContentType="image/png"/>
  <Default Extension="jfif" ContentType="image/jpe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16"/>
  </p:notesMasterIdLst>
  <p:sldIdLst>
    <p:sldId id="257" r:id="rId2"/>
    <p:sldId id="259" r:id="rId3"/>
    <p:sldId id="258" r:id="rId4"/>
    <p:sldId id="261" r:id="rId5"/>
    <p:sldId id="262" r:id="rId6"/>
    <p:sldId id="265" r:id="rId7"/>
    <p:sldId id="263" r:id="rId8"/>
    <p:sldId id="266" r:id="rId9"/>
    <p:sldId id="267" r:id="rId10"/>
    <p:sldId id="268" r:id="rId11"/>
    <p:sldId id="270" r:id="rId12"/>
    <p:sldId id="269" r:id="rId13"/>
    <p:sldId id="264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198C82-DA3F-4A6D-8160-F22ECF418540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16F0A-B4DB-43B1-AA1C-B50339EB2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504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80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60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7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95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0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06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726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7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611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69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5675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555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706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69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76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105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380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3748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390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1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43D85F0-0AB5-4F73-8305-FB65BF456E8C}" type="datetimeFigureOut">
              <a:rPr lang="en-US" smtClean="0"/>
              <a:t>23-Jan-25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C06C377-734B-4D5A-8CE8-41D0CCFB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1599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fif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f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79B2-DB31-4DC8-96F3-811209DBBE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410E77-FB81-405D-B432-378C517569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A074B6-D627-4662-9ECA-5426EAF2C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"/>
            <a:ext cx="12192000" cy="685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4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18C4-378D-44D3-9FC8-7DDDCBB54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04" y="231960"/>
            <a:ext cx="10515600" cy="1410409"/>
          </a:xfrm>
        </p:spPr>
        <p:txBody>
          <a:bodyPr>
            <a:normAutofit/>
          </a:bodyPr>
          <a:lstStyle/>
          <a:p>
            <a:pPr algn="just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Topic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250E2-C321-4722-B1FC-CBB5D73DD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301" y="1781236"/>
            <a:ext cx="10515600" cy="4351338"/>
          </a:xfrm>
        </p:spPr>
        <p:txBody>
          <a:bodyPr/>
          <a:lstStyle/>
          <a:p>
            <a:r>
              <a:rPr lang="en-US" sz="40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Use Case and Sequence Diagrams in Software Engineering</a:t>
            </a:r>
            <a:endParaRPr lang="en-US" sz="4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22323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201B5-69B1-40E3-BB24-CC18BCE4C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774" y="581575"/>
            <a:ext cx="10353762" cy="1150874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A92F0-3FFF-4980-B130-F94314838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774" y="1908699"/>
            <a:ext cx="10430107" cy="4051177"/>
          </a:xfrm>
        </p:spPr>
        <p:txBody>
          <a:bodyPr/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IRTISAM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FATIMA NASIR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RIZWA ASAD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ALISHA CHAUDHARY</a:t>
            </a:r>
          </a:p>
          <a:p>
            <a:pPr algn="r"/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915DBB-B98A-4EA7-AF3A-9611E05F57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269" y="1054222"/>
            <a:ext cx="3882501" cy="23747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461C51-42D2-4290-9BA6-69FD4BF83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655" y="4501788"/>
            <a:ext cx="2609850" cy="1752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4A26EA-37ED-4C5C-988E-81D569E539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430" y="3072274"/>
            <a:ext cx="2647950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64786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92" y="1077119"/>
            <a:ext cx="6297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Purpose and Benefits of Use Case Diagrams</a:t>
            </a:r>
            <a:endParaRPr lang="en-US" sz="3708" dirty="0"/>
          </a:p>
        </p:txBody>
      </p:sp>
      <p:sp>
        <p:nvSpPr>
          <p:cNvPr id="4" name="Shape 1"/>
          <p:cNvSpPr/>
          <p:nvPr/>
        </p:nvSpPr>
        <p:spPr>
          <a:xfrm>
            <a:off x="661492" y="2754511"/>
            <a:ext cx="330696" cy="330696"/>
          </a:xfrm>
          <a:prstGeom prst="roundRect">
            <a:avLst>
              <a:gd name="adj" fmla="val 8574"/>
            </a:avLst>
          </a:prstGeom>
          <a:solidFill>
            <a:srgbClr val="3C3C3A"/>
          </a:solidFill>
          <a:ln/>
        </p:spPr>
      </p:sp>
      <p:sp>
        <p:nvSpPr>
          <p:cNvPr id="5" name="Text 2"/>
          <p:cNvSpPr/>
          <p:nvPr/>
        </p:nvSpPr>
        <p:spPr>
          <a:xfrm>
            <a:off x="1181200" y="2754511"/>
            <a:ext cx="253434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System Functionality</a:t>
            </a:r>
            <a:endParaRPr lang="en-US" sz="1833" dirty="0"/>
          </a:p>
        </p:txBody>
      </p:sp>
      <p:sp>
        <p:nvSpPr>
          <p:cNvPr id="6" name="Text 3"/>
          <p:cNvSpPr/>
          <p:nvPr/>
        </p:nvSpPr>
        <p:spPr>
          <a:xfrm>
            <a:off x="1181200" y="3458468"/>
            <a:ext cx="2534344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Capture the intended behavior of a system from the user's perspective.</a:t>
            </a:r>
            <a:endParaRPr lang="en-US" sz="1458" dirty="0"/>
          </a:p>
        </p:txBody>
      </p:sp>
      <p:sp>
        <p:nvSpPr>
          <p:cNvPr id="7" name="Shape 4"/>
          <p:cNvSpPr/>
          <p:nvPr/>
        </p:nvSpPr>
        <p:spPr>
          <a:xfrm>
            <a:off x="3904556" y="2754511"/>
            <a:ext cx="330696" cy="330696"/>
          </a:xfrm>
          <a:prstGeom prst="roundRect">
            <a:avLst>
              <a:gd name="adj" fmla="val 8574"/>
            </a:avLst>
          </a:prstGeom>
          <a:solidFill>
            <a:srgbClr val="3C3C3A"/>
          </a:solidFill>
          <a:ln/>
        </p:spPr>
      </p:sp>
      <p:sp>
        <p:nvSpPr>
          <p:cNvPr id="8" name="Text 5"/>
          <p:cNvSpPr/>
          <p:nvPr/>
        </p:nvSpPr>
        <p:spPr>
          <a:xfrm>
            <a:off x="4424264" y="2754511"/>
            <a:ext cx="253434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Requirements Analysis</a:t>
            </a:r>
            <a:endParaRPr lang="en-US" sz="1833" dirty="0"/>
          </a:p>
        </p:txBody>
      </p:sp>
      <p:sp>
        <p:nvSpPr>
          <p:cNvPr id="9" name="Text 6"/>
          <p:cNvSpPr/>
          <p:nvPr/>
        </p:nvSpPr>
        <p:spPr>
          <a:xfrm>
            <a:off x="4424264" y="3458468"/>
            <a:ext cx="2534344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Help identify and document the key features and functionalities of a system.</a:t>
            </a:r>
            <a:endParaRPr lang="en-US" sz="1458" dirty="0"/>
          </a:p>
        </p:txBody>
      </p:sp>
      <p:sp>
        <p:nvSpPr>
          <p:cNvPr id="10" name="Shape 7"/>
          <p:cNvSpPr/>
          <p:nvPr/>
        </p:nvSpPr>
        <p:spPr>
          <a:xfrm>
            <a:off x="661492" y="4767362"/>
            <a:ext cx="330696" cy="330696"/>
          </a:xfrm>
          <a:prstGeom prst="roundRect">
            <a:avLst>
              <a:gd name="adj" fmla="val 8574"/>
            </a:avLst>
          </a:prstGeom>
          <a:solidFill>
            <a:srgbClr val="3C3C3A"/>
          </a:solidFill>
          <a:ln/>
        </p:spPr>
      </p:sp>
      <p:sp>
        <p:nvSpPr>
          <p:cNvPr id="11" name="Text 8"/>
          <p:cNvSpPr/>
          <p:nvPr/>
        </p:nvSpPr>
        <p:spPr>
          <a:xfrm>
            <a:off x="1181199" y="4767362"/>
            <a:ext cx="409287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Communication and Collaboration</a:t>
            </a:r>
            <a:endParaRPr lang="en-US" sz="1833" dirty="0"/>
          </a:p>
        </p:txBody>
      </p:sp>
      <p:sp>
        <p:nvSpPr>
          <p:cNvPr id="12" name="Text 9"/>
          <p:cNvSpPr/>
          <p:nvPr/>
        </p:nvSpPr>
        <p:spPr>
          <a:xfrm>
            <a:off x="1181200" y="5176044"/>
            <a:ext cx="57773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Facilitate communication between developers, stakeholders, and users.</a:t>
            </a:r>
            <a:endParaRPr lang="en-US" sz="1458" dirty="0"/>
          </a:p>
        </p:txBody>
      </p:sp>
      <p:pic>
        <p:nvPicPr>
          <p:cNvPr id="2050" name="Picture 2" descr="Use Cases: Diagram &amp; Examples (Updated 2024) | Inflectra">
            <a:extLst>
              <a:ext uri="{FF2B5EF4-FFF2-40B4-BE49-F238E27FC236}">
                <a16:creationId xmlns:a16="http://schemas.microsoft.com/office/drawing/2014/main" id="{E4959DBC-AB5A-4429-B23E-3528CE2AB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509" y="3345061"/>
            <a:ext cx="5080913" cy="3355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92" y="298735"/>
            <a:ext cx="940425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Key Components of Use Case Diagrams</a:t>
            </a:r>
            <a:endParaRPr lang="en-US" sz="3708" dirty="0"/>
          </a:p>
        </p:txBody>
      </p:sp>
      <p:sp>
        <p:nvSpPr>
          <p:cNvPr id="4" name="Shape 1"/>
          <p:cNvSpPr/>
          <p:nvPr/>
        </p:nvSpPr>
        <p:spPr>
          <a:xfrm>
            <a:off x="510053" y="1207972"/>
            <a:ext cx="3496965" cy="1996381"/>
          </a:xfrm>
          <a:prstGeom prst="roundRect">
            <a:avLst>
              <a:gd name="adj" fmla="val 1420"/>
            </a:avLst>
          </a:prstGeom>
          <a:solidFill>
            <a:srgbClr val="3C3C3A"/>
          </a:solidFill>
          <a:ln/>
        </p:spPr>
      </p:sp>
      <p:sp>
        <p:nvSpPr>
          <p:cNvPr id="5" name="Text 2"/>
          <p:cNvSpPr/>
          <p:nvPr/>
        </p:nvSpPr>
        <p:spPr>
          <a:xfrm>
            <a:off x="661492" y="131372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Actors</a:t>
            </a:r>
            <a:endParaRPr lang="en-US" sz="1833" dirty="0"/>
          </a:p>
        </p:txBody>
      </p:sp>
      <p:sp>
        <p:nvSpPr>
          <p:cNvPr id="6" name="Text 3"/>
          <p:cNvSpPr/>
          <p:nvPr/>
        </p:nvSpPr>
        <p:spPr>
          <a:xfrm>
            <a:off x="699065" y="1714758"/>
            <a:ext cx="3118942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External entities that interact with the system, such as users, devices, or other systems.</a:t>
            </a:r>
            <a:endParaRPr lang="en-US" sz="1458" dirty="0"/>
          </a:p>
        </p:txBody>
      </p:sp>
      <p:sp>
        <p:nvSpPr>
          <p:cNvPr id="7" name="Shape 4"/>
          <p:cNvSpPr/>
          <p:nvPr/>
        </p:nvSpPr>
        <p:spPr>
          <a:xfrm>
            <a:off x="4347517" y="1207971"/>
            <a:ext cx="3496965" cy="1996381"/>
          </a:xfrm>
          <a:prstGeom prst="roundRect">
            <a:avLst>
              <a:gd name="adj" fmla="val 1420"/>
            </a:avLst>
          </a:prstGeom>
          <a:solidFill>
            <a:srgbClr val="3C3C3A"/>
          </a:solidFill>
          <a:ln/>
        </p:spPr>
      </p:sp>
      <p:sp>
        <p:nvSpPr>
          <p:cNvPr id="8" name="Text 5"/>
          <p:cNvSpPr/>
          <p:nvPr/>
        </p:nvSpPr>
        <p:spPr>
          <a:xfrm>
            <a:off x="4536480" y="1343940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Use Cases</a:t>
            </a:r>
            <a:endParaRPr lang="en-US" sz="1833" dirty="0"/>
          </a:p>
        </p:txBody>
      </p:sp>
      <p:sp>
        <p:nvSpPr>
          <p:cNvPr id="9" name="Text 6"/>
          <p:cNvSpPr/>
          <p:nvPr/>
        </p:nvSpPr>
        <p:spPr>
          <a:xfrm>
            <a:off x="4536479" y="1714758"/>
            <a:ext cx="31189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Represent specific functionalities or tasks that the system performs.</a:t>
            </a:r>
            <a:endParaRPr lang="en-US" sz="1458" dirty="0"/>
          </a:p>
        </p:txBody>
      </p:sp>
      <p:sp>
        <p:nvSpPr>
          <p:cNvPr id="10" name="Shape 7"/>
          <p:cNvSpPr/>
          <p:nvPr/>
        </p:nvSpPr>
        <p:spPr>
          <a:xfrm>
            <a:off x="8104465" y="1207971"/>
            <a:ext cx="3496965" cy="1996381"/>
          </a:xfrm>
          <a:prstGeom prst="roundRect">
            <a:avLst>
              <a:gd name="adj" fmla="val 1420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320111" y="131372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C9C9C0"/>
                </a:solidFill>
                <a:latin typeface="Tomorrow Semi Bold" pitchFamily="34" charset="0"/>
              </a:rPr>
              <a:t>System</a:t>
            </a:r>
            <a:endParaRPr lang="en-US" sz="1833" dirty="0"/>
          </a:p>
        </p:txBody>
      </p:sp>
      <p:sp>
        <p:nvSpPr>
          <p:cNvPr id="12" name="Text 9"/>
          <p:cNvSpPr/>
          <p:nvPr/>
        </p:nvSpPr>
        <p:spPr>
          <a:xfrm>
            <a:off x="8320111" y="1601323"/>
            <a:ext cx="31189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chemeClr val="accent6">
                    <a:lumMod val="40000"/>
                    <a:lumOff val="60000"/>
                  </a:schemeClr>
                </a:solidFill>
                <a:latin typeface="Tomorrow" panose="020B0604020202020204" charset="0"/>
              </a:rPr>
              <a:t>System is used to define the scope of the use case and drawn as a rectangle</a:t>
            </a:r>
          </a:p>
        </p:txBody>
      </p:sp>
      <p:pic>
        <p:nvPicPr>
          <p:cNvPr id="3074" name="Picture 2" descr="Use Case Svg Png Icon Free Download (#112371) - OnlineWebFonts.COM">
            <a:extLst>
              <a:ext uri="{FF2B5EF4-FFF2-40B4-BE49-F238E27FC236}">
                <a16:creationId xmlns:a16="http://schemas.microsoft.com/office/drawing/2014/main" id="{FD81CE5B-A45A-407D-8D02-7E5756698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578" y="442935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at are Use Cases in functional design? - From Our Digital Agency">
            <a:extLst>
              <a:ext uri="{FF2B5EF4-FFF2-40B4-BE49-F238E27FC236}">
                <a16:creationId xmlns:a16="http://schemas.microsoft.com/office/drawing/2014/main" id="{BC946FD0-C5B0-4696-A715-8B77A7E11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487" y="4397901"/>
            <a:ext cx="3476770" cy="2232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Shape 7">
            <a:extLst>
              <a:ext uri="{FF2B5EF4-FFF2-40B4-BE49-F238E27FC236}">
                <a16:creationId xmlns:a16="http://schemas.microsoft.com/office/drawing/2014/main" id="{2AC93ED5-64A9-4E5F-996D-B7672DF94518}"/>
              </a:ext>
            </a:extLst>
          </p:cNvPr>
          <p:cNvSpPr/>
          <p:nvPr/>
        </p:nvSpPr>
        <p:spPr>
          <a:xfrm>
            <a:off x="8619820" y="4453215"/>
            <a:ext cx="1763278" cy="2056615"/>
          </a:xfrm>
          <a:prstGeom prst="roundRect">
            <a:avLst>
              <a:gd name="adj" fmla="val 1420"/>
            </a:avLst>
          </a:prstGeom>
          <a:solidFill>
            <a:schemeClr val="tx1"/>
          </a:solidFill>
          <a:ln/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omorrow Semi Bold" pitchFamily="34" charset="0"/>
              </a:rPr>
              <a:t>System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41274472-4C94-4C5A-AB76-3B23D33EDB03}"/>
              </a:ext>
            </a:extLst>
          </p:cNvPr>
          <p:cNvSpPr/>
          <p:nvPr/>
        </p:nvSpPr>
        <p:spPr>
          <a:xfrm>
            <a:off x="661492" y="285517"/>
            <a:ext cx="940425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Key Components of Use Case Diagrams</a:t>
            </a:r>
            <a:endParaRPr lang="en-US" sz="370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5CAB7513-5C2B-497F-BFB7-7604F8D687CC}"/>
              </a:ext>
            </a:extLst>
          </p:cNvPr>
          <p:cNvSpPr/>
          <p:nvPr/>
        </p:nvSpPr>
        <p:spPr>
          <a:xfrm>
            <a:off x="580872" y="1162887"/>
            <a:ext cx="3662452" cy="3035554"/>
          </a:xfrm>
          <a:prstGeom prst="roundRect">
            <a:avLst>
              <a:gd name="adj" fmla="val 1420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F7E6D4A1-04EE-4EDF-BD71-71EAFFA14AF0}"/>
              </a:ext>
            </a:extLst>
          </p:cNvPr>
          <p:cNvSpPr/>
          <p:nvPr/>
        </p:nvSpPr>
        <p:spPr>
          <a:xfrm>
            <a:off x="661492" y="285517"/>
            <a:ext cx="940425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Key Components of Use Case Diagrams</a:t>
            </a:r>
            <a:endParaRPr lang="en-US" sz="3708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427CCB-C3FA-4084-9B05-FEE0EE5667ED}"/>
              </a:ext>
            </a:extLst>
          </p:cNvPr>
          <p:cNvSpPr/>
          <p:nvPr/>
        </p:nvSpPr>
        <p:spPr>
          <a:xfrm>
            <a:off x="580872" y="1207972"/>
            <a:ext cx="928459" cy="372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292"/>
              </a:lnSpc>
            </a:pPr>
            <a:r>
              <a:rPr lang="en-US" dirty="0">
                <a:solidFill>
                  <a:srgbClr val="C9C9C0"/>
                </a:solidFill>
                <a:latin typeface="Tomorrow Semi Bold" pitchFamily="34" charset="0"/>
              </a:rPr>
              <a:t>Include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8ED0B0-E72D-4AC5-9E88-F699EFAD436F}"/>
              </a:ext>
            </a:extLst>
          </p:cNvPr>
          <p:cNvSpPr/>
          <p:nvPr/>
        </p:nvSpPr>
        <p:spPr>
          <a:xfrm>
            <a:off x="661492" y="1579997"/>
            <a:ext cx="3191417" cy="25326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75"/>
              </a:lnSpc>
            </a:pP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  <a:latin typeface="Tomorrow" panose="020B0604020202020204" charset="0"/>
              </a:rPr>
              <a:t>The </a:t>
            </a:r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omorrow" panose="020B0604020202020204" charset="0"/>
              </a:rPr>
              <a:t>include relationship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  <a:latin typeface="Tomorrow" panose="020B0604020202020204" charset="0"/>
              </a:rPr>
              <a:t> in a use case means one use case always </a:t>
            </a:r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omorrow" panose="020B0604020202020204" charset="0"/>
              </a:rPr>
              <a:t>uses the functionality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  <a:latin typeface="Tomorrow" panose="020B0604020202020204" charset="0"/>
              </a:rPr>
              <a:t> of another use case as part of its process. It represents </a:t>
            </a:r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omorrow" panose="020B0604020202020204" charset="0"/>
              </a:rPr>
              <a:t>mandatory and reusable behavior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  <a:latin typeface="Tomorrow" panose="020B0604020202020204" charset="0"/>
              </a:rPr>
              <a:t> shared by multiple use cases.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31123504-06E6-47A0-822D-129DDEC821D3}"/>
              </a:ext>
            </a:extLst>
          </p:cNvPr>
          <p:cNvSpPr/>
          <p:nvPr/>
        </p:nvSpPr>
        <p:spPr>
          <a:xfrm>
            <a:off x="6805599" y="1207972"/>
            <a:ext cx="3662452" cy="3121070"/>
          </a:xfrm>
          <a:prstGeom prst="roundRect">
            <a:avLst>
              <a:gd name="adj" fmla="val 1420"/>
            </a:avLst>
          </a:prstGeom>
          <a:solidFill>
            <a:srgbClr val="3C3C3A"/>
          </a:solidFill>
          <a:ln/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F5A2C-C334-461E-90C9-F0D9FA183B05}"/>
              </a:ext>
            </a:extLst>
          </p:cNvPr>
          <p:cNvSpPr/>
          <p:nvPr/>
        </p:nvSpPr>
        <p:spPr>
          <a:xfrm>
            <a:off x="6960459" y="1211883"/>
            <a:ext cx="1005404" cy="3681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dirty="0">
                <a:solidFill>
                  <a:srgbClr val="C9C9C0"/>
                </a:solidFill>
                <a:latin typeface="Tomorrow Semi Bold" pitchFamily="34" charset="0"/>
              </a:rPr>
              <a:t>Exclude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A33180-3763-492F-B8DD-C7314574E855}"/>
              </a:ext>
            </a:extLst>
          </p:cNvPr>
          <p:cNvSpPr/>
          <p:nvPr/>
        </p:nvSpPr>
        <p:spPr>
          <a:xfrm>
            <a:off x="7025197" y="1491086"/>
            <a:ext cx="2944427" cy="2532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75"/>
              </a:lnSpc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Tomorrow" panose="020B0604020202020204" charset="0"/>
              </a:rPr>
              <a:t>The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omorrow" panose="020B0604020202020204" charset="0"/>
              </a:rPr>
              <a:t>extend relationship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Tomorrow" panose="020B0604020202020204" charset="0"/>
              </a:rPr>
              <a:t> in a use case represents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omorrow" panose="020B0604020202020204" charset="0"/>
              </a:rPr>
              <a:t>optional or conditional behavior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Tomorrow" panose="020B0604020202020204" charset="0"/>
              </a:rPr>
              <a:t> that adds extra functionality to another use case. The extended use case only occurs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Tomorrow" panose="020B0604020202020204" charset="0"/>
              </a:rPr>
              <a:t>under specific conditions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Tomorrow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730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Library Management Use Case Diagram">
            <a:extLst>
              <a:ext uri="{FF2B5EF4-FFF2-40B4-BE49-F238E27FC236}">
                <a16:creationId xmlns:a16="http://schemas.microsoft.com/office/drawing/2014/main" id="{98C5B512-B966-4AEB-9981-4F17F3ABB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8" y="0"/>
            <a:ext cx="119221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428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2463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947" y="3022699"/>
            <a:ext cx="10378877" cy="561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16"/>
              </a:lnSpc>
            </a:pPr>
            <a:r>
              <a:rPr lang="en-US" sz="35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Purpose and Structure of Sequence Diagrams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28948" y="4123233"/>
            <a:ext cx="10934105" cy="25400"/>
          </a:xfrm>
          <a:prstGeom prst="roundRect">
            <a:avLst>
              <a:gd name="adj" fmla="val 106125"/>
            </a:avLst>
          </a:prstGeom>
          <a:solidFill>
            <a:srgbClr val="555553"/>
          </a:solidFill>
          <a:ln/>
        </p:spPr>
      </p:sp>
      <p:sp>
        <p:nvSpPr>
          <p:cNvPr id="5" name="Shape 2"/>
          <p:cNvSpPr/>
          <p:nvPr/>
        </p:nvSpPr>
        <p:spPr>
          <a:xfrm>
            <a:off x="2378571" y="4123184"/>
            <a:ext cx="25400" cy="628948"/>
          </a:xfrm>
          <a:prstGeom prst="roundRect">
            <a:avLst>
              <a:gd name="adj" fmla="val 106125"/>
            </a:avLst>
          </a:prstGeom>
          <a:solidFill>
            <a:srgbClr val="555553"/>
          </a:solidFill>
          <a:ln/>
        </p:spPr>
      </p:sp>
      <p:sp>
        <p:nvSpPr>
          <p:cNvPr id="6" name="Shape 3"/>
          <p:cNvSpPr/>
          <p:nvPr/>
        </p:nvSpPr>
        <p:spPr>
          <a:xfrm>
            <a:off x="2189162" y="3921075"/>
            <a:ext cx="404317" cy="404317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sp>
        <p:nvSpPr>
          <p:cNvPr id="7" name="Text 4"/>
          <p:cNvSpPr/>
          <p:nvPr/>
        </p:nvSpPr>
        <p:spPr>
          <a:xfrm>
            <a:off x="2329955" y="3988445"/>
            <a:ext cx="122634" cy="26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83"/>
              </a:lnSpc>
            </a:pPr>
            <a:r>
              <a:rPr lang="en-US" sz="2083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</a:t>
            </a:r>
            <a:endParaRPr lang="en-US" sz="2083" dirty="0"/>
          </a:p>
        </p:txBody>
      </p:sp>
      <p:sp>
        <p:nvSpPr>
          <p:cNvPr id="8" name="Text 5"/>
          <p:cNvSpPr/>
          <p:nvPr/>
        </p:nvSpPr>
        <p:spPr>
          <a:xfrm>
            <a:off x="808633" y="4931867"/>
            <a:ext cx="3165475" cy="86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250"/>
              </a:lnSpc>
            </a:pPr>
            <a:r>
              <a:rPr lang="en-US" sz="1375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Visualize interactions and message flow between objects in a system over time.</a:t>
            </a:r>
            <a:endParaRPr lang="en-US" sz="1375" dirty="0"/>
          </a:p>
        </p:txBody>
      </p:sp>
      <p:sp>
        <p:nvSpPr>
          <p:cNvPr id="9" name="Shape 6"/>
          <p:cNvSpPr/>
          <p:nvPr/>
        </p:nvSpPr>
        <p:spPr>
          <a:xfrm>
            <a:off x="6083102" y="4123184"/>
            <a:ext cx="25400" cy="628948"/>
          </a:xfrm>
          <a:prstGeom prst="roundRect">
            <a:avLst>
              <a:gd name="adj" fmla="val 106125"/>
            </a:avLst>
          </a:prstGeom>
          <a:solidFill>
            <a:srgbClr val="555553"/>
          </a:solidFill>
          <a:ln/>
        </p:spPr>
      </p:sp>
      <p:sp>
        <p:nvSpPr>
          <p:cNvPr id="10" name="Shape 7"/>
          <p:cNvSpPr/>
          <p:nvPr/>
        </p:nvSpPr>
        <p:spPr>
          <a:xfrm>
            <a:off x="5893693" y="3921075"/>
            <a:ext cx="404317" cy="404317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sp>
        <p:nvSpPr>
          <p:cNvPr id="11" name="Text 8"/>
          <p:cNvSpPr/>
          <p:nvPr/>
        </p:nvSpPr>
        <p:spPr>
          <a:xfrm>
            <a:off x="6005215" y="3988445"/>
            <a:ext cx="181173" cy="26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83"/>
              </a:lnSpc>
            </a:pPr>
            <a:r>
              <a:rPr lang="en-US" sz="2083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</a:t>
            </a:r>
            <a:endParaRPr lang="en-US" sz="2083" dirty="0"/>
          </a:p>
        </p:txBody>
      </p:sp>
      <p:sp>
        <p:nvSpPr>
          <p:cNvPr id="12" name="Text 9"/>
          <p:cNvSpPr/>
          <p:nvPr/>
        </p:nvSpPr>
        <p:spPr>
          <a:xfrm>
            <a:off x="4513164" y="4931867"/>
            <a:ext cx="3165574" cy="5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250"/>
              </a:lnSpc>
            </a:pPr>
            <a:r>
              <a:rPr lang="en-US" sz="1375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Represent the sequence of events that occur during a specific scenario.</a:t>
            </a:r>
            <a:endParaRPr lang="en-US" sz="1375" dirty="0"/>
          </a:p>
        </p:txBody>
      </p:sp>
      <p:sp>
        <p:nvSpPr>
          <p:cNvPr id="13" name="Shape 10"/>
          <p:cNvSpPr/>
          <p:nvPr/>
        </p:nvSpPr>
        <p:spPr>
          <a:xfrm>
            <a:off x="9787732" y="4123184"/>
            <a:ext cx="25400" cy="628948"/>
          </a:xfrm>
          <a:prstGeom prst="roundRect">
            <a:avLst>
              <a:gd name="adj" fmla="val 106125"/>
            </a:avLst>
          </a:prstGeom>
          <a:solidFill>
            <a:srgbClr val="555553"/>
          </a:solidFill>
          <a:ln/>
        </p:spPr>
      </p:sp>
      <p:sp>
        <p:nvSpPr>
          <p:cNvPr id="14" name="Shape 11"/>
          <p:cNvSpPr/>
          <p:nvPr/>
        </p:nvSpPr>
        <p:spPr>
          <a:xfrm>
            <a:off x="9598322" y="3921075"/>
            <a:ext cx="404317" cy="404317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</p:sp>
      <p:sp>
        <p:nvSpPr>
          <p:cNvPr id="15" name="Text 12"/>
          <p:cNvSpPr/>
          <p:nvPr/>
        </p:nvSpPr>
        <p:spPr>
          <a:xfrm>
            <a:off x="9710440" y="3988445"/>
            <a:ext cx="180082" cy="26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83"/>
              </a:lnSpc>
            </a:pPr>
            <a:r>
              <a:rPr lang="en-US" sz="2083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</a:t>
            </a:r>
            <a:endParaRPr lang="en-US" sz="2083" dirty="0"/>
          </a:p>
        </p:txBody>
      </p:sp>
      <p:sp>
        <p:nvSpPr>
          <p:cNvPr id="16" name="Text 13"/>
          <p:cNvSpPr/>
          <p:nvPr/>
        </p:nvSpPr>
        <p:spPr>
          <a:xfrm>
            <a:off x="8217794" y="4931867"/>
            <a:ext cx="3165574" cy="1149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250"/>
              </a:lnSpc>
            </a:pPr>
            <a:r>
              <a:rPr lang="en-US" sz="1375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Include lifelines for objects, messages exchanged between them, and activations representing object execution.</a:t>
            </a:r>
            <a:endParaRPr lang="en-US" sz="13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663006"/>
            <a:ext cx="770711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Understanding Sequence Diagrams</a:t>
            </a:r>
            <a:endParaRPr lang="en-US" sz="3708" dirty="0"/>
          </a:p>
        </p:txBody>
      </p:sp>
      <p:sp>
        <p:nvSpPr>
          <p:cNvPr id="3" name="Text 1"/>
          <p:cNvSpPr/>
          <p:nvPr/>
        </p:nvSpPr>
        <p:spPr>
          <a:xfrm>
            <a:off x="661492" y="2726134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Definition</a:t>
            </a:r>
            <a:endParaRPr lang="en-US" sz="1833" dirty="0"/>
          </a:p>
        </p:txBody>
      </p:sp>
      <p:sp>
        <p:nvSpPr>
          <p:cNvPr id="4" name="Text 2"/>
          <p:cNvSpPr/>
          <p:nvPr/>
        </p:nvSpPr>
        <p:spPr>
          <a:xfrm>
            <a:off x="661492" y="3210421"/>
            <a:ext cx="520392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Sequence diagrams are a type of UML diagram that visually illustrate the sequence of interactions between objects or participants in a system. </a:t>
            </a:r>
            <a:endParaRPr lang="en-US" sz="1458" dirty="0"/>
          </a:p>
        </p:txBody>
      </p:sp>
      <p:sp>
        <p:nvSpPr>
          <p:cNvPr id="5" name="Text 3"/>
          <p:cNvSpPr/>
          <p:nvPr/>
        </p:nvSpPr>
        <p:spPr>
          <a:xfrm>
            <a:off x="6332935" y="2726134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Importance</a:t>
            </a:r>
            <a:endParaRPr lang="en-US" sz="1833" dirty="0"/>
          </a:p>
        </p:txBody>
      </p:sp>
      <p:sp>
        <p:nvSpPr>
          <p:cNvPr id="6" name="Text 4"/>
          <p:cNvSpPr/>
          <p:nvPr/>
        </p:nvSpPr>
        <p:spPr>
          <a:xfrm>
            <a:off x="6332935" y="3210421"/>
            <a:ext cx="520392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are particularly valuable in software engineering for understanding the flow of messages and events within a system.</a:t>
            </a:r>
            <a:endParaRPr lang="en-US" sz="145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01" y="518815"/>
            <a:ext cx="9310093" cy="58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Essential Elements of a Sequence Diagram</a:t>
            </a:r>
            <a:endParaRPr lang="en-US" sz="3708" dirty="0"/>
          </a:p>
        </p:txBody>
      </p:sp>
      <p:sp>
        <p:nvSpPr>
          <p:cNvPr id="3" name="Shape 1"/>
          <p:cNvSpPr/>
          <p:nvPr/>
        </p:nvSpPr>
        <p:spPr>
          <a:xfrm>
            <a:off x="660301" y="1485702"/>
            <a:ext cx="3498057" cy="2634754"/>
          </a:xfrm>
          <a:prstGeom prst="roundRect">
            <a:avLst>
              <a:gd name="adj" fmla="val 644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7966" y="1693367"/>
            <a:ext cx="2358331" cy="294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Actors</a:t>
            </a:r>
            <a:endParaRPr lang="en-US" sz="1833" dirty="0"/>
          </a:p>
        </p:txBody>
      </p:sp>
      <p:sp>
        <p:nvSpPr>
          <p:cNvPr id="5" name="Text 3"/>
          <p:cNvSpPr/>
          <p:nvPr/>
        </p:nvSpPr>
        <p:spPr>
          <a:xfrm>
            <a:off x="867966" y="2101255"/>
            <a:ext cx="3082727" cy="150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Actors represent external entities that interact with the system, such as users, other systems, or databases. They are typically depicted as stick figures.</a:t>
            </a:r>
            <a:endParaRPr lang="en-US" sz="1458" dirty="0"/>
          </a:p>
        </p:txBody>
      </p:sp>
      <p:sp>
        <p:nvSpPr>
          <p:cNvPr id="6" name="Shape 4"/>
          <p:cNvSpPr/>
          <p:nvPr/>
        </p:nvSpPr>
        <p:spPr>
          <a:xfrm>
            <a:off x="4327920" y="1485702"/>
            <a:ext cx="3498057" cy="2634754"/>
          </a:xfrm>
          <a:prstGeom prst="roundRect">
            <a:avLst>
              <a:gd name="adj" fmla="val 644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54637" y="1693367"/>
            <a:ext cx="2358331" cy="294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Lifelines</a:t>
            </a:r>
            <a:endParaRPr lang="en-US" sz="1833" dirty="0"/>
          </a:p>
        </p:txBody>
      </p:sp>
      <p:sp>
        <p:nvSpPr>
          <p:cNvPr id="8" name="Text 6"/>
          <p:cNvSpPr/>
          <p:nvPr/>
        </p:nvSpPr>
        <p:spPr>
          <a:xfrm>
            <a:off x="4554637" y="2101255"/>
            <a:ext cx="3082727" cy="181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Lifelines are vertical lines representing individual objects or participants within the system. They indicate the duration of the object's existence throughout the sequence of interactions.</a:t>
            </a:r>
            <a:endParaRPr lang="en-US" sz="1458" dirty="0"/>
          </a:p>
        </p:txBody>
      </p:sp>
      <p:sp>
        <p:nvSpPr>
          <p:cNvPr id="9" name="Shape 7"/>
          <p:cNvSpPr/>
          <p:nvPr/>
        </p:nvSpPr>
        <p:spPr>
          <a:xfrm>
            <a:off x="7995539" y="1485702"/>
            <a:ext cx="3536161" cy="2634754"/>
          </a:xfrm>
          <a:prstGeom prst="roundRect">
            <a:avLst>
              <a:gd name="adj" fmla="val 644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1308" y="1693367"/>
            <a:ext cx="2358331" cy="294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Messages</a:t>
            </a:r>
            <a:endParaRPr lang="en-US" sz="1833" dirty="0"/>
          </a:p>
        </p:txBody>
      </p:sp>
      <p:sp>
        <p:nvSpPr>
          <p:cNvPr id="11" name="Text 9"/>
          <p:cNvSpPr/>
          <p:nvPr/>
        </p:nvSpPr>
        <p:spPr>
          <a:xfrm>
            <a:off x="8241307" y="2101255"/>
            <a:ext cx="3082727" cy="150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Messages are arrows that show communication between different lifelines. They represent the interactions between objects, such as function calls or data exchanges.</a:t>
            </a:r>
            <a:endParaRPr lang="en-US" sz="1458" dirty="0"/>
          </a:p>
        </p:txBody>
      </p:sp>
      <p:sp>
        <p:nvSpPr>
          <p:cNvPr id="12" name="Shape 10"/>
          <p:cNvSpPr/>
          <p:nvPr/>
        </p:nvSpPr>
        <p:spPr>
          <a:xfrm>
            <a:off x="660301" y="4309070"/>
            <a:ext cx="5341442" cy="2030908"/>
          </a:xfrm>
          <a:prstGeom prst="roundRect">
            <a:avLst>
              <a:gd name="adj" fmla="val 8361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7966" y="4516736"/>
            <a:ext cx="2358331" cy="294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Activation Bars</a:t>
            </a:r>
            <a:endParaRPr lang="en-US" sz="1833" dirty="0"/>
          </a:p>
        </p:txBody>
      </p:sp>
      <p:sp>
        <p:nvSpPr>
          <p:cNvPr id="14" name="Text 12"/>
          <p:cNvSpPr/>
          <p:nvPr/>
        </p:nvSpPr>
        <p:spPr>
          <a:xfrm>
            <a:off x="867966" y="4924624"/>
            <a:ext cx="4926112" cy="90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Activation bars are</a:t>
            </a:r>
            <a:r>
              <a:rPr lang="en-US" sz="1458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rectangles that represent the period during which an object is actively processing a message. They indicate the object's state of activity.</a:t>
            </a:r>
            <a:endParaRPr lang="en-US" sz="1458" dirty="0"/>
          </a:p>
        </p:txBody>
      </p:sp>
      <p:sp>
        <p:nvSpPr>
          <p:cNvPr id="17" name="Text 15"/>
          <p:cNvSpPr/>
          <p:nvPr/>
        </p:nvSpPr>
        <p:spPr>
          <a:xfrm>
            <a:off x="6432834" y="4924624"/>
            <a:ext cx="4926112" cy="120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96767B68-4041-4199-8464-4E9D5481EACD}"/>
              </a:ext>
            </a:extLst>
          </p:cNvPr>
          <p:cNvSpPr/>
          <p:nvPr/>
        </p:nvSpPr>
        <p:spPr>
          <a:xfrm>
            <a:off x="6225169" y="4308277"/>
            <a:ext cx="5341442" cy="2030908"/>
          </a:xfrm>
          <a:prstGeom prst="roundRect">
            <a:avLst>
              <a:gd name="adj" fmla="val 8361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933835-0310-4CDF-8177-B119D8D3BD63}"/>
              </a:ext>
            </a:extLst>
          </p:cNvPr>
          <p:cNvSpPr txBox="1"/>
          <p:nvPr/>
        </p:nvSpPr>
        <p:spPr>
          <a:xfrm>
            <a:off x="6355976" y="4442183"/>
            <a:ext cx="1470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"/>
                <a:ea typeface="Roboto"/>
              </a:rPr>
              <a:t>Objects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60AF30-AF2F-4DD6-ABCB-6E491E623003}"/>
              </a:ext>
            </a:extLst>
          </p:cNvPr>
          <p:cNvSpPr txBox="1"/>
          <p:nvPr/>
        </p:nvSpPr>
        <p:spPr>
          <a:xfrm>
            <a:off x="6355976" y="4877197"/>
            <a:ext cx="50029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/>
                <a:ea typeface="Roboto"/>
              </a:rPr>
              <a:t>Objects are entities within the system that perform specific roles or hold data. They are instances of classes in object-oriented design.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F86215-0B28-4A08-A261-150C5EE673B5}"/>
              </a:ext>
            </a:extLst>
          </p:cNvPr>
          <p:cNvSpPr/>
          <p:nvPr/>
        </p:nvSpPr>
        <p:spPr>
          <a:xfrm>
            <a:off x="1515034" y="1536244"/>
            <a:ext cx="8615083" cy="44644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8C440CD-C40F-4B7D-BDD6-C8CA492517AB}"/>
              </a:ext>
            </a:extLst>
          </p:cNvPr>
          <p:cNvGrpSpPr/>
          <p:nvPr/>
        </p:nvGrpSpPr>
        <p:grpSpPr>
          <a:xfrm>
            <a:off x="2448758" y="2432208"/>
            <a:ext cx="6345617" cy="1993583"/>
            <a:chOff x="1220593" y="661610"/>
            <a:chExt cx="6345617" cy="1993583"/>
          </a:xfrm>
        </p:grpSpPr>
        <p:pic>
          <p:nvPicPr>
            <p:cNvPr id="2050" name="Picture 2" descr="Use Case Diagram Explained | EdrawMax Online">
              <a:extLst>
                <a:ext uri="{FF2B5EF4-FFF2-40B4-BE49-F238E27FC236}">
                  <a16:creationId xmlns:a16="http://schemas.microsoft.com/office/drawing/2014/main" id="{1C519AC8-27FE-45DF-B8FF-FFD3FDCB0E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4690" y="1516675"/>
              <a:ext cx="503416" cy="9326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8CCE37-0CC9-45A6-98E9-0449FC70C906}"/>
                </a:ext>
              </a:extLst>
            </p:cNvPr>
            <p:cNvSpPr txBox="1"/>
            <p:nvPr/>
          </p:nvSpPr>
          <p:spPr>
            <a:xfrm>
              <a:off x="1220593" y="661610"/>
              <a:ext cx="12998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Actor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FE65870-9655-41ED-B0A5-60055166A313}"/>
                </a:ext>
              </a:extLst>
            </p:cNvPr>
            <p:cNvCxnSpPr>
              <a:cxnSpLocks/>
            </p:cNvCxnSpPr>
            <p:nvPr/>
          </p:nvCxnSpPr>
          <p:spPr>
            <a:xfrm>
              <a:off x="4034118" y="1283593"/>
              <a:ext cx="0" cy="1371600"/>
            </a:xfrm>
            <a:prstGeom prst="line">
              <a:avLst/>
            </a:prstGeom>
            <a:ln w="9525" cap="flat" cmpd="sng" algn="ctr">
              <a:solidFill>
                <a:schemeClr val="bg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C9C9B8C-B91D-4B91-B236-B555F212B8E7}"/>
                </a:ext>
              </a:extLst>
            </p:cNvPr>
            <p:cNvSpPr txBox="1"/>
            <p:nvPr/>
          </p:nvSpPr>
          <p:spPr>
            <a:xfrm>
              <a:off x="3384177" y="661610"/>
              <a:ext cx="12998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Lifeline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B57090D-EFEB-4494-B0DE-0342532FB92A}"/>
                </a:ext>
              </a:extLst>
            </p:cNvPr>
            <p:cNvSpPr/>
            <p:nvPr/>
          </p:nvSpPr>
          <p:spPr>
            <a:xfrm>
              <a:off x="6692155" y="1497762"/>
              <a:ext cx="152391" cy="111161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55D6544-286A-4055-BBF9-1C58DD7515AE}"/>
                </a:ext>
              </a:extLst>
            </p:cNvPr>
            <p:cNvSpPr txBox="1"/>
            <p:nvPr/>
          </p:nvSpPr>
          <p:spPr>
            <a:xfrm>
              <a:off x="5970493" y="661610"/>
              <a:ext cx="15957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Activation bar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5076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056" y="1213580"/>
            <a:ext cx="813514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Understanding the Flow of Messages</a:t>
            </a:r>
            <a:endParaRPr lang="en-US" sz="3708" dirty="0"/>
          </a:p>
        </p:txBody>
      </p:sp>
      <p:sp>
        <p:nvSpPr>
          <p:cNvPr id="3" name="Text 1"/>
          <p:cNvSpPr/>
          <p:nvPr/>
        </p:nvSpPr>
        <p:spPr>
          <a:xfrm>
            <a:off x="661492" y="2210752"/>
            <a:ext cx="25959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Synchronous Messages</a:t>
            </a:r>
            <a:endParaRPr lang="en-US" sz="1833" dirty="0"/>
          </a:p>
        </p:txBody>
      </p:sp>
      <p:sp>
        <p:nvSpPr>
          <p:cNvPr id="4" name="Text 2"/>
          <p:cNvSpPr/>
          <p:nvPr/>
        </p:nvSpPr>
        <p:spPr>
          <a:xfrm>
            <a:off x="661492" y="2618391"/>
            <a:ext cx="331509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Synchronous messages require a response before the sender can continue. They are represented by a solid arrow with a full arrowhead.</a:t>
            </a:r>
            <a:endParaRPr lang="en-US" sz="1458" dirty="0"/>
          </a:p>
        </p:txBody>
      </p:sp>
      <p:sp>
        <p:nvSpPr>
          <p:cNvPr id="5" name="Text 3"/>
          <p:cNvSpPr/>
          <p:nvPr/>
        </p:nvSpPr>
        <p:spPr>
          <a:xfrm>
            <a:off x="4444107" y="2246284"/>
            <a:ext cx="27277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Asynchronous Messages</a:t>
            </a:r>
            <a:endParaRPr lang="en-US" sz="1833" dirty="0"/>
          </a:p>
        </p:txBody>
      </p:sp>
      <p:sp>
        <p:nvSpPr>
          <p:cNvPr id="6" name="Text 4"/>
          <p:cNvSpPr/>
          <p:nvPr/>
        </p:nvSpPr>
        <p:spPr>
          <a:xfrm>
            <a:off x="4438451" y="2618391"/>
            <a:ext cx="331509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Asynchronous messages do not require a response and allow the sender to continue processing. They are represented by a dashed arrow with a half arrowhead.</a:t>
            </a:r>
            <a:endParaRPr lang="en-US" sz="1458" dirty="0"/>
          </a:p>
        </p:txBody>
      </p:sp>
      <p:sp>
        <p:nvSpPr>
          <p:cNvPr id="7" name="Text 5"/>
          <p:cNvSpPr/>
          <p:nvPr/>
        </p:nvSpPr>
        <p:spPr>
          <a:xfrm>
            <a:off x="8226722" y="2287654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Return Messages</a:t>
            </a:r>
            <a:endParaRPr lang="en-US" sz="1833" dirty="0"/>
          </a:p>
        </p:txBody>
      </p:sp>
      <p:sp>
        <p:nvSpPr>
          <p:cNvPr id="8" name="Text 6"/>
          <p:cNvSpPr/>
          <p:nvPr/>
        </p:nvSpPr>
        <p:spPr>
          <a:xfrm>
            <a:off x="8226722" y="2582929"/>
            <a:ext cx="331509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 messages indicate the response to a synchronous message. They are represented by a dotted arrow with a half arrowhead, and are typically drawn back to the sender.</a:t>
            </a:r>
            <a:endParaRPr lang="en-US" sz="1458" dirty="0"/>
          </a:p>
        </p:txBody>
      </p:sp>
      <p:pic>
        <p:nvPicPr>
          <p:cNvPr id="1026" name="Picture 2" descr="Bizzdesign Support - Specifying the type of a message in a UML sequence  diagram">
            <a:extLst>
              <a:ext uri="{FF2B5EF4-FFF2-40B4-BE49-F238E27FC236}">
                <a16:creationId xmlns:a16="http://schemas.microsoft.com/office/drawing/2014/main" id="{CAC802E9-F42B-4E32-B142-3C052BF38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92" y="4304611"/>
            <a:ext cx="5309002" cy="2370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40078B-F4EA-44E1-9EF6-C689F4ED5C44}"/>
              </a:ext>
            </a:extLst>
          </p:cNvPr>
          <p:cNvSpPr/>
          <p:nvPr/>
        </p:nvSpPr>
        <p:spPr>
          <a:xfrm>
            <a:off x="493059" y="277906"/>
            <a:ext cx="11259670" cy="639183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775AA34-BAE7-4EFE-9319-EA9AE80BE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5364" y="558106"/>
            <a:ext cx="8237545" cy="552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737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322D57-3561-4EC5-ADBF-52C9472776A5}"/>
              </a:ext>
            </a:extLst>
          </p:cNvPr>
          <p:cNvSpPr txBox="1"/>
          <p:nvPr/>
        </p:nvSpPr>
        <p:spPr>
          <a:xfrm>
            <a:off x="430305" y="1102658"/>
            <a:ext cx="11026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THANKS FOR YOUR CONCENTRATION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9DD126-1D85-4A01-95FE-F215076BD8FA}"/>
              </a:ext>
            </a:extLst>
          </p:cNvPr>
          <p:cNvSpPr txBox="1"/>
          <p:nvPr/>
        </p:nvSpPr>
        <p:spPr>
          <a:xfrm>
            <a:off x="3523129" y="3227294"/>
            <a:ext cx="3702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END…….</a:t>
            </a:r>
          </a:p>
        </p:txBody>
      </p:sp>
    </p:spTree>
    <p:extLst>
      <p:ext uri="{BB962C8B-B14F-4D97-AF65-F5344CB8AC3E}">
        <p14:creationId xmlns:p14="http://schemas.microsoft.com/office/powerpoint/2010/main" val="12897961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826F61"/>
      </a:accent1>
      <a:accent2>
        <a:srgbClr val="A19C7F"/>
      </a:accent2>
      <a:accent3>
        <a:srgbClr val="9AA489"/>
      </a:accent3>
      <a:accent4>
        <a:srgbClr val="7C938B"/>
      </a:accent4>
      <a:accent5>
        <a:srgbClr val="7C7D92"/>
      </a:accent5>
      <a:accent6>
        <a:srgbClr val="897376"/>
      </a:accent6>
      <a:hlink>
        <a:srgbClr val="D29B73"/>
      </a:hlink>
      <a:folHlink>
        <a:srgbClr val="F4C5A4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143</TotalTime>
  <Words>556</Words>
  <Application>Microsoft Office PowerPoint</Application>
  <PresentationFormat>Widescreen</PresentationFormat>
  <Paragraphs>72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Calibri</vt:lpstr>
      <vt:lpstr>Calisto MT</vt:lpstr>
      <vt:lpstr>Roboto</vt:lpstr>
      <vt:lpstr>Saira Medium</vt:lpstr>
      <vt:lpstr>Times New Roman</vt:lpstr>
      <vt:lpstr>Tomorrow</vt:lpstr>
      <vt:lpstr>Tomorrow Semi Bold</vt:lpstr>
      <vt:lpstr>Trebuchet MS</vt:lpstr>
      <vt:lpstr>Wingdings 2</vt:lpstr>
      <vt:lpstr>Slate</vt:lpstr>
      <vt:lpstr>PowerPoint Presentation</vt:lpstr>
      <vt:lpstr>Presentation Topic </vt:lpstr>
      <vt:lpstr>Group Members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Irtisam</dc:creator>
  <cp:lastModifiedBy>Dell</cp:lastModifiedBy>
  <cp:revision>16</cp:revision>
  <dcterms:created xsi:type="dcterms:W3CDTF">2025-01-23T01:43:34Z</dcterms:created>
  <dcterms:modified xsi:type="dcterms:W3CDTF">2025-01-23T07:36:59Z</dcterms:modified>
</cp:coreProperties>
</file>